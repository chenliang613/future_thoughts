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AI对劳动力市场的影响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0096D6"/>
                </a:solidFill>
              </a:rPr>
              <a:t>基于Anthropic "观察暴露度" 研究的深度分析报告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931920"/>
            <a:ext cx="3047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数据来源: Anthropic Research  |  O*NET  |  美国劳工统计局(BLS)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</a:rPr>
              <a:t>2026年4月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执行摘要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54864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96D6"/>
                </a:solidFill>
              </a:rPr>
              <a:t>有限的当前影响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AI实际应用远未达到理论能力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实际覆盖率仅为可行应用的一小部分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65176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54864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8C06"/>
                </a:solidFill>
              </a:rPr>
              <a:t>职业脆弱性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暴露度较高的职业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预计到2034年增长较慢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</a:rPr>
              <a:t>劳动者画像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高暴露群体: 年龄偏大、女性居多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受教育程度更高、薪资更高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651760" cy="32004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5486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920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74C3C"/>
                </a:solidFill>
              </a:rPr>
              <a:t>就业效应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5176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自2022年底以来未出现系统性失业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但年轻劳动者招聘放缓明显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96D6"/>
                </a:solidFill>
              </a:rPr>
              <a:t>核心发现: AI对劳动市场的影响正处于"缓慢渗透"阶段——理论能力远超实际部署，但年轻劳动者的招聘放缓是值得高度关注的早期信号。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研究方法论: "观察暴露度" 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创新性地将LLM理论能力与真实使用数据相结合，衡量AI对职业的实际替代风险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178308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096D6"/>
                </a:solidFill>
              </a:rPr>
              <a:t>O*NET 职业数据库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覆盖约800个美国职业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详细编目各职业的任务构成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4747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0" y="1783080"/>
            <a:ext cx="457200" cy="457200"/>
          </a:xfrm>
          <a:prstGeom prst="ellipse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48C06"/>
                </a:solidFill>
              </a:rPr>
              <a:t>Anthropic经济指数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追踪Claude在专业场景中的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实际使用模式和频率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47472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09760" y="17830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ECC71"/>
                </a:solidFill>
              </a:rPr>
              <a:t>Eloundou等(2023)理论评估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使用β值(0-1)衡量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LLM的理论能力边界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暴露度评分标准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</a:rPr>
              <a:t>  理论可行性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  任务是否在LLM理论能力范围内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37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</a:rPr>
              <a:t>  实际使用验证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  是否有显著的工作相关使用记录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</a:rPr>
              <a:t>  自动化vs增强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  属于自动替代还是辅助增强模式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</a:rPr>
              <a:t>  任务覆盖占比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303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  在整体工作职责中的覆盖比例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理论能力 vs 实际部署: 巨大落差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各职业类别的AI覆盖率对比 — 实际应用远远落后于理论潜力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计算机与数学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7306056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2564892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23576" y="17830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2412" y="19659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096D6"/>
                </a:solidFill>
              </a:rPr>
              <a:t>实际 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办公与行政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06040"/>
            <a:ext cx="6062472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606040"/>
            <a:ext cx="1399032" cy="32004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256032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7432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48C06"/>
                </a:solidFill>
              </a:rPr>
              <a:t>实际 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商业与金融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383280"/>
            <a:ext cx="5596128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3383280"/>
            <a:ext cx="116586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3648" y="3337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72%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3380" y="35204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</a:rPr>
              <a:t>实际 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法律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160520"/>
            <a:ext cx="5285232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26080" y="4160520"/>
            <a:ext cx="932688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411480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68%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42976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</a:rPr>
              <a:t>实际 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教育与培训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937760"/>
            <a:ext cx="4274820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26080" y="4937760"/>
            <a:ext cx="621792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2340" y="48920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5074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</a:rPr>
              <a:t>实际 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体力与服务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715000"/>
            <a:ext cx="1165860" cy="320040"/>
          </a:xfrm>
          <a:prstGeom prst="round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0" y="5715000"/>
            <a:ext cx="155448" cy="32004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3380" y="566928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</a:rPr>
              <a:t>理论 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2968" y="58521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99999"/>
                </a:solidFill>
              </a:rPr>
              <a:t>实际 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577840"/>
            <a:ext cx="11247120" cy="6400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关键洞察: 计算机与数学领域的实际覆盖率(33%)仅为理论潜力(94%)的1/3 — 约30%的劳动者所从事的体力和服务类工作几乎不受AI影响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最高暴露度职业分析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职业名称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覆盖率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08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替代风险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47120" cy="502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54864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计算机程序员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756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自动化+增强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756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11247120" cy="50292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54864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2432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数据录入员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2432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62432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主要自动化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243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极高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11247120" cy="502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108960"/>
            <a:ext cx="54864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7296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客服代表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1729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7296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主要自动化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1729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E74C3C"/>
                </a:solidFill>
              </a:rPr>
              <a:t>极高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11247120" cy="50292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3657600"/>
            <a:ext cx="54864" cy="5029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2160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技术文档撰写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72160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58%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72160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自动化+增强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7216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48C06"/>
                </a:solidFill>
              </a:rPr>
              <a:t>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06240"/>
            <a:ext cx="11247120" cy="502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4206240"/>
            <a:ext cx="54864" cy="5029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7024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翻译与口译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2702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52%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2702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自动化+增强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702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48C06"/>
                </a:solidFill>
              </a:rPr>
              <a:t>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754880"/>
            <a:ext cx="11247120" cy="502920"/>
          </a:xfrm>
          <a:prstGeom prst="round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7200" y="4754880"/>
            <a:ext cx="54864" cy="5029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8188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财务分析师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818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主要增强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81888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48C06"/>
                </a:solidFill>
              </a:rPr>
              <a:t>中高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11247120" cy="502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5303520"/>
            <a:ext cx="54864" cy="50292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36752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法律助理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36752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CCCCC"/>
                </a:solidFill>
              </a:rPr>
              <a:t>40%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536752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主要增强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367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48C06"/>
                </a:solidFill>
              </a:rPr>
              <a:t>中高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F48C06"/>
                </a:solidFill>
              </a:rPr>
              <a:t>自动化主导型职业面临的替代风险最高，而增强型职业的AI更多扮演"生产力放大器"角色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高暴露度劳动者画像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高暴露度群体 vs 低暴露度群体的关键差异 (ChatGPT发布前基线数据)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51760" cy="54864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女性比例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9B59B6"/>
                </a:solidFill>
              </a:rPr>
              <a:t>+16%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高暴露群体中女性占比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高出16个百分点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5176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651760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平均收入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ECC71"/>
                </a:solidFill>
              </a:rPr>
              <a:t>+47%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高暴露群体的平均收入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高出47%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651760" cy="54864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研究生学历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96D6"/>
                </a:solidFill>
              </a:rPr>
              <a:t>17.4% vs 4.5%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高暴露群体的研究生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比例是低暴露群体的近4倍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51760" cy="34747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828800"/>
            <a:ext cx="2651760" cy="54864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亚裔占比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48C06"/>
                </a:solidFill>
              </a:rPr>
              <a:t>近2倍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749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高暴露群体中亚裔占比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接近低暴露群体的两倍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11247120" cy="6400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关键启示: AI首先影响的是高收入、高学历的知识工作者 — 这颠覆了"技术首先取代低技能工人"的传统认知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就业影响: 现状与早期信号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4389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ECC71"/>
                </a:solidFill>
              </a:rPr>
              <a:t>整体失业率: 暂无显著冲击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  自ChatGPT发布以来，高暴露度和低暴露度
群体之间未检测到系统性失业率差异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  研究框架可识别超过1个百分点的就业影响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  整体劳动市场保持相对稳定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389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94960" cy="5486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</a:rPr>
              <a:t>年轻劳动者: 招聘放缓警报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  高暴露职业的求职成功率
在ChatGPT后下降约14%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  低暴露职业维持稳定的2%月招聘率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  影响集中在22-25岁群体
年长劳动者未观察到下降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389120"/>
            <a:ext cx="4572000" cy="914400"/>
          </a:xfrm>
          <a:prstGeom prst="roundRect">
            <a:avLst/>
          </a:prstGeom>
          <a:solidFill>
            <a:srgbClr val="3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4805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</a:rPr>
              <a:t>14%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高暴露职业求职成功率下降幅度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BLS就业预测与暴露度的相关性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美国劳工统计局(BLS)对2034年的就业增长预测验证了"观察暴露度"指标的有效性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8503920" cy="228600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2011680"/>
            <a:ext cx="8503920" cy="54864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B59B6"/>
                </a:solidFill>
              </a:rPr>
              <a:t>核心发现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CC"/>
                </a:solidFill>
              </a:rPr>
              <a:t>每增加10个百分点的观察暴露度</a:t>
            </a:r>
          </a:p>
          <a:p>
            <a:pPr algn="ctr">
              <a:spcBef>
                <a:spcPts val="1200"/>
              </a:spcBef>
              <a:spcAft>
                <a:spcPts val="400"/>
              </a:spcAft>
            </a:pPr>
            <a:r>
              <a:rPr sz="2800" b="1">
                <a:solidFill>
                  <a:srgbClr val="9B59B6"/>
                </a:solidFill>
              </a:rPr>
              <a:t>对应减少0.6个百分点的就业增长预测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这意味着什么?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  BLS的独立预测与Anthropic的暴露度指标高度一致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CCCCCC"/>
                </a:solidFill>
              </a:rPr>
              <a:t>  高暴露度职业预计未来10年将经历更慢的就业增长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CCCCCC"/>
                </a:solidFill>
              </a:rPr>
              <a:t>  "观察暴露度"是衡量AI劳动市场影响的有效先行指标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研究局限与注意事项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73152" cy="2011680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48C06"/>
                </a:solidFill>
              </a:rPr>
              <a:t>方法论局限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无法捕捉所有经济disruption渠道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强调在显著效应出现前建立基准测量的重要性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8640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73152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74C3C"/>
                </a:solidFill>
              </a:rPr>
              <a:t>数据采集偏差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基于调查的工作转换数据可能低估实际就业变动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初入劳动市场的年轻人缺少先前职业分类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73152" cy="2011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9B59B6"/>
                </a:solidFill>
              </a:rPr>
              <a:t>替代解释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招聘放缓可能存在其他原因: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继续深造、留在现有岗位、行业转换等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486400" cy="201168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73152" cy="20116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96D6"/>
                </a:solidFill>
              </a:rPr>
              <a:t>理论评估时效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基于Eloundou等人2023年初的能力评估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</a:rPr>
              <a:t>当前AI能力已显著超越当时水平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启示与建议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389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54864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96D6"/>
                </a:solidFill>
              </a:rPr>
              <a:t>对政策制定者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  建立AI劳动市场影响的持续监测机制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重点关注年轻劳动者就业入口问题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在影响显现前制定预防性政策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投资终身学习和技能转换项目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4389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</a:rPr>
              <a:t>对企业管理者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  评估AI对核心岗位的暴露度水平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制定"增强优先"的AI部署策略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为高暴露岗位员工设计转型路径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建立人机协作的最佳实践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4389120"/>
          </a:xfrm>
          <a:prstGeom prst="roundRect">
            <a:avLst/>
          </a:prstGeom>
          <a:solidFill>
            <a:srgbClr val="24243E"/>
          </a:solidFill>
          <a:ln w="19050">
            <a:solidFill>
              <a:srgbClr val="F48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474720" cy="54864"/>
          </a:xfrm>
          <a:prstGeom prst="roundRect">
            <a:avLst/>
          </a:prstGeom>
          <a:solidFill>
            <a:srgbClr val="F48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8C06"/>
                </a:solidFill>
              </a:rPr>
              <a:t>对劳动者个人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  识别自身岗位的AI暴露风险等级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发展AI难以替代的核心竞争力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掌握AI工具以转为"增强"模式</a:t>
            </a:r>
          </a:p>
          <a:p>
            <a:pPr algn="l">
              <a:spcBef>
                <a:spcPts val="1400"/>
              </a:spcBef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</a:rPr>
              <a:t>  年轻求职者需关注行业暴露趋势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54864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AI对劳动市场的影响处于早期阶段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理论能力远超实际部署，但变化正在加速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0360"/>
            <a:ext cx="94183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54864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知识工作者首当其冲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高收入、高学历群体面临最高暴露度，颠覆传统认知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749039"/>
            <a:ext cx="94183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3749039"/>
            <a:ext cx="54864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59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年轻劳动者是最敏感的风向标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14799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22-25岁群体招聘率下降14%，值得高度关注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17720"/>
            <a:ext cx="94183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617720"/>
            <a:ext cx="54864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66344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"增强"而非"替代"是主流模式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AI更多扮演生产力工具角色，但自动化比例在上升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5486400"/>
            <a:ext cx="54864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5321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现在是建立基准和采取行动的关键窗口期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5216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在影响全面显现前做好准备，方能化危为机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</a:rPr>
              <a:t>来源: Anthropic Research — anthropic.com/research/labor-market-impacts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6400800"/>
            <a:ext cx="12191695" cy="4572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Anthropic Research | AI Labor Market Impact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