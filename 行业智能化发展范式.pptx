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行业智能化发展范式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96D6"/>
                </a:solidFill>
                <a:latin typeface="Microsoft YaHei"/>
              </a:rPr>
              <a:t>从第一性原理看 AI 在各行各业落地的共同路径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7448" y="4114800"/>
            <a:ext cx="27432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Microsoft YaHei"/>
              </a:rPr>
              <a:t>剥离行业外壳后，任何智能化项目都绕不过的五条底层规律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  <a:latin typeface="Microsoft YaHei"/>
              </a:rPr>
              <a:t>源自《行业智能化发展第一性原理》  ·  2026 年版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为什么需要一套发展范式？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Microsoft YaHei"/>
              </a:rPr>
              <a:t>金融风控、电商导购、制造质检、医疗诊断 …… 各行业 Agent 千差万别，但剥离行业外壳，它们遵循同一套底层规律。范式的使命，是把「正金字塔」翻转为「倒金字塔」。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212080" cy="3520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12080" cy="64008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74C3C"/>
                </a:solidFill>
                <a:latin typeface="Microsoft YaHei"/>
              </a:rPr>
              <a:t>❌ 正金字塔（不可持续）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硬件  ×100  ← 拿走绝大部分价值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500" b="0">
                <a:solidFill>
                  <a:srgbClr val="CCCCCC"/>
                </a:solidFill>
                <a:latin typeface="Microsoft YaHei"/>
              </a:rPr>
              <a:t>模型  ×10   ← 仅为硬件的 1/10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>
                <a:solidFill>
                  <a:srgbClr val="999999"/>
                </a:solidFill>
                <a:latin typeface="Microsoft YaHei"/>
              </a:rPr>
              <a:t>应用  ×1    ← 又小一个数量级</a:t>
            </a:r>
          </a:p>
          <a:p>
            <a:pPr algn="l">
              <a:spcBef>
                <a:spcPts val="1800"/>
              </a:spcBef>
              <a:spcAft>
                <a:spcPts val="200"/>
              </a:spcAft>
            </a:pPr>
            <a:r>
              <a:rPr sz="1400" b="0">
                <a:solidFill>
                  <a:srgbClr val="E74C3C"/>
                </a:solidFill>
                <a:latin typeface="Microsoft YaHei"/>
              </a:rPr>
              <a:t>结果：产业结构倒挂，市场质疑「AI 泡沫」。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5212080" cy="3520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212080" cy="64008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CC71"/>
                </a:solidFill>
                <a:latin typeface="Microsoft YaHei"/>
              </a:rPr>
              <a:t>✅ 倒金字塔（健康生态）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99999"/>
                </a:solidFill>
                <a:latin typeface="Microsoft YaHei"/>
              </a:rPr>
              <a:t>硬件  ×1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500" b="0">
                <a:solidFill>
                  <a:srgbClr val="CCCCCC"/>
                </a:solidFill>
                <a:latin typeface="Microsoft YaHei"/>
              </a:rPr>
              <a:t>模型  ×10   ← 在硬件之上放大 10 倍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应用  ×100  ← 行业应用创造 100 倍价值</a:t>
            </a:r>
          </a:p>
          <a:p>
            <a:pPr algn="l">
              <a:spcBef>
                <a:spcPts val="1800"/>
              </a:spcBef>
              <a:spcAft>
                <a:spcPts val="200"/>
              </a:spcAft>
            </a:pPr>
            <a:r>
              <a:rPr sz="1400" b="0">
                <a:solidFill>
                  <a:srgbClr val="2ECC71"/>
                </a:solidFill>
                <a:latin typeface="Microsoft YaHei"/>
              </a:rPr>
              <a:t>范式目标：让应用层稳定捕获 100 倍价值——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2ECC71"/>
                </a:solidFill>
                <a:latin typeface="Microsoft YaHei"/>
              </a:rPr>
              <a:t>这正是五条第一性原理共同支撑的终局。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共同范式：五条第一性原理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Microsoft YaHei"/>
              </a:rPr>
              <a:t>从大量行业实践中反向提炼——彼此正交、缺一不可。</a:t>
            </a:r>
          </a:p>
        </p:txBody>
      </p:sp>
      <p:pic>
        <p:nvPicPr>
          <p:cNvPr id="5" name="Picture 4" descr="行业智能化第一性原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455" y="1554480"/>
            <a:ext cx="8558784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原理详解（上）：价值 · 知识 · 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663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54864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50876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AB"/>
                </a:solidFill>
                <a:latin typeface="Microsoft YaHei"/>
              </a:rPr>
              <a:t>价值守恒原理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没有正 ROI 就没有真智能化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651760"/>
            <a:ext cx="3154680" cy="3200399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935224" cy="3108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CCCCCC"/>
                </a:solidFill>
                <a:latin typeface="Microsoft YaHei"/>
              </a:rPr>
              <a:t>AI 落地的本质是一次价值的流转：
被替代认知劳动成本 + 新创红利
&gt;
推理 + 部署 + 组织变革成本
任何技术革命的可持续性，都建立在「创造价值 &gt; 消耗成本」之上。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520440" cy="4663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A2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520440" cy="54864"/>
          </a:xfrm>
          <a:prstGeom prst="roundRect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23B72"/>
                </a:solidFill>
                <a:latin typeface="Microsoft YaHei"/>
              </a:rPr>
              <a:t>行业知识密度原理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模型是地板，SOP 是天花板（本体论）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651760"/>
            <a:ext cx="3154680" cy="3200399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2697480"/>
            <a:ext cx="2935224" cy="3108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CCCCCC"/>
                </a:solidFill>
                <a:latin typeface="Microsoft YaHei"/>
              </a:rPr>
              <a:t>行业级智能体 =
通用大模型能力 × 行业知识密度
（本体论 / Skill / SOP / 语料）
模型能力增长放缓，而行业知识密度几乎无上限——竞争力正从「模型更强」转向「知识沉淀更深」。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325880"/>
            <a:ext cx="3520440" cy="4663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18F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1325880"/>
            <a:ext cx="3520440" cy="54864"/>
          </a:xfrm>
          <a:prstGeom prst="roundRect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9" y="1508760"/>
            <a:ext cx="502920" cy="502920"/>
          </a:xfrm>
          <a:prstGeom prst="ellipse">
            <a:avLst/>
          </a:prstGeom>
          <a:solidFill>
            <a:srgbClr val="F18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8F01"/>
                </a:solidFill>
                <a:latin typeface="Microsoft YaHei"/>
              </a:rPr>
              <a:t>标杆-规模化路径原理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1031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先打灯塔，再批量复制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2651760"/>
            <a:ext cx="3154680" cy="3200399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2697480"/>
            <a:ext cx="2935224" cy="3108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CCCCCC"/>
                </a:solidFill>
                <a:latin typeface="Microsoft YaHei"/>
              </a:rPr>
              <a:t>PoC（验可行）
→ 灯塔项目（验 ROI）
→ 规模复制（验产业化）
To B 扩张都遵循「先有标杆、再有规模」。灯塔把后续客户销售周期从 12 个月压到 3 个月。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原理详解（下）：复制 · 边际成本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4663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3B8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54864"/>
          </a:xfrm>
          <a:prstGeom prst="roundRect">
            <a:avLst/>
          </a:prstGeom>
          <a:solidFill>
            <a:srgbClr val="3B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508760"/>
            <a:ext cx="502920" cy="502920"/>
          </a:xfrm>
          <a:prstGeom prst="ellipse">
            <a:avLst/>
          </a:prstGeom>
          <a:solidFill>
            <a:srgbClr val="3B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0876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C6E"/>
                </a:solidFill>
                <a:latin typeface="Microsoft YaHei"/>
              </a:rPr>
              <a:t>场景可批量复制原理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标准化即规模化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651760"/>
            <a:ext cx="4983479" cy="3200399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4764024" cy="3108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Microsoft YaHei"/>
              </a:rPr>
              <a:t>一个场景能否被真正「产业化」，取决于它能否被抽象成标准模板、在行业中可重复落地。
选点优先级 = 场景价值 × 复制系数。
能复制 1000 次的 60 分场景，胜过只能定制 1 次的 95 分场景。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349240" cy="4663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349240" cy="54864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0876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Microsoft YaHei"/>
              </a:rPr>
              <a:t>边际成本递减原理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第 N 次部署接近零成本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51760"/>
            <a:ext cx="4983479" cy="3200399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697480"/>
            <a:ext cx="4764024" cy="3108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Microsoft YaHei"/>
              </a:rPr>
              <a:t>软件业的根本经济学就建立在边际成本递减之上——这是 SaaS 估值高于传统服务业的根因。
当 1 次开发能服务 1000 个客户、第 1001 个客户部署成本可忽略时，应用层捕获 100 倍价值才有「数学基础」。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一句话总结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4392" cy="24688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74519"/>
            <a:ext cx="92354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以正 ROI 为底线，用行业知识（本体论 / SOP）塑造灵魂；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先打灯塔标杆跑通单点，再以场景标准化打开复制空间，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最后用边际成本递减释放规模红利。</a:t>
            </a:r>
          </a:p>
          <a:p>
            <a:pPr algn="ctr">
              <a:spcBef>
                <a:spcPts val="1600"/>
              </a:spcBef>
              <a:spcAft>
                <a:spcPts val="200"/>
              </a:spcAft>
            </a:pPr>
            <a:r>
              <a:rPr sz="1400" b="0">
                <a:solidFill>
                  <a:srgbClr val="2ECC71"/>
                </a:solidFill>
                <a:latin typeface="Microsoft YaHei"/>
              </a:rPr>
              <a:t>任何行业、任何场景的智能化项目，本质都是这五条原理的不同组合与权重排列。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994392" cy="1188720"/>
          </a:xfrm>
          <a:prstGeom prst="roundRect">
            <a:avLst/>
          </a:prstGeom>
          <a:solidFill>
            <a:srgbClr val="143226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0916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Microsoft YaHei"/>
              </a:rPr>
              <a:t>倒金字塔产业终局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硬件 ×1    →    模型 ×10    →    行业应用 ×100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419088"/>
            <a:ext cx="12191695" cy="438912"/>
          </a:xfrm>
          <a:prstGeom prst="roundRect">
            <a:avLst/>
          </a:prstGeom>
          <a:solidFill>
            <a:srgbClr val="12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行业智能化发展范式  ·  从第一性原理提炼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