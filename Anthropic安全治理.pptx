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9"/>
        </a:solidFill>
      </p:bgPr>
    </p:bg>
    <p:spTree>
      <p:nvGrpSpPr>
        <p:cNvPr id="1" name=""/>
        <p:cNvGrpSpPr/>
        <p:nvPr/>
      </p:nvGrpSpPr>
      <p:grpSpPr>
        <a:xfrm>
          <a:off x="0" y="0"/>
          <a:ext cx="0" cy="0"/>
          <a:chOff x="0" y="0"/>
          <a:chExt cx="0" cy="0"/>
        </a:xfrm>
      </p:grpSpPr>
      <p:sp>
        <p:nvSpPr>
          <p:cNvPr id="2" name="Shape 0"/>
          <p:cNvSpPr/>
          <p:nvPr/>
        </p:nvSpPr>
        <p:spPr>
          <a:xfrm>
            <a:off x="6035040" y="1234440"/>
            <a:ext cx="4389120" cy="4389120"/>
          </a:xfrm>
          <a:prstGeom prst="ellipse">
            <a:avLst/>
          </a:prstGeom>
          <a:ln w="12700">
            <a:solidFill>
              <a:srgbClr val="C2693F">
                <a:alpha val="22000"/>
              </a:srgbClr>
            </a:solidFill>
            <a:prstDash val="solid"/>
          </a:ln>
        </p:spPr>
      </p:sp>
      <p:sp>
        <p:nvSpPr>
          <p:cNvPr id="3" name="Shape 1"/>
          <p:cNvSpPr/>
          <p:nvPr/>
        </p:nvSpPr>
        <p:spPr>
          <a:xfrm>
            <a:off x="5257800" y="457200"/>
            <a:ext cx="5943600" cy="5943600"/>
          </a:xfrm>
          <a:prstGeom prst="ellipse">
            <a:avLst/>
          </a:prstGeom>
          <a:ln w="12700">
            <a:solidFill>
              <a:srgbClr val="C2693F">
                <a:alpha val="26000"/>
              </a:srgbClr>
            </a:solidFill>
            <a:prstDash val="solid"/>
          </a:ln>
        </p:spPr>
      </p:sp>
      <p:sp>
        <p:nvSpPr>
          <p:cNvPr id="4" name="Shape 2"/>
          <p:cNvSpPr/>
          <p:nvPr/>
        </p:nvSpPr>
        <p:spPr>
          <a:xfrm>
            <a:off x="4480560" y="-320040"/>
            <a:ext cx="7498080" cy="7498080"/>
          </a:xfrm>
          <a:prstGeom prst="ellipse">
            <a:avLst/>
          </a:prstGeom>
          <a:ln w="12700">
            <a:solidFill>
              <a:srgbClr val="C2693F">
                <a:alpha val="30000"/>
              </a:srgbClr>
            </a:solidFill>
            <a:prstDash val="solid"/>
          </a:ln>
        </p:spPr>
      </p:sp>
      <p:sp>
        <p:nvSpPr>
          <p:cNvPr id="5" name="Shape 3"/>
          <p:cNvSpPr/>
          <p:nvPr/>
        </p:nvSpPr>
        <p:spPr>
          <a:xfrm>
            <a:off x="3703320" y="-1097280"/>
            <a:ext cx="9052560" cy="9052560"/>
          </a:xfrm>
          <a:prstGeom prst="ellipse">
            <a:avLst/>
          </a:prstGeom>
          <a:ln w="12700">
            <a:solidFill>
              <a:srgbClr val="C2693F">
                <a:alpha val="34000"/>
              </a:srgbClr>
            </a:solidFill>
            <a:prstDash val="solid"/>
          </a:ln>
        </p:spPr>
      </p:sp>
      <p:sp>
        <p:nvSpPr>
          <p:cNvPr id="6" name="Shape 4"/>
          <p:cNvSpPr/>
          <p:nvPr/>
        </p:nvSpPr>
        <p:spPr>
          <a:xfrm>
            <a:off x="2926080" y="-1874520"/>
            <a:ext cx="10607040" cy="10607040"/>
          </a:xfrm>
          <a:prstGeom prst="ellipse">
            <a:avLst/>
          </a:prstGeom>
          <a:ln w="12700">
            <a:solidFill>
              <a:srgbClr val="C2693F">
                <a:alpha val="38000"/>
              </a:srgbClr>
            </a:solidFill>
            <a:prstDash val="solid"/>
          </a:ln>
        </p:spPr>
      </p:sp>
      <p:sp>
        <p:nvSpPr>
          <p:cNvPr id="7" name="Shape 5"/>
          <p:cNvSpPr/>
          <p:nvPr/>
        </p:nvSpPr>
        <p:spPr>
          <a:xfrm>
            <a:off x="841248" y="1627632"/>
            <a:ext cx="566928" cy="566928"/>
          </a:xfrm>
          <a:prstGeom prst="ellipse">
            <a:avLst/>
          </a:prstGeom>
          <a:solidFill>
            <a:srgbClr val="C2693F"/>
          </a:solidFill>
          <a:ln/>
        </p:spPr>
      </p:sp>
      <p:pic>
        <p:nvPicPr>
          <p:cNvPr id="8" name="Image 0" descr="/home/claude/anthropic_safety_deck/icons/shield_white.png">    </p:cNvPr>
          <p:cNvPicPr>
            <a:picLocks noChangeAspect="1"/>
          </p:cNvPicPr>
          <p:nvPr/>
        </p:nvPicPr>
        <p:blipFill>
          <a:blip r:embed="rId1"/>
          <a:stretch>
            <a:fillRect/>
          </a:stretch>
        </p:blipFill>
        <p:spPr>
          <a:xfrm>
            <a:off x="978408" y="1764792"/>
            <a:ext cx="292608" cy="292608"/>
          </a:xfrm>
          <a:prstGeom prst="rect">
            <a:avLst/>
          </a:prstGeom>
        </p:spPr>
      </p:pic>
      <p:sp>
        <p:nvSpPr>
          <p:cNvPr id="9" name="Text 6"/>
          <p:cNvSpPr/>
          <p:nvPr/>
        </p:nvSpPr>
        <p:spPr>
          <a:xfrm>
            <a:off x="822960" y="2331720"/>
            <a:ext cx="8686800" cy="914400"/>
          </a:xfrm>
          <a:prstGeom prst="rect">
            <a:avLst/>
          </a:prstGeom>
          <a:noFill/>
          <a:ln/>
        </p:spPr>
        <p:txBody>
          <a:bodyPr wrap="square" lIns="0" tIns="0" rIns="0" bIns="0" rtlCol="0" anchor="ctr"/>
          <a:lstStyle/>
          <a:p>
            <a:pPr algn="l" indent="0" marL="0">
              <a:buNone/>
            </a:pPr>
            <a:r>
              <a:rPr lang="en-US" sz="5000" b="1" spc="100" kern="0" dirty="0">
                <a:solidFill>
                  <a:srgbClr val="FFFFFF"/>
                </a:solidFill>
                <a:latin typeface="Cambria" pitchFamily="34" charset="0"/>
                <a:ea typeface="Cambria" pitchFamily="34" charset="-122"/>
                <a:cs typeface="Cambria" pitchFamily="34" charset="-120"/>
              </a:rPr>
              <a:t>ANTHROPIC</a:t>
            </a:r>
            <a:endParaRPr lang="en-US" sz="5000" dirty="0"/>
          </a:p>
        </p:txBody>
      </p:sp>
      <p:sp>
        <p:nvSpPr>
          <p:cNvPr id="10" name="Text 7"/>
          <p:cNvSpPr/>
          <p:nvPr/>
        </p:nvSpPr>
        <p:spPr>
          <a:xfrm>
            <a:off x="841248" y="3154680"/>
            <a:ext cx="8686800" cy="640080"/>
          </a:xfrm>
          <a:prstGeom prst="rect">
            <a:avLst/>
          </a:prstGeom>
          <a:noFill/>
          <a:ln/>
        </p:spPr>
        <p:txBody>
          <a:bodyPr wrap="square" lIns="0" tIns="0" rIns="0" bIns="0" rtlCol="0" anchor="ctr"/>
          <a:lstStyle/>
          <a:p>
            <a:pPr algn="l" indent="0" marL="0">
              <a:buNone/>
            </a:pPr>
            <a:r>
              <a:rPr lang="en-US" sz="2600" dirty="0">
                <a:solidFill>
                  <a:srgbClr val="C2693F"/>
                </a:solidFill>
                <a:latin typeface="Calibri" pitchFamily="34" charset="0"/>
                <a:ea typeface="Calibri" pitchFamily="34" charset="-122"/>
                <a:cs typeface="Calibri" pitchFamily="34" charset="-120"/>
              </a:rPr>
              <a:t>安全治理能力深度解析</a:t>
            </a:r>
            <a:endParaRPr lang="en-US" sz="2600" dirty="0"/>
          </a:p>
        </p:txBody>
      </p:sp>
      <p:sp>
        <p:nvSpPr>
          <p:cNvPr id="11" name="Text 8"/>
          <p:cNvSpPr/>
          <p:nvPr/>
        </p:nvSpPr>
        <p:spPr>
          <a:xfrm>
            <a:off x="841248" y="3886200"/>
            <a:ext cx="7955280" cy="457200"/>
          </a:xfrm>
          <a:prstGeom prst="rect">
            <a:avLst/>
          </a:prstGeom>
          <a:noFill/>
          <a:ln/>
        </p:spPr>
        <p:txBody>
          <a:bodyPr wrap="square" lIns="0" tIns="0" rIns="0" bIns="0" rtlCol="0" anchor="ctr"/>
          <a:lstStyle/>
          <a:p>
            <a:pPr algn="l" indent="0" marL="0">
              <a:buNone/>
            </a:pPr>
            <a:r>
              <a:rPr lang="en-US" sz="1400" dirty="0">
                <a:solidFill>
                  <a:srgbClr val="C9C5BC"/>
                </a:solidFill>
                <a:latin typeface="Calibri" pitchFamily="34" charset="0"/>
                <a:ea typeface="Calibri" pitchFamily="34" charset="-122"/>
                <a:cs typeface="Calibri" pitchFamily="34" charset="-120"/>
              </a:rPr>
              <a:t>六大支柱：从训练哲学到部署防御、从内部红队到政府协作</a:t>
            </a:r>
            <a:endParaRPr lang="en-US" sz="1400" dirty="0"/>
          </a:p>
        </p:txBody>
      </p:sp>
      <p:sp>
        <p:nvSpPr>
          <p:cNvPr id="12" name="Text 9"/>
          <p:cNvSpPr/>
          <p:nvPr/>
        </p:nvSpPr>
        <p:spPr>
          <a:xfrm>
            <a:off x="841248" y="5989320"/>
            <a:ext cx="10058400" cy="365760"/>
          </a:xfrm>
          <a:prstGeom prst="rect">
            <a:avLst/>
          </a:prstGeom>
          <a:noFill/>
          <a:ln/>
        </p:spPr>
        <p:txBody>
          <a:bodyPr wrap="square" lIns="0" tIns="0" rIns="0" bIns="0" rtlCol="0" anchor="ctr"/>
          <a:lstStyle/>
          <a:p>
            <a:pPr indent="0" marL="0">
              <a:buNone/>
            </a:pPr>
            <a:r>
              <a:rPr lang="en-US" sz="1300" b="1" dirty="0">
                <a:solidFill>
                  <a:srgbClr val="C2693F"/>
                </a:solidFill>
                <a:latin typeface="Calibri" pitchFamily="34" charset="0"/>
                <a:ea typeface="Calibri" pitchFamily="34" charset="-122"/>
                <a:cs typeface="Calibri" pitchFamily="34" charset="-120"/>
              </a:rPr>
              <a:t>RSP </a:t>
            </a:r>
            <a:pPr indent="0" marL="0">
              <a:buNone/>
            </a:pPr>
            <a:r>
              <a:rPr lang="en-US" sz="1300" dirty="0">
                <a:solidFill>
                  <a:srgbClr val="9C9588"/>
                </a:solidFill>
                <a:latin typeface="Calibri" pitchFamily="34" charset="0"/>
                <a:ea typeface="Calibri" pitchFamily="34" charset="-122"/>
                <a:cs typeface="Calibri" pitchFamily="34" charset="-120"/>
              </a:rPr>
              <a:t>v3.1   ·   </a:t>
            </a:r>
            <a:pPr indent="0" marL="0">
              <a:buNone/>
            </a:pPr>
            <a:r>
              <a:rPr lang="en-US" sz="1300" b="1" dirty="0">
                <a:solidFill>
                  <a:srgbClr val="C2693F"/>
                </a:solidFill>
                <a:latin typeface="Calibri" pitchFamily="34" charset="0"/>
                <a:ea typeface="Calibri" pitchFamily="34" charset="-122"/>
                <a:cs typeface="Calibri" pitchFamily="34" charset="-120"/>
              </a:rPr>
              <a:t>ASL-3</a:t>
            </a:r>
            <a:pPr indent="0" marL="0">
              <a:buNone/>
            </a:pPr>
            <a:r>
              <a:rPr lang="en-US" sz="1300" dirty="0">
                <a:solidFill>
                  <a:srgbClr val="9C9588"/>
                </a:solidFill>
                <a:latin typeface="Calibri" pitchFamily="34" charset="0"/>
                <a:ea typeface="Calibri" pitchFamily="34" charset="-122"/>
                <a:cs typeface="Calibri" pitchFamily="34" charset="-120"/>
              </a:rPr>
              <a:t> 部署标准   ·   </a:t>
            </a:r>
            <a:pPr indent="0" marL="0">
              <a:buNone/>
            </a:pPr>
            <a:r>
              <a:rPr lang="en-US" sz="1300" b="1" dirty="0">
                <a:solidFill>
                  <a:srgbClr val="C2693F"/>
                </a:solidFill>
                <a:latin typeface="Calibri" pitchFamily="34" charset="0"/>
                <a:ea typeface="Calibri" pitchFamily="34" charset="-122"/>
                <a:cs typeface="Calibri" pitchFamily="34" charset="-120"/>
              </a:rPr>
              <a:t>1,700+</a:t>
            </a:r>
            <a:pPr indent="0" marL="0">
              <a:buNone/>
            </a:pPr>
            <a:r>
              <a:rPr lang="en-US" sz="1300" dirty="0">
                <a:solidFill>
                  <a:srgbClr val="9C9588"/>
                </a:solidFill>
                <a:latin typeface="Calibri" pitchFamily="34" charset="0"/>
                <a:ea typeface="Calibri" pitchFamily="34" charset="-122"/>
                <a:cs typeface="Calibri" pitchFamily="34" charset="-120"/>
              </a:rPr>
              <a:t> 小时红队测试</a:t>
            </a:r>
            <a:endParaRPr lang="en-US" sz="1300" dirty="0"/>
          </a:p>
        </p:txBody>
      </p:sp>
      <p:sp>
        <p:nvSpPr>
          <p:cNvPr id="13" name="Text 10"/>
          <p:cNvSpPr/>
          <p:nvPr/>
        </p:nvSpPr>
        <p:spPr>
          <a:xfrm>
            <a:off x="841248" y="6355080"/>
            <a:ext cx="8229600" cy="274320"/>
          </a:xfrm>
          <a:prstGeom prst="rect">
            <a:avLst/>
          </a:prstGeom>
          <a:noFill/>
          <a:ln/>
        </p:spPr>
        <p:txBody>
          <a:bodyPr wrap="square" lIns="0" tIns="0" rIns="0" bIns="0" rtlCol="0" anchor="ctr"/>
          <a:lstStyle/>
          <a:p>
            <a:pPr indent="0" marL="0">
              <a:buNone/>
            </a:pPr>
            <a:r>
              <a:rPr lang="en-US" sz="1000" dirty="0">
                <a:solidFill>
                  <a:srgbClr val="807A6E"/>
                </a:solidFill>
                <a:latin typeface="Calibri" pitchFamily="34" charset="0"/>
                <a:ea typeface="Calibri" pitchFamily="34" charset="-122"/>
                <a:cs typeface="Calibri" pitchFamily="34" charset="-120"/>
              </a:rPr>
              <a:t>2026年6月  ·  基于 Anthropic 公开研究与政策文件整理分析</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4"/>
        </a:solidFill>
      </p:bgPr>
    </p:bg>
    <p:spTree>
      <p:nvGrpSpPr>
        <p:cNvPr id="1" name=""/>
        <p:cNvGrpSpPr/>
        <p:nvPr/>
      </p:nvGrpSpPr>
      <p:grpSpPr>
        <a:xfrm>
          <a:off x="0" y="0"/>
          <a:ext cx="0" cy="0"/>
          <a:chOff x="0" y="0"/>
          <a:chExt cx="0" cy="0"/>
        </a:xfrm>
      </p:grpSpPr>
      <p:sp>
        <p:nvSpPr>
          <p:cNvPr id="2" name="Shape 0"/>
          <p:cNvSpPr/>
          <p:nvPr/>
        </p:nvSpPr>
        <p:spPr>
          <a:xfrm>
            <a:off x="502920" y="411480"/>
            <a:ext cx="1737360" cy="310896"/>
          </a:xfrm>
          <a:prstGeom prst="roundRect">
            <a:avLst>
              <a:gd name="adj" fmla="val 20588"/>
            </a:avLst>
          </a:prstGeom>
          <a:solidFill>
            <a:srgbClr val="C2693F"/>
          </a:solidFill>
          <a:ln/>
        </p:spPr>
      </p:sp>
      <p:sp>
        <p:nvSpPr>
          <p:cNvPr id="3" name="Text 1"/>
          <p:cNvSpPr/>
          <p:nvPr/>
        </p:nvSpPr>
        <p:spPr>
          <a:xfrm>
            <a:off x="502920" y="411480"/>
            <a:ext cx="173736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框架总览</a:t>
            </a:r>
            <a:endParaRPr lang="en-US" sz="1100" dirty="0"/>
          </a:p>
        </p:txBody>
      </p:sp>
      <p:sp>
        <p:nvSpPr>
          <p:cNvPr id="4" name="Text 2"/>
          <p:cNvSpPr/>
          <p:nvPr/>
        </p:nvSpPr>
        <p:spPr>
          <a:xfrm>
            <a:off x="502920" y="841248"/>
            <a:ext cx="10515600" cy="548640"/>
          </a:xfrm>
          <a:prstGeom prst="rect">
            <a:avLst/>
          </a:prstGeom>
          <a:noFill/>
          <a:ln/>
        </p:spPr>
        <p:txBody>
          <a:bodyPr wrap="square" lIns="0" tIns="0" rIns="0" bIns="0" rtlCol="0" anchor="ctr"/>
          <a:lstStyle/>
          <a:p>
            <a:pPr indent="0" marL="0">
              <a:buNone/>
            </a:pPr>
            <a:r>
              <a:rPr lang="en-US" sz="2800" b="1" dirty="0">
                <a:solidFill>
                  <a:srgbClr val="262420"/>
                </a:solidFill>
                <a:latin typeface="Cambria" pitchFamily="34" charset="0"/>
                <a:ea typeface="Cambria" pitchFamily="34" charset="-122"/>
                <a:cs typeface="Cambria" pitchFamily="34" charset="-120"/>
              </a:rPr>
              <a:t>安全治理的六大核心能力</a:t>
            </a:r>
            <a:endParaRPr lang="en-US" sz="2800" dirty="0"/>
          </a:p>
        </p:txBody>
      </p:sp>
      <p:sp>
        <p:nvSpPr>
          <p:cNvPr id="5" name="Text 3"/>
          <p:cNvSpPr/>
          <p:nvPr/>
        </p:nvSpPr>
        <p:spPr>
          <a:xfrm>
            <a:off x="502920" y="1371600"/>
            <a:ext cx="10515600" cy="365760"/>
          </a:xfrm>
          <a:prstGeom prst="rect">
            <a:avLst/>
          </a:prstGeom>
          <a:noFill/>
          <a:ln/>
        </p:spPr>
        <p:txBody>
          <a:bodyPr wrap="square" lIns="0" tIns="0" rIns="0" bIns="0" rtlCol="0" anchor="ctr"/>
          <a:lstStyle/>
          <a:p>
            <a:pPr indent="0" marL="0">
              <a:buNone/>
            </a:pPr>
            <a:r>
              <a:rPr lang="en-US" sz="1250" dirty="0">
                <a:solidFill>
                  <a:srgbClr val="6B6459"/>
                </a:solidFill>
                <a:latin typeface="Calibri" pitchFamily="34" charset="0"/>
                <a:ea typeface="Calibri" pitchFamily="34" charset="-122"/>
                <a:cs typeface="Calibri" pitchFamily="34" charset="-120"/>
              </a:rPr>
              <a:t>从“训练前价值对齐”到“部署后实时防御”，再到“外部独立验证”，形成闭环治理体系</a:t>
            </a:r>
            <a:endParaRPr lang="en-US" sz="1250" dirty="0"/>
          </a:p>
        </p:txBody>
      </p:sp>
      <p:sp>
        <p:nvSpPr>
          <p:cNvPr id="6" name="Shape 4"/>
          <p:cNvSpPr/>
          <p:nvPr/>
        </p:nvSpPr>
        <p:spPr>
          <a:xfrm>
            <a:off x="502920" y="1965960"/>
            <a:ext cx="3456432" cy="2011680"/>
          </a:xfrm>
          <a:prstGeom prst="roundRect">
            <a:avLst>
              <a:gd name="adj" fmla="val 4545"/>
            </a:avLst>
          </a:prstGeom>
          <a:solidFill>
            <a:srgbClr val="1A1A19"/>
          </a:solidFill>
          <a:ln/>
          <a:effectLst>
            <a:outerShdw sx="100000" sy="100000" kx="0" ky="0" algn="bl" rotWithShape="0" blurRad="101600" dist="38100" dir="5400000">
              <a:srgbClr val="000000">
                <a:alpha val="12000"/>
              </a:srgbClr>
            </a:outerShdw>
          </a:effectLst>
        </p:spPr>
      </p:sp>
      <p:sp>
        <p:nvSpPr>
          <p:cNvPr id="7" name="Shape 5"/>
          <p:cNvSpPr/>
          <p:nvPr/>
        </p:nvSpPr>
        <p:spPr>
          <a:xfrm>
            <a:off x="722376" y="2185416"/>
            <a:ext cx="457200" cy="457200"/>
          </a:xfrm>
          <a:prstGeom prst="ellipse">
            <a:avLst/>
          </a:prstGeom>
          <a:solidFill>
            <a:srgbClr val="C2693F"/>
          </a:solidFill>
          <a:ln/>
        </p:spPr>
      </p:sp>
      <p:pic>
        <p:nvPicPr>
          <p:cNvPr id="8" name="Image 0" descr="/home/claude/anthropic_safety_deck/icons/balance_white.png">    </p:cNvPr>
          <p:cNvPicPr>
            <a:picLocks noChangeAspect="1"/>
          </p:cNvPicPr>
          <p:nvPr/>
        </p:nvPicPr>
        <p:blipFill>
          <a:blip r:embed="rId1"/>
          <a:stretch>
            <a:fillRect/>
          </a:stretch>
        </p:blipFill>
        <p:spPr>
          <a:xfrm>
            <a:off x="832104" y="2295144"/>
            <a:ext cx="237744" cy="237744"/>
          </a:xfrm>
          <a:prstGeom prst="rect">
            <a:avLst/>
          </a:prstGeom>
        </p:spPr>
      </p:pic>
      <p:sp>
        <p:nvSpPr>
          <p:cNvPr id="9" name="Text 6"/>
          <p:cNvSpPr/>
          <p:nvPr/>
        </p:nvSpPr>
        <p:spPr>
          <a:xfrm>
            <a:off x="3182112" y="2130552"/>
            <a:ext cx="594360" cy="365760"/>
          </a:xfrm>
          <a:prstGeom prst="rect">
            <a:avLst/>
          </a:prstGeom>
          <a:noFill/>
          <a:ln/>
        </p:spPr>
        <p:txBody>
          <a:bodyPr wrap="square" lIns="0" tIns="0" rIns="0" bIns="0" rtlCol="0" anchor="ctr"/>
          <a:lstStyle/>
          <a:p>
            <a:pPr algn="r" indent="0" marL="0">
              <a:buNone/>
            </a:pPr>
            <a:r>
              <a:rPr lang="en-US" sz="1600" dirty="0">
                <a:solidFill>
                  <a:srgbClr val="4A4842"/>
                </a:solidFill>
                <a:latin typeface="Cambria" pitchFamily="34" charset="0"/>
                <a:ea typeface="Cambria" pitchFamily="34" charset="-122"/>
                <a:cs typeface="Cambria" pitchFamily="34" charset="-120"/>
              </a:rPr>
              <a:t>01</a:t>
            </a:r>
            <a:endParaRPr lang="en-US" sz="1600" dirty="0"/>
          </a:p>
        </p:txBody>
      </p:sp>
      <p:sp>
        <p:nvSpPr>
          <p:cNvPr id="10" name="Text 7"/>
          <p:cNvSpPr/>
          <p:nvPr/>
        </p:nvSpPr>
        <p:spPr>
          <a:xfrm>
            <a:off x="722376" y="2752344"/>
            <a:ext cx="3017520" cy="45720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RSP / ASL 分级框架</a:t>
            </a:r>
            <a:endParaRPr lang="en-US" sz="1350" dirty="0"/>
          </a:p>
        </p:txBody>
      </p:sp>
      <p:sp>
        <p:nvSpPr>
          <p:cNvPr id="11" name="Text 8"/>
          <p:cNvSpPr/>
          <p:nvPr/>
        </p:nvSpPr>
        <p:spPr>
          <a:xfrm>
            <a:off x="722376" y="3172968"/>
            <a:ext cx="3017520" cy="731520"/>
          </a:xfrm>
          <a:prstGeom prst="rect">
            <a:avLst/>
          </a:prstGeom>
          <a:noFill/>
          <a:ln/>
        </p:spPr>
        <p:txBody>
          <a:bodyPr wrap="square" lIns="0" tIns="0" rIns="0" bIns="0" rtlCol="0" anchor="ctr"/>
          <a:lstStyle/>
          <a:p>
            <a:pPr indent="0" marL="0">
              <a:lnSpc>
                <a:spcPct val="120000"/>
              </a:lnSpc>
              <a:buNone/>
            </a:pPr>
            <a:r>
              <a:rPr lang="en-US" sz="1000" dirty="0">
                <a:solidFill>
                  <a:srgbClr val="C9C5BC"/>
                </a:solidFill>
                <a:latin typeface="Calibri" pitchFamily="34" charset="0"/>
                <a:ea typeface="Calibri" pitchFamily="34" charset="-122"/>
                <a:cs typeface="Calibri" pitchFamily="34" charset="-120"/>
              </a:rPr>
              <a:t>按灾难性风险对模型能力分级，触发对应安全与部署标准</a:t>
            </a:r>
            <a:endParaRPr lang="en-US" sz="1000" dirty="0"/>
          </a:p>
        </p:txBody>
      </p:sp>
      <p:sp>
        <p:nvSpPr>
          <p:cNvPr id="12" name="Shape 9"/>
          <p:cNvSpPr/>
          <p:nvPr/>
        </p:nvSpPr>
        <p:spPr>
          <a:xfrm>
            <a:off x="4123944" y="1965960"/>
            <a:ext cx="3456432" cy="2011680"/>
          </a:xfrm>
          <a:prstGeom prst="roundRect">
            <a:avLst>
              <a:gd name="adj" fmla="val 4545"/>
            </a:avLst>
          </a:prstGeom>
          <a:solidFill>
            <a:srgbClr val="1A1A19"/>
          </a:solidFill>
          <a:ln/>
          <a:effectLst>
            <a:outerShdw sx="100000" sy="100000" kx="0" ky="0" algn="bl" rotWithShape="0" blurRad="101600" dist="38100" dir="5400000">
              <a:srgbClr val="000000">
                <a:alpha val="12000"/>
              </a:srgbClr>
            </a:outerShdw>
          </a:effectLst>
        </p:spPr>
      </p:sp>
      <p:sp>
        <p:nvSpPr>
          <p:cNvPr id="13" name="Shape 10"/>
          <p:cNvSpPr/>
          <p:nvPr/>
        </p:nvSpPr>
        <p:spPr>
          <a:xfrm>
            <a:off x="4343400" y="2185416"/>
            <a:ext cx="457200" cy="457200"/>
          </a:xfrm>
          <a:prstGeom prst="ellipse">
            <a:avLst/>
          </a:prstGeom>
          <a:solidFill>
            <a:srgbClr val="C2693F"/>
          </a:solidFill>
          <a:ln/>
        </p:spPr>
      </p:sp>
      <p:pic>
        <p:nvPicPr>
          <p:cNvPr id="14" name="Image 1" descr="/home/claude/anthropic_safety_deck/icons/key_white.png">    </p:cNvPr>
          <p:cNvPicPr>
            <a:picLocks noChangeAspect="1"/>
          </p:cNvPicPr>
          <p:nvPr/>
        </p:nvPicPr>
        <p:blipFill>
          <a:blip r:embed="rId2"/>
          <a:stretch>
            <a:fillRect/>
          </a:stretch>
        </p:blipFill>
        <p:spPr>
          <a:xfrm>
            <a:off x="4453128" y="2295144"/>
            <a:ext cx="237744" cy="237744"/>
          </a:xfrm>
          <a:prstGeom prst="rect">
            <a:avLst/>
          </a:prstGeom>
        </p:spPr>
      </p:pic>
      <p:sp>
        <p:nvSpPr>
          <p:cNvPr id="15" name="Text 11"/>
          <p:cNvSpPr/>
          <p:nvPr/>
        </p:nvSpPr>
        <p:spPr>
          <a:xfrm>
            <a:off x="6803136" y="2130552"/>
            <a:ext cx="594360" cy="365760"/>
          </a:xfrm>
          <a:prstGeom prst="rect">
            <a:avLst/>
          </a:prstGeom>
          <a:noFill/>
          <a:ln/>
        </p:spPr>
        <p:txBody>
          <a:bodyPr wrap="square" lIns="0" tIns="0" rIns="0" bIns="0" rtlCol="0" anchor="ctr"/>
          <a:lstStyle/>
          <a:p>
            <a:pPr algn="r" indent="0" marL="0">
              <a:buNone/>
            </a:pPr>
            <a:r>
              <a:rPr lang="en-US" sz="1600" dirty="0">
                <a:solidFill>
                  <a:srgbClr val="4A4842"/>
                </a:solidFill>
                <a:latin typeface="Cambria" pitchFamily="34" charset="0"/>
                <a:ea typeface="Cambria" pitchFamily="34" charset="-122"/>
                <a:cs typeface="Cambria" pitchFamily="34" charset="-120"/>
              </a:rPr>
              <a:t>02</a:t>
            </a:r>
            <a:endParaRPr lang="en-US" sz="1600" dirty="0"/>
          </a:p>
        </p:txBody>
      </p:sp>
      <p:sp>
        <p:nvSpPr>
          <p:cNvPr id="16" name="Text 12"/>
          <p:cNvSpPr/>
          <p:nvPr/>
        </p:nvSpPr>
        <p:spPr>
          <a:xfrm>
            <a:off x="4343400" y="2752344"/>
            <a:ext cx="3017520" cy="45720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ASL-3 安全标准</a:t>
            </a:r>
            <a:endParaRPr lang="en-US" sz="1350" dirty="0"/>
          </a:p>
        </p:txBody>
      </p:sp>
      <p:sp>
        <p:nvSpPr>
          <p:cNvPr id="17" name="Text 13"/>
          <p:cNvSpPr/>
          <p:nvPr/>
        </p:nvSpPr>
        <p:spPr>
          <a:xfrm>
            <a:off x="4343400" y="3172968"/>
            <a:ext cx="3017520" cy="731520"/>
          </a:xfrm>
          <a:prstGeom prst="rect">
            <a:avLst/>
          </a:prstGeom>
          <a:noFill/>
          <a:ln/>
        </p:spPr>
        <p:txBody>
          <a:bodyPr wrap="square" lIns="0" tIns="0" rIns="0" bIns="0" rtlCol="0" anchor="ctr"/>
          <a:lstStyle/>
          <a:p>
            <a:pPr indent="0" marL="0">
              <a:lnSpc>
                <a:spcPct val="120000"/>
              </a:lnSpc>
              <a:buNone/>
            </a:pPr>
            <a:r>
              <a:rPr lang="en-US" sz="1000" dirty="0">
                <a:solidFill>
                  <a:srgbClr val="C9C5BC"/>
                </a:solidFill>
                <a:latin typeface="Calibri" pitchFamily="34" charset="0"/>
                <a:ea typeface="Calibri" pitchFamily="34" charset="-122"/>
                <a:cs typeface="Calibri" pitchFamily="34" charset="-120"/>
              </a:rPr>
              <a:t>模型权重防窃取的内部安全管控，防御复杂非国家级攻击者</a:t>
            </a:r>
            <a:endParaRPr lang="en-US" sz="1000" dirty="0"/>
          </a:p>
        </p:txBody>
      </p:sp>
      <p:sp>
        <p:nvSpPr>
          <p:cNvPr id="18" name="Shape 14"/>
          <p:cNvSpPr/>
          <p:nvPr/>
        </p:nvSpPr>
        <p:spPr>
          <a:xfrm>
            <a:off x="7744968" y="1965960"/>
            <a:ext cx="3456432" cy="2011680"/>
          </a:xfrm>
          <a:prstGeom prst="roundRect">
            <a:avLst>
              <a:gd name="adj" fmla="val 4545"/>
            </a:avLst>
          </a:prstGeom>
          <a:solidFill>
            <a:srgbClr val="1A1A19"/>
          </a:solidFill>
          <a:ln/>
          <a:effectLst>
            <a:outerShdw sx="100000" sy="100000" kx="0" ky="0" algn="bl" rotWithShape="0" blurRad="101600" dist="38100" dir="5400000">
              <a:srgbClr val="000000">
                <a:alpha val="12000"/>
              </a:srgbClr>
            </a:outerShdw>
          </a:effectLst>
        </p:spPr>
      </p:sp>
      <p:sp>
        <p:nvSpPr>
          <p:cNvPr id="19" name="Shape 15"/>
          <p:cNvSpPr/>
          <p:nvPr/>
        </p:nvSpPr>
        <p:spPr>
          <a:xfrm>
            <a:off x="7964424" y="2185416"/>
            <a:ext cx="457200" cy="457200"/>
          </a:xfrm>
          <a:prstGeom prst="ellipse">
            <a:avLst/>
          </a:prstGeom>
          <a:solidFill>
            <a:srgbClr val="C2693F"/>
          </a:solidFill>
          <a:ln/>
        </p:spPr>
      </p:sp>
      <p:pic>
        <p:nvPicPr>
          <p:cNvPr id="20" name="Image 2" descr="/home/claude/anthropic_safety_deck/icons/brain_white.png">    </p:cNvPr>
          <p:cNvPicPr>
            <a:picLocks noChangeAspect="1"/>
          </p:cNvPicPr>
          <p:nvPr/>
        </p:nvPicPr>
        <p:blipFill>
          <a:blip r:embed="rId3"/>
          <a:stretch>
            <a:fillRect/>
          </a:stretch>
        </p:blipFill>
        <p:spPr>
          <a:xfrm>
            <a:off x="8074152" y="2295144"/>
            <a:ext cx="237744" cy="237744"/>
          </a:xfrm>
          <a:prstGeom prst="rect">
            <a:avLst/>
          </a:prstGeom>
        </p:spPr>
      </p:pic>
      <p:sp>
        <p:nvSpPr>
          <p:cNvPr id="21" name="Text 16"/>
          <p:cNvSpPr/>
          <p:nvPr/>
        </p:nvSpPr>
        <p:spPr>
          <a:xfrm>
            <a:off x="10424160" y="2130552"/>
            <a:ext cx="594360" cy="365760"/>
          </a:xfrm>
          <a:prstGeom prst="rect">
            <a:avLst/>
          </a:prstGeom>
          <a:noFill/>
          <a:ln/>
        </p:spPr>
        <p:txBody>
          <a:bodyPr wrap="square" lIns="0" tIns="0" rIns="0" bIns="0" rtlCol="0" anchor="ctr"/>
          <a:lstStyle/>
          <a:p>
            <a:pPr algn="r" indent="0" marL="0">
              <a:buNone/>
            </a:pPr>
            <a:r>
              <a:rPr lang="en-US" sz="1600" dirty="0">
                <a:solidFill>
                  <a:srgbClr val="4A4842"/>
                </a:solidFill>
                <a:latin typeface="Cambria" pitchFamily="34" charset="0"/>
                <a:ea typeface="Cambria" pitchFamily="34" charset="-122"/>
                <a:cs typeface="Cambria" pitchFamily="34" charset="-120"/>
              </a:rPr>
              <a:t>03</a:t>
            </a:r>
            <a:endParaRPr lang="en-US" sz="1600" dirty="0"/>
          </a:p>
        </p:txBody>
      </p:sp>
      <p:sp>
        <p:nvSpPr>
          <p:cNvPr id="22" name="Text 17"/>
          <p:cNvSpPr/>
          <p:nvPr/>
        </p:nvSpPr>
        <p:spPr>
          <a:xfrm>
            <a:off x="7964424" y="2752344"/>
            <a:ext cx="3017520" cy="45720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Constitutional AI</a:t>
            </a:r>
            <a:endParaRPr lang="en-US" sz="1350" dirty="0"/>
          </a:p>
        </p:txBody>
      </p:sp>
      <p:sp>
        <p:nvSpPr>
          <p:cNvPr id="23" name="Text 18"/>
          <p:cNvSpPr/>
          <p:nvPr/>
        </p:nvSpPr>
        <p:spPr>
          <a:xfrm>
            <a:off x="7964424" y="3172968"/>
            <a:ext cx="3017520" cy="731520"/>
          </a:xfrm>
          <a:prstGeom prst="rect">
            <a:avLst/>
          </a:prstGeom>
          <a:noFill/>
          <a:ln/>
        </p:spPr>
        <p:txBody>
          <a:bodyPr wrap="square" lIns="0" tIns="0" rIns="0" bIns="0" rtlCol="0" anchor="ctr"/>
          <a:lstStyle/>
          <a:p>
            <a:pPr indent="0" marL="0">
              <a:lnSpc>
                <a:spcPct val="120000"/>
              </a:lnSpc>
              <a:buNone/>
            </a:pPr>
            <a:r>
              <a:rPr lang="en-US" sz="1000" dirty="0">
                <a:solidFill>
                  <a:srgbClr val="C9C5BC"/>
                </a:solidFill>
                <a:latin typeface="Calibri" pitchFamily="34" charset="0"/>
                <a:ea typeface="Calibri" pitchFamily="34" charset="-122"/>
                <a:cs typeface="Calibri" pitchFamily="34" charset="-120"/>
              </a:rPr>
              <a:t>将显式价值原则写入训练目标，而非依赖不透明的人类反馈</a:t>
            </a:r>
            <a:endParaRPr lang="en-US" sz="1000" dirty="0"/>
          </a:p>
        </p:txBody>
      </p:sp>
      <p:sp>
        <p:nvSpPr>
          <p:cNvPr id="24" name="Shape 19"/>
          <p:cNvSpPr/>
          <p:nvPr/>
        </p:nvSpPr>
        <p:spPr>
          <a:xfrm>
            <a:off x="502920" y="4160520"/>
            <a:ext cx="3456432" cy="2011680"/>
          </a:xfrm>
          <a:prstGeom prst="roundRect">
            <a:avLst>
              <a:gd name="adj" fmla="val 4545"/>
            </a:avLst>
          </a:prstGeom>
          <a:solidFill>
            <a:srgbClr val="1A1A19"/>
          </a:solidFill>
          <a:ln/>
          <a:effectLst>
            <a:outerShdw sx="100000" sy="100000" kx="0" ky="0" algn="bl" rotWithShape="0" blurRad="101600" dist="38100" dir="5400000">
              <a:srgbClr val="000000">
                <a:alpha val="12000"/>
              </a:srgbClr>
            </a:outerShdw>
          </a:effectLst>
        </p:spPr>
      </p:sp>
      <p:sp>
        <p:nvSpPr>
          <p:cNvPr id="25" name="Shape 20"/>
          <p:cNvSpPr/>
          <p:nvPr/>
        </p:nvSpPr>
        <p:spPr>
          <a:xfrm>
            <a:off x="722376" y="4379976"/>
            <a:ext cx="457200" cy="457200"/>
          </a:xfrm>
          <a:prstGeom prst="ellipse">
            <a:avLst/>
          </a:prstGeom>
          <a:solidFill>
            <a:srgbClr val="C2693F"/>
          </a:solidFill>
          <a:ln/>
        </p:spPr>
      </p:sp>
      <p:pic>
        <p:nvPicPr>
          <p:cNvPr id="26" name="Image 3" descr="/home/claude/anthropic_safety_deck/icons/shield_white.png">    </p:cNvPr>
          <p:cNvPicPr>
            <a:picLocks noChangeAspect="1"/>
          </p:cNvPicPr>
          <p:nvPr/>
        </p:nvPicPr>
        <p:blipFill>
          <a:blip r:embed="rId4"/>
          <a:stretch>
            <a:fillRect/>
          </a:stretch>
        </p:blipFill>
        <p:spPr>
          <a:xfrm>
            <a:off x="832104" y="4489704"/>
            <a:ext cx="237744" cy="237744"/>
          </a:xfrm>
          <a:prstGeom prst="rect">
            <a:avLst/>
          </a:prstGeom>
        </p:spPr>
      </p:pic>
      <p:sp>
        <p:nvSpPr>
          <p:cNvPr id="27" name="Text 21"/>
          <p:cNvSpPr/>
          <p:nvPr/>
        </p:nvSpPr>
        <p:spPr>
          <a:xfrm>
            <a:off x="3182112" y="4325112"/>
            <a:ext cx="594360" cy="365760"/>
          </a:xfrm>
          <a:prstGeom prst="rect">
            <a:avLst/>
          </a:prstGeom>
          <a:noFill/>
          <a:ln/>
        </p:spPr>
        <p:txBody>
          <a:bodyPr wrap="square" lIns="0" tIns="0" rIns="0" bIns="0" rtlCol="0" anchor="ctr"/>
          <a:lstStyle/>
          <a:p>
            <a:pPr algn="r" indent="0" marL="0">
              <a:buNone/>
            </a:pPr>
            <a:r>
              <a:rPr lang="en-US" sz="1600" dirty="0">
                <a:solidFill>
                  <a:srgbClr val="4A4842"/>
                </a:solidFill>
                <a:latin typeface="Cambria" pitchFamily="34" charset="0"/>
                <a:ea typeface="Cambria" pitchFamily="34" charset="-122"/>
                <a:cs typeface="Cambria" pitchFamily="34" charset="-120"/>
              </a:rPr>
              <a:t>04</a:t>
            </a:r>
            <a:endParaRPr lang="en-US" sz="1600" dirty="0"/>
          </a:p>
        </p:txBody>
      </p:sp>
      <p:sp>
        <p:nvSpPr>
          <p:cNvPr id="28" name="Text 22"/>
          <p:cNvSpPr/>
          <p:nvPr/>
        </p:nvSpPr>
        <p:spPr>
          <a:xfrm>
            <a:off x="722376" y="4946904"/>
            <a:ext cx="3017520" cy="45720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Constitutional Classifiers</a:t>
            </a:r>
            <a:endParaRPr lang="en-US" sz="1350" dirty="0"/>
          </a:p>
        </p:txBody>
      </p:sp>
      <p:sp>
        <p:nvSpPr>
          <p:cNvPr id="29" name="Text 23"/>
          <p:cNvSpPr/>
          <p:nvPr/>
        </p:nvSpPr>
        <p:spPr>
          <a:xfrm>
            <a:off x="722376" y="5367528"/>
            <a:ext cx="3017520" cy="731520"/>
          </a:xfrm>
          <a:prstGeom prst="rect">
            <a:avLst/>
          </a:prstGeom>
          <a:noFill/>
          <a:ln/>
        </p:spPr>
        <p:txBody>
          <a:bodyPr wrap="square" lIns="0" tIns="0" rIns="0" bIns="0" rtlCol="0" anchor="ctr"/>
          <a:lstStyle/>
          <a:p>
            <a:pPr indent="0" marL="0">
              <a:lnSpc>
                <a:spcPct val="120000"/>
              </a:lnSpc>
              <a:buNone/>
            </a:pPr>
            <a:r>
              <a:rPr lang="en-US" sz="1000" dirty="0">
                <a:solidFill>
                  <a:srgbClr val="C9C5BC"/>
                </a:solidFill>
                <a:latin typeface="Calibri" pitchFamily="34" charset="0"/>
                <a:ea typeface="Calibri" pitchFamily="34" charset="-122"/>
                <a:cs typeface="Calibri" pitchFamily="34" charset="-120"/>
              </a:rPr>
              <a:t>实时输入/输出分类器，抵御越狱攻击，专注CBRN等高危内容</a:t>
            </a:r>
            <a:endParaRPr lang="en-US" sz="1000" dirty="0"/>
          </a:p>
        </p:txBody>
      </p:sp>
      <p:sp>
        <p:nvSpPr>
          <p:cNvPr id="30" name="Shape 24"/>
          <p:cNvSpPr/>
          <p:nvPr/>
        </p:nvSpPr>
        <p:spPr>
          <a:xfrm>
            <a:off x="4123944" y="4160520"/>
            <a:ext cx="3456432" cy="2011680"/>
          </a:xfrm>
          <a:prstGeom prst="roundRect">
            <a:avLst>
              <a:gd name="adj" fmla="val 4545"/>
            </a:avLst>
          </a:prstGeom>
          <a:solidFill>
            <a:srgbClr val="1A1A19"/>
          </a:solidFill>
          <a:ln/>
          <a:effectLst>
            <a:outerShdw sx="100000" sy="100000" kx="0" ky="0" algn="bl" rotWithShape="0" blurRad="101600" dist="38100" dir="5400000">
              <a:srgbClr val="000000">
                <a:alpha val="12000"/>
              </a:srgbClr>
            </a:outerShdw>
          </a:effectLst>
        </p:spPr>
      </p:sp>
      <p:sp>
        <p:nvSpPr>
          <p:cNvPr id="31" name="Shape 25"/>
          <p:cNvSpPr/>
          <p:nvPr/>
        </p:nvSpPr>
        <p:spPr>
          <a:xfrm>
            <a:off x="4343400" y="4379976"/>
            <a:ext cx="457200" cy="457200"/>
          </a:xfrm>
          <a:prstGeom prst="ellipse">
            <a:avLst/>
          </a:prstGeom>
          <a:solidFill>
            <a:srgbClr val="C2693F"/>
          </a:solidFill>
          <a:ln/>
        </p:spPr>
      </p:sp>
      <p:pic>
        <p:nvPicPr>
          <p:cNvPr id="32" name="Image 4" descr="/home/claude/anthropic_safety_deck/icons/microscope_white.png">    </p:cNvPr>
          <p:cNvPicPr>
            <a:picLocks noChangeAspect="1"/>
          </p:cNvPicPr>
          <p:nvPr/>
        </p:nvPicPr>
        <p:blipFill>
          <a:blip r:embed="rId5"/>
          <a:stretch>
            <a:fillRect/>
          </a:stretch>
        </p:blipFill>
        <p:spPr>
          <a:xfrm>
            <a:off x="4453128" y="4489704"/>
            <a:ext cx="237744" cy="237744"/>
          </a:xfrm>
          <a:prstGeom prst="rect">
            <a:avLst/>
          </a:prstGeom>
        </p:spPr>
      </p:pic>
      <p:sp>
        <p:nvSpPr>
          <p:cNvPr id="33" name="Text 26"/>
          <p:cNvSpPr/>
          <p:nvPr/>
        </p:nvSpPr>
        <p:spPr>
          <a:xfrm>
            <a:off x="6803136" y="4325112"/>
            <a:ext cx="594360" cy="365760"/>
          </a:xfrm>
          <a:prstGeom prst="rect">
            <a:avLst/>
          </a:prstGeom>
          <a:noFill/>
          <a:ln/>
        </p:spPr>
        <p:txBody>
          <a:bodyPr wrap="square" lIns="0" tIns="0" rIns="0" bIns="0" rtlCol="0" anchor="ctr"/>
          <a:lstStyle/>
          <a:p>
            <a:pPr algn="r" indent="0" marL="0">
              <a:buNone/>
            </a:pPr>
            <a:r>
              <a:rPr lang="en-US" sz="1600" dirty="0">
                <a:solidFill>
                  <a:srgbClr val="4A4842"/>
                </a:solidFill>
                <a:latin typeface="Cambria" pitchFamily="34" charset="0"/>
                <a:ea typeface="Cambria" pitchFamily="34" charset="-122"/>
                <a:cs typeface="Cambria" pitchFamily="34" charset="-120"/>
              </a:rPr>
              <a:t>05</a:t>
            </a:r>
            <a:endParaRPr lang="en-US" sz="1600" dirty="0"/>
          </a:p>
        </p:txBody>
      </p:sp>
      <p:sp>
        <p:nvSpPr>
          <p:cNvPr id="34" name="Text 27"/>
          <p:cNvSpPr/>
          <p:nvPr/>
        </p:nvSpPr>
        <p:spPr>
          <a:xfrm>
            <a:off x="4343400" y="4946904"/>
            <a:ext cx="3017520" cy="45720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机制可解释性研究</a:t>
            </a:r>
            <a:endParaRPr lang="en-US" sz="1350" dirty="0"/>
          </a:p>
        </p:txBody>
      </p:sp>
      <p:sp>
        <p:nvSpPr>
          <p:cNvPr id="35" name="Text 28"/>
          <p:cNvSpPr/>
          <p:nvPr/>
        </p:nvSpPr>
        <p:spPr>
          <a:xfrm>
            <a:off x="4343400" y="5367528"/>
            <a:ext cx="3017520" cy="731520"/>
          </a:xfrm>
          <a:prstGeom prst="rect">
            <a:avLst/>
          </a:prstGeom>
          <a:noFill/>
          <a:ln/>
        </p:spPr>
        <p:txBody>
          <a:bodyPr wrap="square" lIns="0" tIns="0" rIns="0" bIns="0" rtlCol="0" anchor="ctr"/>
          <a:lstStyle/>
          <a:p>
            <a:pPr indent="0" marL="0">
              <a:lnSpc>
                <a:spcPct val="120000"/>
              </a:lnSpc>
              <a:buNone/>
            </a:pPr>
            <a:r>
              <a:rPr lang="en-US" sz="1000" dirty="0">
                <a:solidFill>
                  <a:srgbClr val="C9C5BC"/>
                </a:solidFill>
                <a:latin typeface="Calibri" pitchFamily="34" charset="0"/>
                <a:ea typeface="Calibri" pitchFamily="34" charset="-122"/>
                <a:cs typeface="Calibri" pitchFamily="34" charset="-120"/>
              </a:rPr>
              <a:t>追踪模型内部“思维电路”，在部署前识别欺骗与危险倾向</a:t>
            </a:r>
            <a:endParaRPr lang="en-US" sz="1000" dirty="0"/>
          </a:p>
        </p:txBody>
      </p:sp>
      <p:sp>
        <p:nvSpPr>
          <p:cNvPr id="36" name="Shape 29"/>
          <p:cNvSpPr/>
          <p:nvPr/>
        </p:nvSpPr>
        <p:spPr>
          <a:xfrm>
            <a:off x="7744968" y="4160520"/>
            <a:ext cx="3456432" cy="2011680"/>
          </a:xfrm>
          <a:prstGeom prst="roundRect">
            <a:avLst>
              <a:gd name="adj" fmla="val 4545"/>
            </a:avLst>
          </a:prstGeom>
          <a:solidFill>
            <a:srgbClr val="1A1A19"/>
          </a:solidFill>
          <a:ln/>
          <a:effectLst>
            <a:outerShdw sx="100000" sy="100000" kx="0" ky="0" algn="bl" rotWithShape="0" blurRad="101600" dist="38100" dir="5400000">
              <a:srgbClr val="000000">
                <a:alpha val="12000"/>
              </a:srgbClr>
            </a:outerShdw>
          </a:effectLst>
        </p:spPr>
      </p:sp>
      <p:sp>
        <p:nvSpPr>
          <p:cNvPr id="37" name="Shape 30"/>
          <p:cNvSpPr/>
          <p:nvPr/>
        </p:nvSpPr>
        <p:spPr>
          <a:xfrm>
            <a:off x="7964424" y="4379976"/>
            <a:ext cx="457200" cy="457200"/>
          </a:xfrm>
          <a:prstGeom prst="ellipse">
            <a:avLst/>
          </a:prstGeom>
          <a:solidFill>
            <a:srgbClr val="C2693F"/>
          </a:solidFill>
          <a:ln/>
        </p:spPr>
      </p:sp>
      <p:pic>
        <p:nvPicPr>
          <p:cNvPr id="38" name="Image 5" descr="/home/claude/anthropic_safety_deck/icons/university_white.png">    </p:cNvPr>
          <p:cNvPicPr>
            <a:picLocks noChangeAspect="1"/>
          </p:cNvPicPr>
          <p:nvPr/>
        </p:nvPicPr>
        <p:blipFill>
          <a:blip r:embed="rId6"/>
          <a:stretch>
            <a:fillRect/>
          </a:stretch>
        </p:blipFill>
        <p:spPr>
          <a:xfrm>
            <a:off x="8074152" y="4489704"/>
            <a:ext cx="237744" cy="237744"/>
          </a:xfrm>
          <a:prstGeom prst="rect">
            <a:avLst/>
          </a:prstGeom>
        </p:spPr>
      </p:pic>
      <p:sp>
        <p:nvSpPr>
          <p:cNvPr id="39" name="Text 31"/>
          <p:cNvSpPr/>
          <p:nvPr/>
        </p:nvSpPr>
        <p:spPr>
          <a:xfrm>
            <a:off x="10424160" y="4325112"/>
            <a:ext cx="594360" cy="365760"/>
          </a:xfrm>
          <a:prstGeom prst="rect">
            <a:avLst/>
          </a:prstGeom>
          <a:noFill/>
          <a:ln/>
        </p:spPr>
        <p:txBody>
          <a:bodyPr wrap="square" lIns="0" tIns="0" rIns="0" bIns="0" rtlCol="0" anchor="ctr"/>
          <a:lstStyle/>
          <a:p>
            <a:pPr algn="r" indent="0" marL="0">
              <a:buNone/>
            </a:pPr>
            <a:r>
              <a:rPr lang="en-US" sz="1600" dirty="0">
                <a:solidFill>
                  <a:srgbClr val="4A4842"/>
                </a:solidFill>
                <a:latin typeface="Cambria" pitchFamily="34" charset="0"/>
                <a:ea typeface="Cambria" pitchFamily="34" charset="-122"/>
                <a:cs typeface="Cambria" pitchFamily="34" charset="-120"/>
              </a:rPr>
              <a:t>06</a:t>
            </a:r>
            <a:endParaRPr lang="en-US" sz="1600" dirty="0"/>
          </a:p>
        </p:txBody>
      </p:sp>
      <p:sp>
        <p:nvSpPr>
          <p:cNvPr id="40" name="Text 32"/>
          <p:cNvSpPr/>
          <p:nvPr/>
        </p:nvSpPr>
        <p:spPr>
          <a:xfrm>
            <a:off x="7964424" y="4946904"/>
            <a:ext cx="3017520" cy="45720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外部红队与政府协作</a:t>
            </a:r>
            <a:endParaRPr lang="en-US" sz="1350" dirty="0"/>
          </a:p>
        </p:txBody>
      </p:sp>
      <p:sp>
        <p:nvSpPr>
          <p:cNvPr id="41" name="Text 33"/>
          <p:cNvSpPr/>
          <p:nvPr/>
        </p:nvSpPr>
        <p:spPr>
          <a:xfrm>
            <a:off x="7964424" y="5367528"/>
            <a:ext cx="3017520" cy="731520"/>
          </a:xfrm>
          <a:prstGeom prst="rect">
            <a:avLst/>
          </a:prstGeom>
          <a:noFill/>
          <a:ln/>
        </p:spPr>
        <p:txBody>
          <a:bodyPr wrap="square" lIns="0" tIns="0" rIns="0" bIns="0" rtlCol="0" anchor="ctr"/>
          <a:lstStyle/>
          <a:p>
            <a:pPr indent="0" marL="0">
              <a:lnSpc>
                <a:spcPct val="120000"/>
              </a:lnSpc>
              <a:buNone/>
            </a:pPr>
            <a:r>
              <a:rPr lang="en-US" sz="1000" dirty="0">
                <a:solidFill>
                  <a:srgbClr val="C9C5BC"/>
                </a:solidFill>
                <a:latin typeface="Calibri" pitchFamily="34" charset="0"/>
                <a:ea typeface="Calibri" pitchFamily="34" charset="-122"/>
                <a:cs typeface="Calibri" pitchFamily="34" charset="-120"/>
              </a:rPr>
              <a:t>与US CAISI、UK AISI、METR等独立机构联合测试与验证</a:t>
            </a:r>
            <a:endParaRPr lang="en-US" sz="1000" dirty="0"/>
          </a:p>
        </p:txBody>
      </p:sp>
      <p:sp>
        <p:nvSpPr>
          <p:cNvPr id="42" name="Text 34"/>
          <p:cNvSpPr/>
          <p:nvPr/>
        </p:nvSpPr>
        <p:spPr>
          <a:xfrm>
            <a:off x="457200" y="6547104"/>
            <a:ext cx="5486400" cy="256032"/>
          </a:xfrm>
          <a:prstGeom prst="rect">
            <a:avLst/>
          </a:prstGeom>
          <a:noFill/>
          <a:ln/>
        </p:spPr>
        <p:txBody>
          <a:bodyPr wrap="square" lIns="0" tIns="0" rIns="0" bIns="0" rtlCol="0" anchor="ctr"/>
          <a:lstStyle/>
          <a:p>
            <a:pPr algn="l" indent="0" marL="0">
              <a:buNone/>
            </a:pPr>
            <a:r>
              <a:rPr lang="en-US" sz="900" dirty="0">
                <a:solidFill>
                  <a:srgbClr val="6B6459"/>
                </a:solidFill>
                <a:latin typeface="Calibri" pitchFamily="34" charset="0"/>
                <a:ea typeface="Calibri" pitchFamily="34" charset="-122"/>
                <a:cs typeface="Calibri" pitchFamily="34" charset="-120"/>
              </a:rPr>
              <a:t>Anthropic 安全治理</a:t>
            </a:r>
            <a:endParaRPr lang="en-US" sz="900" dirty="0"/>
          </a:p>
        </p:txBody>
      </p:sp>
      <p:sp>
        <p:nvSpPr>
          <p:cNvPr id="43" name="Text 35"/>
          <p:cNvSpPr/>
          <p:nvPr/>
        </p:nvSpPr>
        <p:spPr>
          <a:xfrm>
            <a:off x="11338560" y="6547104"/>
            <a:ext cx="411480" cy="256032"/>
          </a:xfrm>
          <a:prstGeom prst="rect">
            <a:avLst/>
          </a:prstGeom>
          <a:noFill/>
          <a:ln/>
        </p:spPr>
        <p:txBody>
          <a:bodyPr wrap="square" lIns="0" tIns="0" rIns="0" bIns="0" rtlCol="0" anchor="ctr"/>
          <a:lstStyle/>
          <a:p>
            <a:pPr algn="r" indent="0" marL="0">
              <a:buNone/>
            </a:pPr>
            <a:r>
              <a:rPr lang="en-US" sz="900" dirty="0">
                <a:solidFill>
                  <a:srgbClr val="6B645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19"/>
        </a:solidFill>
      </p:bgPr>
    </p:bg>
    <p:spTree>
      <p:nvGrpSpPr>
        <p:cNvPr id="1" name=""/>
        <p:cNvGrpSpPr/>
        <p:nvPr/>
      </p:nvGrpSpPr>
      <p:grpSpPr>
        <a:xfrm>
          <a:off x="0" y="0"/>
          <a:ext cx="0" cy="0"/>
          <a:chOff x="0" y="0"/>
          <a:chExt cx="0" cy="0"/>
        </a:xfrm>
      </p:grpSpPr>
      <p:sp>
        <p:nvSpPr>
          <p:cNvPr id="2" name="Shape 0"/>
          <p:cNvSpPr/>
          <p:nvPr/>
        </p:nvSpPr>
        <p:spPr>
          <a:xfrm>
            <a:off x="502920" y="411480"/>
            <a:ext cx="1737360" cy="310896"/>
          </a:xfrm>
          <a:prstGeom prst="roundRect">
            <a:avLst>
              <a:gd name="adj" fmla="val 20588"/>
            </a:avLst>
          </a:prstGeom>
          <a:solidFill>
            <a:srgbClr val="C2693F"/>
          </a:solidFill>
          <a:ln/>
        </p:spPr>
      </p:sp>
      <p:sp>
        <p:nvSpPr>
          <p:cNvPr id="3" name="Text 1"/>
          <p:cNvSpPr/>
          <p:nvPr/>
        </p:nvSpPr>
        <p:spPr>
          <a:xfrm>
            <a:off x="502920" y="411480"/>
            <a:ext cx="173736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能力 01</a:t>
            </a:r>
            <a:endParaRPr lang="en-US" sz="1100" dirty="0"/>
          </a:p>
        </p:txBody>
      </p:sp>
      <p:sp>
        <p:nvSpPr>
          <p:cNvPr id="4" name="Text 2"/>
          <p:cNvSpPr/>
          <p:nvPr/>
        </p:nvSpPr>
        <p:spPr>
          <a:xfrm>
            <a:off x="502920" y="841248"/>
            <a:ext cx="10515600" cy="54864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RSP / ASL：按风险分级的强制治理框架</a:t>
            </a:r>
            <a:endParaRPr lang="en-US" sz="2500" dirty="0"/>
          </a:p>
        </p:txBody>
      </p:sp>
      <p:sp>
        <p:nvSpPr>
          <p:cNvPr id="5" name="Text 3"/>
          <p:cNvSpPr/>
          <p:nvPr/>
        </p:nvSpPr>
        <p:spPr>
          <a:xfrm>
            <a:off x="502920" y="1371600"/>
            <a:ext cx="10332720" cy="365760"/>
          </a:xfrm>
          <a:prstGeom prst="rect">
            <a:avLst/>
          </a:prstGeom>
          <a:noFill/>
          <a:ln/>
        </p:spPr>
        <p:txBody>
          <a:bodyPr wrap="square" lIns="0" tIns="0" rIns="0" bIns="0" rtlCol="0" anchor="ctr"/>
          <a:lstStyle/>
          <a:p>
            <a:pPr indent="0" marL="0">
              <a:buNone/>
            </a:pPr>
            <a:r>
              <a:rPr lang="en-US" sz="1250" dirty="0">
                <a:solidFill>
                  <a:srgbClr val="B8B2A6"/>
                </a:solidFill>
                <a:latin typeface="Calibri" pitchFamily="34" charset="0"/>
                <a:ea typeface="Calibri" pitchFamily="34" charset="-122"/>
                <a:cs typeface="Calibri" pitchFamily="34" charset="-120"/>
              </a:rPr>
              <a:t>Responsible Scaling Policy 借鉴生物安全等级（BSL）思路，将AI能力映射为可执行的安全标准</a:t>
            </a:r>
            <a:endParaRPr lang="en-US" sz="1250" dirty="0"/>
          </a:p>
        </p:txBody>
      </p:sp>
      <p:sp>
        <p:nvSpPr>
          <p:cNvPr id="6" name="Shape 4"/>
          <p:cNvSpPr/>
          <p:nvPr/>
        </p:nvSpPr>
        <p:spPr>
          <a:xfrm>
            <a:off x="502920" y="1965960"/>
            <a:ext cx="3456432" cy="1920240"/>
          </a:xfrm>
          <a:prstGeom prst="roundRect">
            <a:avLst>
              <a:gd name="adj" fmla="val 4762"/>
            </a:avLst>
          </a:prstGeom>
          <a:solidFill>
            <a:srgbClr val="242422"/>
          </a:solidFill>
          <a:ln w="9525">
            <a:solidFill>
              <a:srgbClr val="3A3935"/>
            </a:solidFill>
            <a:prstDash val="solid"/>
          </a:ln>
        </p:spPr>
      </p:sp>
      <p:sp>
        <p:nvSpPr>
          <p:cNvPr id="7" name="Text 5"/>
          <p:cNvSpPr/>
          <p:nvPr/>
        </p:nvSpPr>
        <p:spPr>
          <a:xfrm>
            <a:off x="777240" y="2167128"/>
            <a:ext cx="2907792" cy="457200"/>
          </a:xfrm>
          <a:prstGeom prst="rect">
            <a:avLst/>
          </a:prstGeom>
          <a:noFill/>
          <a:ln/>
        </p:spPr>
        <p:txBody>
          <a:bodyPr wrap="square" lIns="0" tIns="0" rIns="0" bIns="0" rtlCol="0" anchor="ctr"/>
          <a:lstStyle/>
          <a:p>
            <a:pPr indent="0" marL="0">
              <a:buNone/>
            </a:pPr>
            <a:r>
              <a:rPr lang="en-US" sz="2200" b="1" dirty="0">
                <a:solidFill>
                  <a:srgbClr val="C2693F"/>
                </a:solidFill>
                <a:latin typeface="Cambria" pitchFamily="34" charset="0"/>
                <a:ea typeface="Cambria" pitchFamily="34" charset="-122"/>
                <a:cs typeface="Cambria" pitchFamily="34" charset="-120"/>
              </a:rPr>
              <a:t>ASL-2</a:t>
            </a:r>
            <a:endParaRPr lang="en-US" sz="2200" dirty="0"/>
          </a:p>
        </p:txBody>
      </p:sp>
      <p:sp>
        <p:nvSpPr>
          <p:cNvPr id="8" name="Text 6"/>
          <p:cNvSpPr/>
          <p:nvPr/>
        </p:nvSpPr>
        <p:spPr>
          <a:xfrm>
            <a:off x="777240" y="2624328"/>
            <a:ext cx="2907792" cy="292608"/>
          </a:xfrm>
          <a:prstGeom prst="rect">
            <a:avLst/>
          </a:prstGeom>
          <a:noFill/>
          <a:ln/>
        </p:spPr>
        <p:txBody>
          <a:bodyPr wrap="square" lIns="0" tIns="0" rIns="0" bIns="0" rtlCol="0" anchor="ctr"/>
          <a:lstStyle/>
          <a:p>
            <a:pPr indent="0" marL="0">
              <a:buNone/>
            </a:pPr>
            <a:r>
              <a:rPr lang="en-US" sz="1100" i="1" dirty="0">
                <a:solidFill>
                  <a:srgbClr val="C9C5BC"/>
                </a:solidFill>
                <a:latin typeface="Calibri" pitchFamily="34" charset="0"/>
                <a:ea typeface="Calibri" pitchFamily="34" charset="-122"/>
                <a:cs typeface="Calibri" pitchFamily="34" charset="-120"/>
              </a:rPr>
              <a:t>基线标准</a:t>
            </a:r>
            <a:endParaRPr lang="en-US" sz="1100" dirty="0"/>
          </a:p>
        </p:txBody>
      </p:sp>
      <p:sp>
        <p:nvSpPr>
          <p:cNvPr id="9" name="Text 7"/>
          <p:cNvSpPr/>
          <p:nvPr/>
        </p:nvSpPr>
        <p:spPr>
          <a:xfrm>
            <a:off x="777240" y="2971800"/>
            <a:ext cx="2907792" cy="822960"/>
          </a:xfrm>
          <a:prstGeom prst="rect">
            <a:avLst/>
          </a:prstGeom>
          <a:noFill/>
          <a:ln/>
        </p:spPr>
        <p:txBody>
          <a:bodyPr wrap="square" lIns="0" tIns="0" rIns="0" bIns="0" rtlCol="0" anchor="ctr"/>
          <a:lstStyle/>
          <a:p>
            <a:pPr indent="0" marL="0">
              <a:lnSpc>
                <a:spcPct val="122000"/>
              </a:lnSpc>
              <a:buNone/>
            </a:pPr>
            <a:r>
              <a:rPr lang="en-US" sz="1050" dirty="0">
                <a:solidFill>
                  <a:srgbClr val="D8D4CB"/>
                </a:solidFill>
                <a:latin typeface="Calibri" pitchFamily="34" charset="0"/>
                <a:ea typeface="Calibri" pitchFamily="34" charset="-122"/>
                <a:cs typeface="Calibri" pitchFamily="34" charset="-120"/>
              </a:rPr>
              <a:t>适用于多数已部署模型；训练拒绝危险CBRN请求，防范机会主义级权重窃取</a:t>
            </a:r>
            <a:endParaRPr lang="en-US" sz="1050" dirty="0"/>
          </a:p>
        </p:txBody>
      </p:sp>
      <p:sp>
        <p:nvSpPr>
          <p:cNvPr id="10" name="Shape 8"/>
          <p:cNvSpPr/>
          <p:nvPr/>
        </p:nvSpPr>
        <p:spPr>
          <a:xfrm>
            <a:off x="4123944" y="1965960"/>
            <a:ext cx="3456432" cy="1920240"/>
          </a:xfrm>
          <a:prstGeom prst="roundRect">
            <a:avLst>
              <a:gd name="adj" fmla="val 4762"/>
            </a:avLst>
          </a:prstGeom>
          <a:solidFill>
            <a:srgbClr val="242422"/>
          </a:solidFill>
          <a:ln w="19050">
            <a:solidFill>
              <a:srgbClr val="C2693F"/>
            </a:solidFill>
            <a:prstDash val="solid"/>
          </a:ln>
        </p:spPr>
      </p:sp>
      <p:sp>
        <p:nvSpPr>
          <p:cNvPr id="11" name="Text 9"/>
          <p:cNvSpPr/>
          <p:nvPr/>
        </p:nvSpPr>
        <p:spPr>
          <a:xfrm>
            <a:off x="4398264" y="2167128"/>
            <a:ext cx="2907792" cy="457200"/>
          </a:xfrm>
          <a:prstGeom prst="rect">
            <a:avLst/>
          </a:prstGeom>
          <a:noFill/>
          <a:ln/>
        </p:spPr>
        <p:txBody>
          <a:bodyPr wrap="square" lIns="0" tIns="0" rIns="0" bIns="0" rtlCol="0" anchor="ctr"/>
          <a:lstStyle/>
          <a:p>
            <a:pPr indent="0" marL="0">
              <a:buNone/>
            </a:pPr>
            <a:r>
              <a:rPr lang="en-US" sz="2200" b="1" dirty="0">
                <a:solidFill>
                  <a:srgbClr val="C2693F"/>
                </a:solidFill>
                <a:latin typeface="Cambria" pitchFamily="34" charset="0"/>
                <a:ea typeface="Cambria" pitchFamily="34" charset="-122"/>
                <a:cs typeface="Cambria" pitchFamily="34" charset="-120"/>
              </a:rPr>
              <a:t>ASL-3</a:t>
            </a:r>
            <a:endParaRPr lang="en-US" sz="2200" dirty="0"/>
          </a:p>
        </p:txBody>
      </p:sp>
      <p:sp>
        <p:nvSpPr>
          <p:cNvPr id="12" name="Text 10"/>
          <p:cNvSpPr/>
          <p:nvPr/>
        </p:nvSpPr>
        <p:spPr>
          <a:xfrm>
            <a:off x="4398264" y="2624328"/>
            <a:ext cx="2907792" cy="292608"/>
          </a:xfrm>
          <a:prstGeom prst="rect">
            <a:avLst/>
          </a:prstGeom>
          <a:noFill/>
          <a:ln/>
        </p:spPr>
        <p:txBody>
          <a:bodyPr wrap="square" lIns="0" tIns="0" rIns="0" bIns="0" rtlCol="0" anchor="ctr"/>
          <a:lstStyle/>
          <a:p>
            <a:pPr indent="0" marL="0">
              <a:buNone/>
            </a:pPr>
            <a:r>
              <a:rPr lang="en-US" sz="1100" i="1" dirty="0">
                <a:solidFill>
                  <a:srgbClr val="C9C5BC"/>
                </a:solidFill>
                <a:latin typeface="Calibri" pitchFamily="34" charset="0"/>
                <a:ea typeface="Calibri" pitchFamily="34" charset="-122"/>
                <a:cs typeface="Calibri" pitchFamily="34" charset="-120"/>
              </a:rPr>
              <a:t>提升标准</a:t>
            </a:r>
            <a:endParaRPr lang="en-US" sz="1100" dirty="0"/>
          </a:p>
        </p:txBody>
      </p:sp>
      <p:sp>
        <p:nvSpPr>
          <p:cNvPr id="13" name="Text 11"/>
          <p:cNvSpPr/>
          <p:nvPr/>
        </p:nvSpPr>
        <p:spPr>
          <a:xfrm>
            <a:off x="4398264" y="2971800"/>
            <a:ext cx="2907792" cy="822960"/>
          </a:xfrm>
          <a:prstGeom prst="rect">
            <a:avLst/>
          </a:prstGeom>
          <a:noFill/>
          <a:ln/>
        </p:spPr>
        <p:txBody>
          <a:bodyPr wrap="square" lIns="0" tIns="0" rIns="0" bIns="0" rtlCol="0" anchor="ctr"/>
          <a:lstStyle/>
          <a:p>
            <a:pPr indent="0" marL="0">
              <a:lnSpc>
                <a:spcPct val="122000"/>
              </a:lnSpc>
              <a:buNone/>
            </a:pPr>
            <a:r>
              <a:rPr lang="en-US" sz="1050" dirty="0">
                <a:solidFill>
                  <a:srgbClr val="D8D4CB"/>
                </a:solidFill>
                <a:latin typeface="Calibri" pitchFamily="34" charset="0"/>
                <a:ea typeface="Calibri" pitchFamily="34" charset="-122"/>
                <a:cs typeface="Calibri" pitchFamily="34" charset="-120"/>
              </a:rPr>
              <a:t>应对复杂非国家级攻击者；触发增强版部署与安全管控（当前 Claude Opus 系列适用）</a:t>
            </a:r>
            <a:endParaRPr lang="en-US" sz="1050" dirty="0"/>
          </a:p>
        </p:txBody>
      </p:sp>
      <p:sp>
        <p:nvSpPr>
          <p:cNvPr id="14" name="Shape 12"/>
          <p:cNvSpPr/>
          <p:nvPr/>
        </p:nvSpPr>
        <p:spPr>
          <a:xfrm>
            <a:off x="7744968" y="1965960"/>
            <a:ext cx="3456432" cy="1920240"/>
          </a:xfrm>
          <a:prstGeom prst="roundRect">
            <a:avLst>
              <a:gd name="adj" fmla="val 4762"/>
            </a:avLst>
          </a:prstGeom>
          <a:solidFill>
            <a:srgbClr val="242422"/>
          </a:solidFill>
          <a:ln w="9525">
            <a:solidFill>
              <a:srgbClr val="3A3935"/>
            </a:solidFill>
            <a:prstDash val="solid"/>
          </a:ln>
        </p:spPr>
      </p:sp>
      <p:sp>
        <p:nvSpPr>
          <p:cNvPr id="15" name="Text 13"/>
          <p:cNvSpPr/>
          <p:nvPr/>
        </p:nvSpPr>
        <p:spPr>
          <a:xfrm>
            <a:off x="8019288" y="2167128"/>
            <a:ext cx="2907792" cy="457200"/>
          </a:xfrm>
          <a:prstGeom prst="rect">
            <a:avLst/>
          </a:prstGeom>
          <a:noFill/>
          <a:ln/>
        </p:spPr>
        <p:txBody>
          <a:bodyPr wrap="square" lIns="0" tIns="0" rIns="0" bIns="0" rtlCol="0" anchor="ctr"/>
          <a:lstStyle/>
          <a:p>
            <a:pPr indent="0" marL="0">
              <a:buNone/>
            </a:pPr>
            <a:r>
              <a:rPr lang="en-US" sz="2200" b="1" dirty="0">
                <a:solidFill>
                  <a:srgbClr val="C2693F"/>
                </a:solidFill>
                <a:latin typeface="Cambria" pitchFamily="34" charset="0"/>
                <a:ea typeface="Cambria" pitchFamily="34" charset="-122"/>
                <a:cs typeface="Cambria" pitchFamily="34" charset="-120"/>
              </a:rPr>
              <a:t>ASL-4</a:t>
            </a:r>
            <a:endParaRPr lang="en-US" sz="2200" dirty="0"/>
          </a:p>
        </p:txBody>
      </p:sp>
      <p:sp>
        <p:nvSpPr>
          <p:cNvPr id="16" name="Text 14"/>
          <p:cNvSpPr/>
          <p:nvPr/>
        </p:nvSpPr>
        <p:spPr>
          <a:xfrm>
            <a:off x="8019288" y="2624328"/>
            <a:ext cx="2907792" cy="292608"/>
          </a:xfrm>
          <a:prstGeom prst="rect">
            <a:avLst/>
          </a:prstGeom>
          <a:noFill/>
          <a:ln/>
        </p:spPr>
        <p:txBody>
          <a:bodyPr wrap="square" lIns="0" tIns="0" rIns="0" bIns="0" rtlCol="0" anchor="ctr"/>
          <a:lstStyle/>
          <a:p>
            <a:pPr indent="0" marL="0">
              <a:buNone/>
            </a:pPr>
            <a:r>
              <a:rPr lang="en-US" sz="1100" i="1" dirty="0">
                <a:solidFill>
                  <a:srgbClr val="C9C5BC"/>
                </a:solidFill>
                <a:latin typeface="Calibri" pitchFamily="34" charset="0"/>
                <a:ea typeface="Calibri" pitchFamily="34" charset="-122"/>
                <a:cs typeface="Calibri" pitchFamily="34" charset="-120"/>
              </a:rPr>
              <a:t>前瞻标准</a:t>
            </a:r>
            <a:endParaRPr lang="en-US" sz="1100" dirty="0"/>
          </a:p>
        </p:txBody>
      </p:sp>
      <p:sp>
        <p:nvSpPr>
          <p:cNvPr id="17" name="Text 15"/>
          <p:cNvSpPr/>
          <p:nvPr/>
        </p:nvSpPr>
        <p:spPr>
          <a:xfrm>
            <a:off x="8019288" y="2971800"/>
            <a:ext cx="2907792" cy="822960"/>
          </a:xfrm>
          <a:prstGeom prst="rect">
            <a:avLst/>
          </a:prstGeom>
          <a:noFill/>
          <a:ln/>
        </p:spPr>
        <p:txBody>
          <a:bodyPr wrap="square" lIns="0" tIns="0" rIns="0" bIns="0" rtlCol="0" anchor="ctr"/>
          <a:lstStyle/>
          <a:p>
            <a:pPr indent="0" marL="0">
              <a:lnSpc>
                <a:spcPct val="122000"/>
              </a:lnSpc>
              <a:buNone/>
            </a:pPr>
            <a:r>
              <a:rPr lang="en-US" sz="1050" dirty="0">
                <a:solidFill>
                  <a:srgbClr val="D8D4CB"/>
                </a:solidFill>
                <a:latin typeface="Calibri" pitchFamily="34" charset="0"/>
                <a:ea typeface="Calibri" pitchFamily="34" charset="-122"/>
                <a:cs typeface="Calibri" pitchFamily="34" charset="-120"/>
              </a:rPr>
              <a:t>面向更高级威胁，包括国家级行为体；标准与门槛仍在持续制定中</a:t>
            </a:r>
            <a:endParaRPr lang="en-US" sz="1050" dirty="0"/>
          </a:p>
        </p:txBody>
      </p:sp>
      <p:sp>
        <p:nvSpPr>
          <p:cNvPr id="18" name="Shape 16"/>
          <p:cNvSpPr/>
          <p:nvPr/>
        </p:nvSpPr>
        <p:spPr>
          <a:xfrm>
            <a:off x="502920" y="4306824"/>
            <a:ext cx="91440" cy="91440"/>
          </a:xfrm>
          <a:prstGeom prst="ellipse">
            <a:avLst/>
          </a:prstGeom>
          <a:solidFill>
            <a:srgbClr val="C2693F"/>
          </a:solidFill>
          <a:ln/>
        </p:spPr>
      </p:sp>
      <p:sp>
        <p:nvSpPr>
          <p:cNvPr id="19" name="Text 17"/>
          <p:cNvSpPr/>
          <p:nvPr/>
        </p:nvSpPr>
        <p:spPr>
          <a:xfrm>
            <a:off x="731520" y="4187952"/>
            <a:ext cx="9875520" cy="310896"/>
          </a:xfrm>
          <a:prstGeom prst="rect">
            <a:avLst/>
          </a:prstGeom>
          <a:noFill/>
          <a:ln/>
        </p:spPr>
        <p:txBody>
          <a:bodyPr wrap="square" lIns="0" tIns="0" rIns="0" bIns="0" rtlCol="0" anchor="ctr"/>
          <a:lstStyle/>
          <a:p>
            <a:pPr indent="0" marL="0">
              <a:buNone/>
            </a:pPr>
            <a:r>
              <a:rPr lang="en-US" sz="1150" dirty="0">
                <a:solidFill>
                  <a:srgbClr val="D8D4CB"/>
                </a:solidFill>
                <a:latin typeface="Calibri" pitchFamily="34" charset="0"/>
                <a:ea typeface="Calibri" pitchFamily="34" charset="-122"/>
                <a:cs typeface="Calibri" pitchFamily="34" charset="-120"/>
              </a:rPr>
              <a:t>能力阈值评估：每个前沿模型发布前测定是否触及分级红线</a:t>
            </a:r>
            <a:endParaRPr lang="en-US" sz="1150" dirty="0"/>
          </a:p>
        </p:txBody>
      </p:sp>
      <p:sp>
        <p:nvSpPr>
          <p:cNvPr id="20" name="Shape 18"/>
          <p:cNvSpPr/>
          <p:nvPr/>
        </p:nvSpPr>
        <p:spPr>
          <a:xfrm>
            <a:off x="502920" y="4690872"/>
            <a:ext cx="91440" cy="91440"/>
          </a:xfrm>
          <a:prstGeom prst="ellipse">
            <a:avLst/>
          </a:prstGeom>
          <a:solidFill>
            <a:srgbClr val="C2693F"/>
          </a:solidFill>
          <a:ln/>
        </p:spPr>
      </p:sp>
      <p:sp>
        <p:nvSpPr>
          <p:cNvPr id="21" name="Text 19"/>
          <p:cNvSpPr/>
          <p:nvPr/>
        </p:nvSpPr>
        <p:spPr>
          <a:xfrm>
            <a:off x="731520" y="4572000"/>
            <a:ext cx="9875520" cy="310896"/>
          </a:xfrm>
          <a:prstGeom prst="rect">
            <a:avLst/>
          </a:prstGeom>
          <a:noFill/>
          <a:ln/>
        </p:spPr>
        <p:txBody>
          <a:bodyPr wrap="square" lIns="0" tIns="0" rIns="0" bIns="0" rtlCol="0" anchor="ctr"/>
          <a:lstStyle/>
          <a:p>
            <a:pPr indent="0" marL="0">
              <a:buNone/>
            </a:pPr>
            <a:r>
              <a:rPr lang="en-US" sz="1150" dirty="0">
                <a:solidFill>
                  <a:srgbClr val="D8D4CB"/>
                </a:solidFill>
                <a:latin typeface="Calibri" pitchFamily="34" charset="0"/>
                <a:ea typeface="Calibri" pitchFamily="34" charset="-122"/>
                <a:cs typeface="Calibri" pitchFamily="34" charset="-120"/>
              </a:rPr>
              <a:t>风险报告：v3.0起发布前沿安全路线图与可公开审查的风险评估文档</a:t>
            </a:r>
            <a:endParaRPr lang="en-US" sz="1150" dirty="0"/>
          </a:p>
        </p:txBody>
      </p:sp>
      <p:sp>
        <p:nvSpPr>
          <p:cNvPr id="22" name="Shape 20"/>
          <p:cNvSpPr/>
          <p:nvPr/>
        </p:nvSpPr>
        <p:spPr>
          <a:xfrm>
            <a:off x="502920" y="5074920"/>
            <a:ext cx="91440" cy="91440"/>
          </a:xfrm>
          <a:prstGeom prst="ellipse">
            <a:avLst/>
          </a:prstGeom>
          <a:solidFill>
            <a:srgbClr val="C2693F"/>
          </a:solidFill>
          <a:ln/>
        </p:spPr>
      </p:sp>
      <p:sp>
        <p:nvSpPr>
          <p:cNvPr id="23" name="Text 21"/>
          <p:cNvSpPr/>
          <p:nvPr/>
        </p:nvSpPr>
        <p:spPr>
          <a:xfrm>
            <a:off x="731520" y="4956048"/>
            <a:ext cx="9875520" cy="310896"/>
          </a:xfrm>
          <a:prstGeom prst="rect">
            <a:avLst/>
          </a:prstGeom>
          <a:noFill/>
          <a:ln/>
        </p:spPr>
        <p:txBody>
          <a:bodyPr wrap="square" lIns="0" tIns="0" rIns="0" bIns="0" rtlCol="0" anchor="ctr"/>
          <a:lstStyle/>
          <a:p>
            <a:pPr indent="0" marL="0">
              <a:buNone/>
            </a:pPr>
            <a:r>
              <a:rPr lang="en-US" sz="1150" dirty="0">
                <a:solidFill>
                  <a:srgbClr val="D8D4CB"/>
                </a:solidFill>
                <a:latin typeface="Calibri" pitchFamily="34" charset="0"/>
                <a:ea typeface="Calibri" pitchFamily="34" charset="-122"/>
                <a:cs typeface="Calibri" pitchFamily="34" charset="-120"/>
              </a:rPr>
              <a:t>外部审查：引入第三方对风险评估的可信度进行复核</a:t>
            </a:r>
            <a:endParaRPr lang="en-US" sz="1150" dirty="0"/>
          </a:p>
        </p:txBody>
      </p:sp>
      <p:sp>
        <p:nvSpPr>
          <p:cNvPr id="24" name="Shape 22"/>
          <p:cNvSpPr/>
          <p:nvPr/>
        </p:nvSpPr>
        <p:spPr>
          <a:xfrm>
            <a:off x="502920" y="5532120"/>
            <a:ext cx="10607040" cy="594360"/>
          </a:xfrm>
          <a:prstGeom prst="rect">
            <a:avLst/>
          </a:prstGeom>
          <a:solidFill>
            <a:srgbClr val="242422"/>
          </a:solidFill>
          <a:ln/>
        </p:spPr>
      </p:sp>
      <p:sp>
        <p:nvSpPr>
          <p:cNvPr id="25" name="Text 23"/>
          <p:cNvSpPr/>
          <p:nvPr/>
        </p:nvSpPr>
        <p:spPr>
          <a:xfrm>
            <a:off x="777240" y="5532120"/>
            <a:ext cx="10058400" cy="594360"/>
          </a:xfrm>
          <a:prstGeom prst="rect">
            <a:avLst/>
          </a:prstGeom>
          <a:noFill/>
          <a:ln/>
        </p:spPr>
        <p:txBody>
          <a:bodyPr wrap="square" lIns="0" tIns="0" rIns="0" bIns="0" rtlCol="0" anchor="ctr"/>
          <a:lstStyle/>
          <a:p>
            <a:pPr indent="0" marL="0">
              <a:buNone/>
            </a:pPr>
            <a:r>
              <a:rPr lang="en-US" sz="1100" b="1" dirty="0">
                <a:solidFill>
                  <a:srgbClr val="C2693F"/>
                </a:solidFill>
                <a:latin typeface="Calibri" pitchFamily="34" charset="0"/>
                <a:ea typeface="Calibri" pitchFamily="34" charset="-122"/>
                <a:cs typeface="Calibri" pitchFamily="34" charset="-120"/>
              </a:rPr>
              <a:t>v1.0 </a:t>
            </a:r>
            <a:pPr indent="0" marL="0">
              <a:buNone/>
            </a:pPr>
            <a:r>
              <a:rPr lang="en-US" sz="1100" dirty="0">
                <a:solidFill>
                  <a:srgbClr val="B8B2A6"/>
                </a:solidFill>
                <a:latin typeface="Calibri" pitchFamily="34" charset="0"/>
                <a:ea typeface="Calibri" pitchFamily="34" charset="-122"/>
                <a:cs typeface="Calibri" pitchFamily="34" charset="-120"/>
              </a:rPr>
              <a:t>2023.09 首次发布   </a:t>
            </a:r>
            <a:pPr indent="0" marL="0">
              <a:buNone/>
            </a:pPr>
            <a:r>
              <a:rPr lang="en-US" sz="1100" b="1" dirty="0">
                <a:solidFill>
                  <a:srgbClr val="C2693F"/>
                </a:solidFill>
                <a:latin typeface="Calibri" pitchFamily="34" charset="0"/>
                <a:ea typeface="Calibri" pitchFamily="34" charset="-122"/>
                <a:cs typeface="Calibri" pitchFamily="34" charset="-120"/>
              </a:rPr>
              <a:t>→  v2.0–2.2 </a:t>
            </a:r>
            <a:pPr indent="0" marL="0">
              <a:buNone/>
            </a:pPr>
            <a:r>
              <a:rPr lang="en-US" sz="1100" dirty="0">
                <a:solidFill>
                  <a:srgbClr val="B8B2A6"/>
                </a:solidFill>
                <a:latin typeface="Calibri" pitchFamily="34" charset="0"/>
                <a:ea typeface="Calibri" pitchFamily="34" charset="-122"/>
                <a:cs typeface="Calibri" pitchFamily="34" charset="-120"/>
              </a:rPr>
              <a:t>2024–2025 引入ASL标准   </a:t>
            </a:r>
            <a:pPr indent="0" marL="0">
              <a:buNone/>
            </a:pPr>
            <a:r>
              <a:rPr lang="en-US" sz="1100" b="1" dirty="0">
                <a:solidFill>
                  <a:srgbClr val="C2693F"/>
                </a:solidFill>
                <a:latin typeface="Calibri" pitchFamily="34" charset="0"/>
                <a:ea typeface="Calibri" pitchFamily="34" charset="-122"/>
                <a:cs typeface="Calibri" pitchFamily="34" charset="-120"/>
              </a:rPr>
              <a:t>→  v3.0 </a:t>
            </a:r>
            <a:pPr indent="0" marL="0">
              <a:buNone/>
            </a:pPr>
            <a:r>
              <a:rPr lang="en-US" sz="1100" dirty="0">
                <a:solidFill>
                  <a:srgbClr val="B8B2A6"/>
                </a:solidFill>
                <a:latin typeface="Calibri" pitchFamily="34" charset="0"/>
                <a:ea typeface="Calibri" pitchFamily="34" charset="-122"/>
                <a:cs typeface="Calibri" pitchFamily="34" charset="-120"/>
              </a:rPr>
              <a:t>2026.02 全面重写   </a:t>
            </a:r>
            <a:pPr indent="0" marL="0">
              <a:buNone/>
            </a:pPr>
            <a:r>
              <a:rPr lang="en-US" sz="1100" b="1" dirty="0">
                <a:solidFill>
                  <a:srgbClr val="C2693F"/>
                </a:solidFill>
                <a:latin typeface="Calibri" pitchFamily="34" charset="0"/>
                <a:ea typeface="Calibri" pitchFamily="34" charset="-122"/>
                <a:cs typeface="Calibri" pitchFamily="34" charset="-120"/>
              </a:rPr>
              <a:t>→  v3.1 </a:t>
            </a:r>
            <a:pPr indent="0" marL="0">
              <a:buNone/>
            </a:pPr>
            <a:r>
              <a:rPr lang="en-US" sz="1100" dirty="0">
                <a:solidFill>
                  <a:srgbClr val="B8B2A6"/>
                </a:solidFill>
                <a:latin typeface="Calibri" pitchFamily="34" charset="0"/>
                <a:ea typeface="Calibri" pitchFamily="34" charset="-122"/>
                <a:cs typeface="Calibri" pitchFamily="34" charset="-120"/>
              </a:rPr>
              <a:t>2026.04 现行版本</a:t>
            </a:r>
            <a:endParaRPr lang="en-US" sz="1100" dirty="0"/>
          </a:p>
        </p:txBody>
      </p:sp>
      <p:sp>
        <p:nvSpPr>
          <p:cNvPr id="26" name="Text 24"/>
          <p:cNvSpPr/>
          <p:nvPr/>
        </p:nvSpPr>
        <p:spPr>
          <a:xfrm>
            <a:off x="457200" y="6547104"/>
            <a:ext cx="5486400" cy="256032"/>
          </a:xfrm>
          <a:prstGeom prst="rect">
            <a:avLst/>
          </a:prstGeom>
          <a:noFill/>
          <a:ln/>
        </p:spPr>
        <p:txBody>
          <a:bodyPr wrap="square" lIns="0" tIns="0" rIns="0" bIns="0" rtlCol="0" anchor="ctr"/>
          <a:lstStyle/>
          <a:p>
            <a:pPr algn="l" indent="0" marL="0">
              <a:buNone/>
            </a:pPr>
            <a:r>
              <a:rPr lang="en-US" sz="900" dirty="0">
                <a:solidFill>
                  <a:srgbClr val="6B6459"/>
                </a:solidFill>
                <a:latin typeface="Calibri" pitchFamily="34" charset="0"/>
                <a:ea typeface="Calibri" pitchFamily="34" charset="-122"/>
                <a:cs typeface="Calibri" pitchFamily="34" charset="-120"/>
              </a:rPr>
              <a:t>Anthropic 安全治理 · RSP / ASL</a:t>
            </a:r>
            <a:endParaRPr lang="en-US" sz="900" dirty="0"/>
          </a:p>
        </p:txBody>
      </p:sp>
      <p:sp>
        <p:nvSpPr>
          <p:cNvPr id="27" name="Text 25"/>
          <p:cNvSpPr/>
          <p:nvPr/>
        </p:nvSpPr>
        <p:spPr>
          <a:xfrm>
            <a:off x="11338560" y="6547104"/>
            <a:ext cx="411480" cy="256032"/>
          </a:xfrm>
          <a:prstGeom prst="rect">
            <a:avLst/>
          </a:prstGeom>
          <a:noFill/>
          <a:ln/>
        </p:spPr>
        <p:txBody>
          <a:bodyPr wrap="square" lIns="0" tIns="0" rIns="0" bIns="0" rtlCol="0" anchor="ctr"/>
          <a:lstStyle/>
          <a:p>
            <a:pPr algn="r" indent="0" marL="0">
              <a:buNone/>
            </a:pPr>
            <a:r>
              <a:rPr lang="en-US" sz="900" dirty="0">
                <a:solidFill>
                  <a:srgbClr val="6B645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4"/>
        </a:solidFill>
      </p:bgPr>
    </p:bg>
    <p:spTree>
      <p:nvGrpSpPr>
        <p:cNvPr id="1" name=""/>
        <p:cNvGrpSpPr/>
        <p:nvPr/>
      </p:nvGrpSpPr>
      <p:grpSpPr>
        <a:xfrm>
          <a:off x="0" y="0"/>
          <a:ext cx="0" cy="0"/>
          <a:chOff x="0" y="0"/>
          <a:chExt cx="0" cy="0"/>
        </a:xfrm>
      </p:grpSpPr>
      <p:sp>
        <p:nvSpPr>
          <p:cNvPr id="2" name="Shape 0"/>
          <p:cNvSpPr/>
          <p:nvPr/>
        </p:nvSpPr>
        <p:spPr>
          <a:xfrm>
            <a:off x="502920" y="411480"/>
            <a:ext cx="1737360" cy="310896"/>
          </a:xfrm>
          <a:prstGeom prst="roundRect">
            <a:avLst>
              <a:gd name="adj" fmla="val 20588"/>
            </a:avLst>
          </a:prstGeom>
          <a:solidFill>
            <a:srgbClr val="C2693F"/>
          </a:solidFill>
          <a:ln/>
        </p:spPr>
      </p:sp>
      <p:sp>
        <p:nvSpPr>
          <p:cNvPr id="3" name="Text 1"/>
          <p:cNvSpPr/>
          <p:nvPr/>
        </p:nvSpPr>
        <p:spPr>
          <a:xfrm>
            <a:off x="502920" y="411480"/>
            <a:ext cx="173736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能力 02</a:t>
            </a:r>
            <a:endParaRPr lang="en-US" sz="1100" dirty="0"/>
          </a:p>
        </p:txBody>
      </p:sp>
      <p:sp>
        <p:nvSpPr>
          <p:cNvPr id="4" name="Text 2"/>
          <p:cNvSpPr/>
          <p:nvPr/>
        </p:nvSpPr>
        <p:spPr>
          <a:xfrm>
            <a:off x="502920" y="841248"/>
            <a:ext cx="10332720" cy="548640"/>
          </a:xfrm>
          <a:prstGeom prst="rect">
            <a:avLst/>
          </a:prstGeom>
          <a:noFill/>
          <a:ln/>
        </p:spPr>
        <p:txBody>
          <a:bodyPr wrap="square" lIns="0" tIns="0" rIns="0" bIns="0" rtlCol="0" anchor="ctr"/>
          <a:lstStyle/>
          <a:p>
            <a:pPr indent="0" marL="0">
              <a:buNone/>
            </a:pPr>
            <a:r>
              <a:rPr lang="en-US" sz="2500" b="1" dirty="0">
                <a:solidFill>
                  <a:srgbClr val="262420"/>
                </a:solidFill>
                <a:latin typeface="Cambria" pitchFamily="34" charset="0"/>
                <a:ea typeface="Cambria" pitchFamily="34" charset="-122"/>
                <a:cs typeface="Cambria" pitchFamily="34" charset="-120"/>
              </a:rPr>
              <a:t>ASL-3 安全标准：保护模型权重不被窃取</a:t>
            </a:r>
            <a:endParaRPr lang="en-US" sz="2500" dirty="0"/>
          </a:p>
        </p:txBody>
      </p:sp>
      <p:sp>
        <p:nvSpPr>
          <p:cNvPr id="5" name="Text 3"/>
          <p:cNvSpPr/>
          <p:nvPr/>
        </p:nvSpPr>
        <p:spPr>
          <a:xfrm>
            <a:off x="502920" y="1371600"/>
            <a:ext cx="10332720" cy="365760"/>
          </a:xfrm>
          <a:prstGeom prst="rect">
            <a:avLst/>
          </a:prstGeom>
          <a:noFill/>
          <a:ln/>
        </p:spPr>
        <p:txBody>
          <a:bodyPr wrap="square" lIns="0" tIns="0" rIns="0" bIns="0" rtlCol="0" anchor="ctr"/>
          <a:lstStyle/>
          <a:p>
            <a:pPr indent="0" marL="0">
              <a:buNone/>
            </a:pPr>
            <a:r>
              <a:rPr lang="en-US" sz="1250" dirty="0">
                <a:solidFill>
                  <a:srgbClr val="6B6459"/>
                </a:solidFill>
                <a:latin typeface="Calibri" pitchFamily="34" charset="0"/>
                <a:ea typeface="Calibri" pitchFamily="34" charset="-122"/>
                <a:cs typeface="Calibri" pitchFamily="34" charset="-120"/>
              </a:rPr>
              <a:t>2025年5月随 Claude Opus 4 首次激活，作为预防性、阶段性措施应对复杂非国家级攻击者</a:t>
            </a:r>
            <a:endParaRPr lang="en-US" sz="1250" dirty="0"/>
          </a:p>
        </p:txBody>
      </p:sp>
      <p:sp>
        <p:nvSpPr>
          <p:cNvPr id="6" name="Shape 4"/>
          <p:cNvSpPr/>
          <p:nvPr/>
        </p:nvSpPr>
        <p:spPr>
          <a:xfrm>
            <a:off x="502920" y="1691640"/>
            <a:ext cx="5943600" cy="4297680"/>
          </a:xfrm>
          <a:prstGeom prst="roundRect">
            <a:avLst>
              <a:gd name="adj" fmla="val 2128"/>
            </a:avLst>
          </a:prstGeom>
          <a:solidFill>
            <a:srgbClr val="FFFFFF"/>
          </a:solidFill>
          <a:ln w="12700">
            <a:solidFill>
              <a:srgbClr val="E4DCD0"/>
            </a:solidFill>
            <a:prstDash val="solid"/>
          </a:ln>
          <a:effectLst>
            <a:outerShdw sx="100000" sy="100000" kx="0" ky="0" algn="bl" rotWithShape="0" blurRad="101600" dist="38100" dir="5400000">
              <a:srgbClr val="000000">
                <a:alpha val="12000"/>
              </a:srgbClr>
            </a:outerShdw>
          </a:effectLst>
        </p:spPr>
      </p:sp>
      <p:pic>
        <p:nvPicPr>
          <p:cNvPr id="7" name="Image 0" descr="/home/claude/anthropic_safety_deck/icons/key_accent.png">    </p:cNvPr>
          <p:cNvPicPr>
            <a:picLocks noChangeAspect="1"/>
          </p:cNvPicPr>
          <p:nvPr/>
        </p:nvPicPr>
        <p:blipFill>
          <a:blip r:embed="rId1"/>
          <a:stretch>
            <a:fillRect/>
          </a:stretch>
        </p:blipFill>
        <p:spPr>
          <a:xfrm>
            <a:off x="822960" y="1920240"/>
            <a:ext cx="365760" cy="365760"/>
          </a:xfrm>
          <a:prstGeom prst="rect">
            <a:avLst/>
          </a:prstGeom>
        </p:spPr>
      </p:pic>
      <p:sp>
        <p:nvSpPr>
          <p:cNvPr id="8" name="Text 5"/>
          <p:cNvSpPr/>
          <p:nvPr/>
        </p:nvSpPr>
        <p:spPr>
          <a:xfrm>
            <a:off x="1298448" y="1920240"/>
            <a:ext cx="4937760" cy="411480"/>
          </a:xfrm>
          <a:prstGeom prst="rect">
            <a:avLst/>
          </a:prstGeom>
          <a:noFill/>
          <a:ln/>
        </p:spPr>
        <p:txBody>
          <a:bodyPr wrap="square" lIns="0" tIns="0" rIns="0" bIns="0" rtlCol="0" anchor="ctr"/>
          <a:lstStyle/>
          <a:p>
            <a:pPr indent="0" marL="0">
              <a:buNone/>
            </a:pPr>
            <a:r>
              <a:rPr lang="en-US" sz="1600" b="1" dirty="0">
                <a:solidFill>
                  <a:srgbClr val="262420"/>
                </a:solidFill>
                <a:latin typeface="Cambria" pitchFamily="34" charset="0"/>
                <a:ea typeface="Cambria" pitchFamily="34" charset="-122"/>
                <a:cs typeface="Cambria" pitchFamily="34" charset="-120"/>
              </a:rPr>
              <a:t>安全标准覆盖的核心要素</a:t>
            </a:r>
            <a:endParaRPr lang="en-US" sz="1600" dirty="0"/>
          </a:p>
        </p:txBody>
      </p:sp>
      <p:sp>
        <p:nvSpPr>
          <p:cNvPr id="9" name="Text 6"/>
          <p:cNvSpPr/>
          <p:nvPr/>
        </p:nvSpPr>
        <p:spPr>
          <a:xfrm>
            <a:off x="822960" y="2514600"/>
            <a:ext cx="5303520" cy="274320"/>
          </a:xfrm>
          <a:prstGeom prst="rect">
            <a:avLst/>
          </a:prstGeom>
          <a:noFill/>
          <a:ln/>
        </p:spPr>
        <p:txBody>
          <a:bodyPr wrap="square" lIns="0" tIns="0" rIns="0" bIns="0" rtlCol="0" anchor="ctr"/>
          <a:lstStyle/>
          <a:p>
            <a:pPr indent="0" marL="0">
              <a:buNone/>
            </a:pPr>
            <a:r>
              <a:rPr lang="en-US" sz="1250" b="1" dirty="0">
                <a:solidFill>
                  <a:srgbClr val="9C4F2C"/>
                </a:solidFill>
                <a:latin typeface="Calibri" pitchFamily="34" charset="0"/>
                <a:ea typeface="Calibri" pitchFamily="34" charset="-122"/>
                <a:cs typeface="Calibri" pitchFamily="34" charset="-120"/>
              </a:rPr>
              <a:t>出站流量管控</a:t>
            </a:r>
            <a:endParaRPr lang="en-US" sz="1250" dirty="0"/>
          </a:p>
        </p:txBody>
      </p:sp>
      <p:sp>
        <p:nvSpPr>
          <p:cNvPr id="10" name="Text 7"/>
          <p:cNvSpPr/>
          <p:nvPr/>
        </p:nvSpPr>
        <p:spPr>
          <a:xfrm>
            <a:off x="822960" y="2807208"/>
            <a:ext cx="5303520" cy="502920"/>
          </a:xfrm>
          <a:prstGeom prst="rect">
            <a:avLst/>
          </a:prstGeom>
          <a:noFill/>
          <a:ln/>
        </p:spPr>
        <p:txBody>
          <a:bodyPr wrap="square" lIns="0" tIns="0" rIns="0" bIns="0" rtlCol="0" anchor="ctr"/>
          <a:lstStyle/>
          <a:p>
            <a:pPr indent="0" marL="0">
              <a:lnSpc>
                <a:spcPct val="118000"/>
              </a:lnSpc>
              <a:buNone/>
            </a:pPr>
            <a:r>
              <a:rPr lang="en-US" sz="1050" dirty="0">
                <a:solidFill>
                  <a:srgbClr val="6B6459"/>
                </a:solidFill>
                <a:latin typeface="Calibri" pitchFamily="34" charset="0"/>
                <a:ea typeface="Calibri" pitchFamily="34" charset="-122"/>
                <a:cs typeface="Calibri" pitchFamily="34" charset="-120"/>
              </a:rPr>
              <a:t>限制异常出站网络流量，检测并阻断模型权重的非法外泄</a:t>
            </a:r>
            <a:endParaRPr lang="en-US" sz="1050" dirty="0"/>
          </a:p>
        </p:txBody>
      </p:sp>
      <p:sp>
        <p:nvSpPr>
          <p:cNvPr id="11" name="Text 8"/>
          <p:cNvSpPr/>
          <p:nvPr/>
        </p:nvSpPr>
        <p:spPr>
          <a:xfrm>
            <a:off x="822960" y="3355848"/>
            <a:ext cx="5303520" cy="274320"/>
          </a:xfrm>
          <a:prstGeom prst="rect">
            <a:avLst/>
          </a:prstGeom>
          <a:noFill/>
          <a:ln/>
        </p:spPr>
        <p:txBody>
          <a:bodyPr wrap="square" lIns="0" tIns="0" rIns="0" bIns="0" rtlCol="0" anchor="ctr"/>
          <a:lstStyle/>
          <a:p>
            <a:pPr indent="0" marL="0">
              <a:buNone/>
            </a:pPr>
            <a:r>
              <a:rPr lang="en-US" sz="1250" b="1" dirty="0">
                <a:solidFill>
                  <a:srgbClr val="9C4F2C"/>
                </a:solidFill>
                <a:latin typeface="Calibri" pitchFamily="34" charset="0"/>
                <a:ea typeface="Calibri" pitchFamily="34" charset="-122"/>
                <a:cs typeface="Calibri" pitchFamily="34" charset="-120"/>
              </a:rPr>
              <a:t>威胁建模覆盖六大攻击路径</a:t>
            </a:r>
            <a:endParaRPr lang="en-US" sz="1250" dirty="0"/>
          </a:p>
        </p:txBody>
      </p:sp>
      <p:sp>
        <p:nvSpPr>
          <p:cNvPr id="12" name="Text 9"/>
          <p:cNvSpPr/>
          <p:nvPr/>
        </p:nvSpPr>
        <p:spPr>
          <a:xfrm>
            <a:off x="822960" y="3648456"/>
            <a:ext cx="5303520" cy="502920"/>
          </a:xfrm>
          <a:prstGeom prst="rect">
            <a:avLst/>
          </a:prstGeom>
          <a:noFill/>
          <a:ln/>
        </p:spPr>
        <p:txBody>
          <a:bodyPr wrap="square" lIns="0" tIns="0" rIns="0" bIns="0" rtlCol="0" anchor="ctr"/>
          <a:lstStyle/>
          <a:p>
            <a:pPr indent="0" marL="0">
              <a:lnSpc>
                <a:spcPct val="118000"/>
              </a:lnSpc>
              <a:buNone/>
            </a:pPr>
            <a:r>
              <a:rPr lang="en-US" sz="1050" dirty="0">
                <a:solidFill>
                  <a:srgbClr val="6B6459"/>
                </a:solidFill>
                <a:latin typeface="Calibri" pitchFamily="34" charset="0"/>
                <a:ea typeface="Calibri" pitchFamily="34" charset="-122"/>
                <a:cs typeface="Calibri" pitchFamily="34" charset="-120"/>
              </a:rPr>
              <a:t>涵盖初始入侵、横向移动/权限提升、目标获取三个阶段</a:t>
            </a:r>
            <a:endParaRPr lang="en-US" sz="1050" dirty="0"/>
          </a:p>
        </p:txBody>
      </p:sp>
      <p:sp>
        <p:nvSpPr>
          <p:cNvPr id="13" name="Text 10"/>
          <p:cNvSpPr/>
          <p:nvPr/>
        </p:nvSpPr>
        <p:spPr>
          <a:xfrm>
            <a:off x="822960" y="4197096"/>
            <a:ext cx="5303520" cy="274320"/>
          </a:xfrm>
          <a:prstGeom prst="rect">
            <a:avLst/>
          </a:prstGeom>
          <a:noFill/>
          <a:ln/>
        </p:spPr>
        <p:txBody>
          <a:bodyPr wrap="square" lIns="0" tIns="0" rIns="0" bIns="0" rtlCol="0" anchor="ctr"/>
          <a:lstStyle/>
          <a:p>
            <a:pPr indent="0" marL="0">
              <a:buNone/>
            </a:pPr>
            <a:r>
              <a:rPr lang="en-US" sz="1250" b="1" dirty="0">
                <a:solidFill>
                  <a:srgbClr val="9C4F2C"/>
                </a:solidFill>
                <a:latin typeface="Calibri" pitchFamily="34" charset="0"/>
                <a:ea typeface="Calibri" pitchFamily="34" charset="-122"/>
                <a:cs typeface="Calibri" pitchFamily="34" charset="-120"/>
              </a:rPr>
              <a:t>部署侧窄范围限制</a:t>
            </a:r>
            <a:endParaRPr lang="en-US" sz="1250" dirty="0"/>
          </a:p>
        </p:txBody>
      </p:sp>
      <p:sp>
        <p:nvSpPr>
          <p:cNvPr id="14" name="Text 11"/>
          <p:cNvSpPr/>
          <p:nvPr/>
        </p:nvSpPr>
        <p:spPr>
          <a:xfrm>
            <a:off x="822960" y="4489704"/>
            <a:ext cx="5303520" cy="502920"/>
          </a:xfrm>
          <a:prstGeom prst="rect">
            <a:avLst/>
          </a:prstGeom>
          <a:noFill/>
          <a:ln/>
        </p:spPr>
        <p:txBody>
          <a:bodyPr wrap="square" lIns="0" tIns="0" rIns="0" bIns="0" rtlCol="0" anchor="ctr"/>
          <a:lstStyle/>
          <a:p>
            <a:pPr indent="0" marL="0">
              <a:lnSpc>
                <a:spcPct val="118000"/>
              </a:lnSpc>
              <a:buNone/>
            </a:pPr>
            <a:r>
              <a:rPr lang="en-US" sz="1050" dirty="0">
                <a:solidFill>
                  <a:srgbClr val="6B6459"/>
                </a:solidFill>
                <a:latin typeface="Calibri" pitchFamily="34" charset="0"/>
                <a:ea typeface="Calibri" pitchFamily="34" charset="-122"/>
                <a:cs typeface="Calibri" pitchFamily="34" charset="-120"/>
              </a:rPr>
              <a:t>仅针对CBRN等极窄范围内容触发拒绝，不影响绝大多数正常查询</a:t>
            </a:r>
            <a:endParaRPr lang="en-US" sz="1050" dirty="0"/>
          </a:p>
        </p:txBody>
      </p:sp>
      <p:sp>
        <p:nvSpPr>
          <p:cNvPr id="15" name="Text 12"/>
          <p:cNvSpPr/>
          <p:nvPr/>
        </p:nvSpPr>
        <p:spPr>
          <a:xfrm>
            <a:off x="822960" y="5038344"/>
            <a:ext cx="5303520" cy="274320"/>
          </a:xfrm>
          <a:prstGeom prst="rect">
            <a:avLst/>
          </a:prstGeom>
          <a:noFill/>
          <a:ln/>
        </p:spPr>
        <p:txBody>
          <a:bodyPr wrap="square" lIns="0" tIns="0" rIns="0" bIns="0" rtlCol="0" anchor="ctr"/>
          <a:lstStyle/>
          <a:p>
            <a:pPr indent="0" marL="0">
              <a:buNone/>
            </a:pPr>
            <a:r>
              <a:rPr lang="en-US" sz="1250" b="1" dirty="0">
                <a:solidFill>
                  <a:srgbClr val="9C4F2C"/>
                </a:solidFill>
                <a:latin typeface="Calibri" pitchFamily="34" charset="0"/>
                <a:ea typeface="Calibri" pitchFamily="34" charset="-122"/>
                <a:cs typeface="Calibri" pitchFamily="34" charset="-120"/>
              </a:rPr>
              <a:t>持续运营改进</a:t>
            </a:r>
            <a:endParaRPr lang="en-US" sz="1250" dirty="0"/>
          </a:p>
        </p:txBody>
      </p:sp>
      <p:sp>
        <p:nvSpPr>
          <p:cNvPr id="16" name="Text 13"/>
          <p:cNvSpPr/>
          <p:nvPr/>
        </p:nvSpPr>
        <p:spPr>
          <a:xfrm>
            <a:off x="822960" y="5330952"/>
            <a:ext cx="5303520" cy="502920"/>
          </a:xfrm>
          <a:prstGeom prst="rect">
            <a:avLst/>
          </a:prstGeom>
          <a:noFill/>
          <a:ln/>
        </p:spPr>
        <p:txBody>
          <a:bodyPr wrap="square" lIns="0" tIns="0" rIns="0" bIns="0" rtlCol="0" anchor="ctr"/>
          <a:lstStyle/>
          <a:p>
            <a:pPr indent="0" marL="0">
              <a:lnSpc>
                <a:spcPct val="118000"/>
              </a:lnSpc>
              <a:buNone/>
            </a:pPr>
            <a:r>
              <a:rPr lang="en-US" sz="1050" dirty="0">
                <a:solidFill>
                  <a:srgbClr val="6B6459"/>
                </a:solidFill>
                <a:latin typeface="Calibri" pitchFamily="34" charset="0"/>
                <a:ea typeface="Calibri" pitchFamily="34" charset="-122"/>
                <a:cs typeface="Calibri" pitchFamily="34" charset="-120"/>
              </a:rPr>
              <a:t>基于实际运行经验与红队反馈，迭代防护措施的有效性</a:t>
            </a:r>
            <a:endParaRPr lang="en-US" sz="1050" dirty="0"/>
          </a:p>
        </p:txBody>
      </p:sp>
      <p:sp>
        <p:nvSpPr>
          <p:cNvPr id="17" name="Shape 14"/>
          <p:cNvSpPr/>
          <p:nvPr/>
        </p:nvSpPr>
        <p:spPr>
          <a:xfrm>
            <a:off x="6675120" y="1691640"/>
            <a:ext cx="4983480" cy="4297680"/>
          </a:xfrm>
          <a:prstGeom prst="roundRect">
            <a:avLst>
              <a:gd name="adj" fmla="val 2128"/>
            </a:avLst>
          </a:prstGeom>
          <a:solidFill>
            <a:srgbClr val="1A1A19"/>
          </a:solidFill>
          <a:ln/>
          <a:effectLst>
            <a:outerShdw sx="100000" sy="100000" kx="0" ky="0" algn="bl" rotWithShape="0" blurRad="101600" dist="38100" dir="5400000">
              <a:srgbClr val="000000">
                <a:alpha val="12000"/>
              </a:srgbClr>
            </a:outerShdw>
          </a:effectLst>
        </p:spPr>
      </p:sp>
      <p:pic>
        <p:nvPicPr>
          <p:cNvPr id="18" name="Image 1" descr="/home/claude/anthropic_safety_deck/icons/exclamation_white.png">    </p:cNvPr>
          <p:cNvPicPr>
            <a:picLocks noChangeAspect="1"/>
          </p:cNvPicPr>
          <p:nvPr/>
        </p:nvPicPr>
        <p:blipFill>
          <a:blip r:embed="rId2"/>
          <a:stretch>
            <a:fillRect/>
          </a:stretch>
        </p:blipFill>
        <p:spPr>
          <a:xfrm>
            <a:off x="6995160" y="1920240"/>
            <a:ext cx="365760" cy="365760"/>
          </a:xfrm>
          <a:prstGeom prst="rect">
            <a:avLst/>
          </a:prstGeom>
        </p:spPr>
      </p:pic>
      <p:sp>
        <p:nvSpPr>
          <p:cNvPr id="19" name="Text 15"/>
          <p:cNvSpPr/>
          <p:nvPr/>
        </p:nvSpPr>
        <p:spPr>
          <a:xfrm>
            <a:off x="7470648" y="1920240"/>
            <a:ext cx="3931920" cy="4114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诚实的边界说明</a:t>
            </a:r>
            <a:endParaRPr lang="en-US" sz="1600" dirty="0"/>
          </a:p>
        </p:txBody>
      </p:sp>
      <p:sp>
        <p:nvSpPr>
          <p:cNvPr id="20" name="Shape 16"/>
          <p:cNvSpPr/>
          <p:nvPr/>
        </p:nvSpPr>
        <p:spPr>
          <a:xfrm>
            <a:off x="6995160" y="2606040"/>
            <a:ext cx="82296" cy="82296"/>
          </a:xfrm>
          <a:prstGeom prst="ellipse">
            <a:avLst/>
          </a:prstGeom>
          <a:solidFill>
            <a:srgbClr val="C2693F"/>
          </a:solidFill>
          <a:ln/>
        </p:spPr>
      </p:sp>
      <p:sp>
        <p:nvSpPr>
          <p:cNvPr id="21" name="Text 17"/>
          <p:cNvSpPr/>
          <p:nvPr/>
        </p:nvSpPr>
        <p:spPr>
          <a:xfrm>
            <a:off x="7223760" y="2487168"/>
            <a:ext cx="4160520" cy="914400"/>
          </a:xfrm>
          <a:prstGeom prst="rect">
            <a:avLst/>
          </a:prstGeom>
          <a:noFill/>
          <a:ln/>
        </p:spPr>
        <p:txBody>
          <a:bodyPr wrap="square" lIns="0" tIns="0" rIns="0" bIns="0" rtlCol="0" anchor="ctr"/>
          <a:lstStyle/>
          <a:p>
            <a:pPr indent="0" marL="0">
              <a:lnSpc>
                <a:spcPct val="120000"/>
              </a:lnSpc>
              <a:buNone/>
            </a:pPr>
            <a:r>
              <a:rPr lang="en-US" sz="1050" dirty="0">
                <a:solidFill>
                  <a:srgbClr val="D8D4CB"/>
                </a:solidFill>
                <a:latin typeface="Calibri" pitchFamily="34" charset="0"/>
                <a:ea typeface="Calibri" pitchFamily="34" charset="-122"/>
                <a:cs typeface="Calibri" pitchFamily="34" charset="-120"/>
              </a:rPr>
              <a:t>Anthropic 官方承认：ASL-3 并非要求“即使是被授权的内部人员也无法窃取权重”这样的高标准目标</a:t>
            </a:r>
            <a:endParaRPr lang="en-US" sz="1050" dirty="0"/>
          </a:p>
        </p:txBody>
      </p:sp>
      <p:sp>
        <p:nvSpPr>
          <p:cNvPr id="22" name="Shape 18"/>
          <p:cNvSpPr/>
          <p:nvPr/>
        </p:nvSpPr>
        <p:spPr>
          <a:xfrm>
            <a:off x="6995160" y="3685032"/>
            <a:ext cx="82296" cy="82296"/>
          </a:xfrm>
          <a:prstGeom prst="ellipse">
            <a:avLst/>
          </a:prstGeom>
          <a:solidFill>
            <a:srgbClr val="C2693F"/>
          </a:solidFill>
          <a:ln/>
        </p:spPr>
      </p:sp>
      <p:sp>
        <p:nvSpPr>
          <p:cNvPr id="23" name="Text 19"/>
          <p:cNvSpPr/>
          <p:nvPr/>
        </p:nvSpPr>
        <p:spPr>
          <a:xfrm>
            <a:off x="7223760" y="3566160"/>
            <a:ext cx="4160520" cy="914400"/>
          </a:xfrm>
          <a:prstGeom prst="rect">
            <a:avLst/>
          </a:prstGeom>
          <a:noFill/>
          <a:ln/>
        </p:spPr>
        <p:txBody>
          <a:bodyPr wrap="square" lIns="0" tIns="0" rIns="0" bIns="0" rtlCol="0" anchor="ctr"/>
          <a:lstStyle/>
          <a:p>
            <a:pPr indent="0" marL="0">
              <a:lnSpc>
                <a:spcPct val="120000"/>
              </a:lnSpc>
              <a:buNone/>
            </a:pPr>
            <a:r>
              <a:rPr lang="en-US" sz="1050" dirty="0">
                <a:solidFill>
                  <a:srgbClr val="D8D4CB"/>
                </a:solidFill>
                <a:latin typeface="Calibri" pitchFamily="34" charset="0"/>
                <a:ea typeface="Calibri" pitchFamily="34" charset="-122"/>
                <a:cs typeface="Calibri" pitchFamily="34" charset="-120"/>
              </a:rPr>
              <a:t>目前更可能达成的是较低门槛：对“老练的内部人员”的鲁棒性，而非对国家级行为体的完全防御</a:t>
            </a:r>
            <a:endParaRPr lang="en-US" sz="1050" dirty="0"/>
          </a:p>
        </p:txBody>
      </p:sp>
      <p:sp>
        <p:nvSpPr>
          <p:cNvPr id="24" name="Shape 20"/>
          <p:cNvSpPr/>
          <p:nvPr/>
        </p:nvSpPr>
        <p:spPr>
          <a:xfrm>
            <a:off x="6995160" y="4764024"/>
            <a:ext cx="82296" cy="82296"/>
          </a:xfrm>
          <a:prstGeom prst="ellipse">
            <a:avLst/>
          </a:prstGeom>
          <a:solidFill>
            <a:srgbClr val="C2693F"/>
          </a:solidFill>
          <a:ln/>
        </p:spPr>
      </p:sp>
      <p:sp>
        <p:nvSpPr>
          <p:cNvPr id="25" name="Text 21"/>
          <p:cNvSpPr/>
          <p:nvPr/>
        </p:nvSpPr>
        <p:spPr>
          <a:xfrm>
            <a:off x="7223760" y="4645152"/>
            <a:ext cx="4160520" cy="914400"/>
          </a:xfrm>
          <a:prstGeom prst="rect">
            <a:avLst/>
          </a:prstGeom>
          <a:noFill/>
          <a:ln/>
        </p:spPr>
        <p:txBody>
          <a:bodyPr wrap="square" lIns="0" tIns="0" rIns="0" bIns="0" rtlCol="0" anchor="ctr"/>
          <a:lstStyle/>
          <a:p>
            <a:pPr indent="0" marL="0">
              <a:lnSpc>
                <a:spcPct val="120000"/>
              </a:lnSpc>
              <a:buNone/>
            </a:pPr>
            <a:r>
              <a:rPr lang="en-US" sz="1050" dirty="0">
                <a:solidFill>
                  <a:srgbClr val="D8D4CB"/>
                </a:solidFill>
                <a:latin typeface="Calibri" pitchFamily="34" charset="0"/>
                <a:ea typeface="Calibri" pitchFamily="34" charset="-122"/>
                <a:cs typeface="Calibri" pitchFamily="34" charset="-120"/>
              </a:rPr>
              <a:t>公司将其定位为“预防性、阶段性”措施——发布时甚至未完全确认模型是否已触及该阈值</a:t>
            </a:r>
            <a:endParaRPr lang="en-US" sz="1050" dirty="0"/>
          </a:p>
        </p:txBody>
      </p:sp>
      <p:sp>
        <p:nvSpPr>
          <p:cNvPr id="26" name="Text 22"/>
          <p:cNvSpPr/>
          <p:nvPr/>
        </p:nvSpPr>
        <p:spPr>
          <a:xfrm>
            <a:off x="457200" y="6547104"/>
            <a:ext cx="5486400" cy="256032"/>
          </a:xfrm>
          <a:prstGeom prst="rect">
            <a:avLst/>
          </a:prstGeom>
          <a:noFill/>
          <a:ln/>
        </p:spPr>
        <p:txBody>
          <a:bodyPr wrap="square" lIns="0" tIns="0" rIns="0" bIns="0" rtlCol="0" anchor="ctr"/>
          <a:lstStyle/>
          <a:p>
            <a:pPr algn="l" indent="0" marL="0">
              <a:buNone/>
            </a:pPr>
            <a:r>
              <a:rPr lang="en-US" sz="900" dirty="0">
                <a:solidFill>
                  <a:srgbClr val="6B6459"/>
                </a:solidFill>
                <a:latin typeface="Calibri" pitchFamily="34" charset="0"/>
                <a:ea typeface="Calibri" pitchFamily="34" charset="-122"/>
                <a:cs typeface="Calibri" pitchFamily="34" charset="-120"/>
              </a:rPr>
              <a:t>Anthropic 安全治理 · ASL-3 安全标准</a:t>
            </a:r>
            <a:endParaRPr lang="en-US" sz="900" dirty="0"/>
          </a:p>
        </p:txBody>
      </p:sp>
      <p:sp>
        <p:nvSpPr>
          <p:cNvPr id="27" name="Text 23"/>
          <p:cNvSpPr/>
          <p:nvPr/>
        </p:nvSpPr>
        <p:spPr>
          <a:xfrm>
            <a:off x="11338560" y="6547104"/>
            <a:ext cx="411480" cy="256032"/>
          </a:xfrm>
          <a:prstGeom prst="rect">
            <a:avLst/>
          </a:prstGeom>
          <a:noFill/>
          <a:ln/>
        </p:spPr>
        <p:txBody>
          <a:bodyPr wrap="square" lIns="0" tIns="0" rIns="0" bIns="0" rtlCol="0" anchor="ctr"/>
          <a:lstStyle/>
          <a:p>
            <a:pPr algn="r" indent="0" marL="0">
              <a:buNone/>
            </a:pPr>
            <a:r>
              <a:rPr lang="en-US" sz="900" dirty="0">
                <a:solidFill>
                  <a:srgbClr val="6B645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19"/>
        </a:solidFill>
      </p:bgPr>
    </p:bg>
    <p:spTree>
      <p:nvGrpSpPr>
        <p:cNvPr id="1" name=""/>
        <p:cNvGrpSpPr/>
        <p:nvPr/>
      </p:nvGrpSpPr>
      <p:grpSpPr>
        <a:xfrm>
          <a:off x="0" y="0"/>
          <a:ext cx="0" cy="0"/>
          <a:chOff x="0" y="0"/>
          <a:chExt cx="0" cy="0"/>
        </a:xfrm>
      </p:grpSpPr>
      <p:sp>
        <p:nvSpPr>
          <p:cNvPr id="2" name="Shape 0"/>
          <p:cNvSpPr/>
          <p:nvPr/>
        </p:nvSpPr>
        <p:spPr>
          <a:xfrm>
            <a:off x="502920" y="411480"/>
            <a:ext cx="1737360" cy="310896"/>
          </a:xfrm>
          <a:prstGeom prst="roundRect">
            <a:avLst>
              <a:gd name="adj" fmla="val 20588"/>
            </a:avLst>
          </a:prstGeom>
          <a:solidFill>
            <a:srgbClr val="C2693F"/>
          </a:solidFill>
          <a:ln/>
        </p:spPr>
      </p:sp>
      <p:sp>
        <p:nvSpPr>
          <p:cNvPr id="3" name="Text 1"/>
          <p:cNvSpPr/>
          <p:nvPr/>
        </p:nvSpPr>
        <p:spPr>
          <a:xfrm>
            <a:off x="502920" y="411480"/>
            <a:ext cx="173736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能力 03</a:t>
            </a:r>
            <a:endParaRPr lang="en-US" sz="1100" dirty="0"/>
          </a:p>
        </p:txBody>
      </p:sp>
      <p:sp>
        <p:nvSpPr>
          <p:cNvPr id="4" name="Text 2"/>
          <p:cNvSpPr/>
          <p:nvPr/>
        </p:nvSpPr>
        <p:spPr>
          <a:xfrm>
            <a:off x="502920" y="841248"/>
            <a:ext cx="10515600" cy="54864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Constitutional AI：训练阶段的价值对齐</a:t>
            </a:r>
            <a:endParaRPr lang="en-US" sz="2500" dirty="0"/>
          </a:p>
        </p:txBody>
      </p:sp>
      <p:sp>
        <p:nvSpPr>
          <p:cNvPr id="5" name="Text 3"/>
          <p:cNvSpPr/>
          <p:nvPr/>
        </p:nvSpPr>
        <p:spPr>
          <a:xfrm>
            <a:off x="502920" y="1371600"/>
            <a:ext cx="10332720" cy="365760"/>
          </a:xfrm>
          <a:prstGeom prst="rect">
            <a:avLst/>
          </a:prstGeom>
          <a:noFill/>
          <a:ln/>
        </p:spPr>
        <p:txBody>
          <a:bodyPr wrap="square" lIns="0" tIns="0" rIns="0" bIns="0" rtlCol="0" anchor="ctr"/>
          <a:lstStyle/>
          <a:p>
            <a:pPr indent="0" marL="0">
              <a:buNone/>
            </a:pPr>
            <a:r>
              <a:rPr lang="en-US" sz="1250" dirty="0">
                <a:solidFill>
                  <a:srgbClr val="B8B2A6"/>
                </a:solidFill>
                <a:latin typeface="Calibri" pitchFamily="34" charset="0"/>
                <a:ea typeface="Calibri" pitchFamily="34" charset="-122"/>
                <a:cs typeface="Calibri" pitchFamily="34" charset="-120"/>
              </a:rPr>
              <a:t>让模型依据显式原则自我评判与修正输出，降低对不透明人类反馈循环的依赖</a:t>
            </a:r>
            <a:endParaRPr lang="en-US" sz="1250" dirty="0"/>
          </a:p>
        </p:txBody>
      </p:sp>
      <p:sp>
        <p:nvSpPr>
          <p:cNvPr id="6" name="Shape 4"/>
          <p:cNvSpPr/>
          <p:nvPr/>
        </p:nvSpPr>
        <p:spPr>
          <a:xfrm>
            <a:off x="777240" y="2011680"/>
            <a:ext cx="3291840" cy="1691640"/>
          </a:xfrm>
          <a:prstGeom prst="roundRect">
            <a:avLst>
              <a:gd name="adj" fmla="val 5405"/>
            </a:avLst>
          </a:prstGeom>
          <a:solidFill>
            <a:srgbClr val="242422"/>
          </a:solidFill>
          <a:ln w="9525">
            <a:solidFill>
              <a:srgbClr val="3A3935"/>
            </a:solidFill>
            <a:prstDash val="solid"/>
          </a:ln>
        </p:spPr>
      </p:sp>
      <p:sp>
        <p:nvSpPr>
          <p:cNvPr id="7" name="Shape 5"/>
          <p:cNvSpPr/>
          <p:nvPr/>
        </p:nvSpPr>
        <p:spPr>
          <a:xfrm>
            <a:off x="2130552" y="1719072"/>
            <a:ext cx="585216" cy="585216"/>
          </a:xfrm>
          <a:prstGeom prst="ellipse">
            <a:avLst/>
          </a:prstGeom>
          <a:solidFill>
            <a:srgbClr val="C2693F"/>
          </a:solidFill>
          <a:ln/>
        </p:spPr>
      </p:sp>
      <p:sp>
        <p:nvSpPr>
          <p:cNvPr id="8" name="Text 6"/>
          <p:cNvSpPr/>
          <p:nvPr/>
        </p:nvSpPr>
        <p:spPr>
          <a:xfrm>
            <a:off x="2130552" y="1719072"/>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7"/>
          <p:cNvSpPr/>
          <p:nvPr/>
        </p:nvSpPr>
        <p:spPr>
          <a:xfrm>
            <a:off x="1005840" y="2395728"/>
            <a:ext cx="28346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原则制定</a:t>
            </a:r>
            <a:endParaRPr lang="en-US" sz="1500" dirty="0"/>
          </a:p>
        </p:txBody>
      </p:sp>
      <p:sp>
        <p:nvSpPr>
          <p:cNvPr id="10" name="Text 8"/>
          <p:cNvSpPr/>
          <p:nvPr/>
        </p:nvSpPr>
        <p:spPr>
          <a:xfrm>
            <a:off x="1005840" y="2798064"/>
            <a:ext cx="2834640" cy="822960"/>
          </a:xfrm>
          <a:prstGeom prst="rect">
            <a:avLst/>
          </a:prstGeom>
          <a:noFill/>
          <a:ln/>
        </p:spPr>
        <p:txBody>
          <a:bodyPr wrap="square" lIns="0" tIns="0" rIns="0" bIns="0" rtlCol="0" anchor="ctr"/>
          <a:lstStyle/>
          <a:p>
            <a:pPr algn="ctr" indent="0" marL="0">
              <a:lnSpc>
                <a:spcPct val="122000"/>
              </a:lnSpc>
              <a:buNone/>
            </a:pPr>
            <a:r>
              <a:rPr lang="en-US" sz="1050" dirty="0">
                <a:solidFill>
                  <a:srgbClr val="C9C5BC"/>
                </a:solidFill>
                <a:latin typeface="Calibri" pitchFamily="34" charset="0"/>
                <a:ea typeface="Calibri" pitchFamily="34" charset="-122"/>
                <a:cs typeface="Calibri" pitchFamily="34" charset="-120"/>
              </a:rPr>
              <a:t>从人权公约、安全准则等来源提炼显式行为原则，形成《Claude 宪法》</a:t>
            </a:r>
            <a:endParaRPr lang="en-US" sz="1050" dirty="0"/>
          </a:p>
        </p:txBody>
      </p:sp>
      <p:sp>
        <p:nvSpPr>
          <p:cNvPr id="11" name="Text 9"/>
          <p:cNvSpPr/>
          <p:nvPr/>
        </p:nvSpPr>
        <p:spPr>
          <a:xfrm>
            <a:off x="4105656" y="2628900"/>
            <a:ext cx="292608" cy="457200"/>
          </a:xfrm>
          <a:prstGeom prst="rect">
            <a:avLst/>
          </a:prstGeom>
          <a:noFill/>
          <a:ln/>
        </p:spPr>
        <p:txBody>
          <a:bodyPr wrap="square" lIns="0" tIns="0" rIns="0" bIns="0" rtlCol="0" anchor="ctr"/>
          <a:lstStyle/>
          <a:p>
            <a:pPr algn="ctr" indent="0" marL="0">
              <a:buNone/>
            </a:pPr>
            <a:r>
              <a:rPr lang="en-US" sz="2200" dirty="0">
                <a:solidFill>
                  <a:srgbClr val="C2693F"/>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4434840" y="2011680"/>
            <a:ext cx="3291840" cy="1691640"/>
          </a:xfrm>
          <a:prstGeom prst="roundRect">
            <a:avLst>
              <a:gd name="adj" fmla="val 5405"/>
            </a:avLst>
          </a:prstGeom>
          <a:solidFill>
            <a:srgbClr val="242422"/>
          </a:solidFill>
          <a:ln w="9525">
            <a:solidFill>
              <a:srgbClr val="3A3935"/>
            </a:solidFill>
            <a:prstDash val="solid"/>
          </a:ln>
        </p:spPr>
      </p:sp>
      <p:sp>
        <p:nvSpPr>
          <p:cNvPr id="13" name="Shape 11"/>
          <p:cNvSpPr/>
          <p:nvPr/>
        </p:nvSpPr>
        <p:spPr>
          <a:xfrm>
            <a:off x="5788152" y="1719072"/>
            <a:ext cx="585216" cy="585216"/>
          </a:xfrm>
          <a:prstGeom prst="ellipse">
            <a:avLst/>
          </a:prstGeom>
          <a:solidFill>
            <a:srgbClr val="C2693F"/>
          </a:solidFill>
          <a:ln/>
        </p:spPr>
      </p:sp>
      <p:sp>
        <p:nvSpPr>
          <p:cNvPr id="14" name="Text 12"/>
          <p:cNvSpPr/>
          <p:nvPr/>
        </p:nvSpPr>
        <p:spPr>
          <a:xfrm>
            <a:off x="5788152" y="1719072"/>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5" name="Text 13"/>
          <p:cNvSpPr/>
          <p:nvPr/>
        </p:nvSpPr>
        <p:spPr>
          <a:xfrm>
            <a:off x="4663440" y="2395728"/>
            <a:ext cx="28346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自我评判</a:t>
            </a:r>
            <a:endParaRPr lang="en-US" sz="1500" dirty="0"/>
          </a:p>
        </p:txBody>
      </p:sp>
      <p:sp>
        <p:nvSpPr>
          <p:cNvPr id="16" name="Text 14"/>
          <p:cNvSpPr/>
          <p:nvPr/>
        </p:nvSpPr>
        <p:spPr>
          <a:xfrm>
            <a:off x="4663440" y="2798064"/>
            <a:ext cx="2834640" cy="822960"/>
          </a:xfrm>
          <a:prstGeom prst="rect">
            <a:avLst/>
          </a:prstGeom>
          <a:noFill/>
          <a:ln/>
        </p:spPr>
        <p:txBody>
          <a:bodyPr wrap="square" lIns="0" tIns="0" rIns="0" bIns="0" rtlCol="0" anchor="ctr"/>
          <a:lstStyle/>
          <a:p>
            <a:pPr algn="ctr" indent="0" marL="0">
              <a:lnSpc>
                <a:spcPct val="122000"/>
              </a:lnSpc>
              <a:buNone/>
            </a:pPr>
            <a:r>
              <a:rPr lang="en-US" sz="1050" dirty="0">
                <a:solidFill>
                  <a:srgbClr val="C9C5BC"/>
                </a:solidFill>
                <a:latin typeface="Calibri" pitchFamily="34" charset="0"/>
                <a:ea typeface="Calibri" pitchFamily="34" charset="-122"/>
                <a:cs typeface="Calibri" pitchFamily="34" charset="-120"/>
              </a:rPr>
              <a:t>模型基于原则对自身候选输出进行评估，识别违反原则之处</a:t>
            </a:r>
            <a:endParaRPr lang="en-US" sz="1050" dirty="0"/>
          </a:p>
        </p:txBody>
      </p:sp>
      <p:sp>
        <p:nvSpPr>
          <p:cNvPr id="17" name="Text 15"/>
          <p:cNvSpPr/>
          <p:nvPr/>
        </p:nvSpPr>
        <p:spPr>
          <a:xfrm>
            <a:off x="7763256" y="2628900"/>
            <a:ext cx="292608" cy="457200"/>
          </a:xfrm>
          <a:prstGeom prst="rect">
            <a:avLst/>
          </a:prstGeom>
          <a:noFill/>
          <a:ln/>
        </p:spPr>
        <p:txBody>
          <a:bodyPr wrap="square" lIns="0" tIns="0" rIns="0" bIns="0" rtlCol="0" anchor="ctr"/>
          <a:lstStyle/>
          <a:p>
            <a:pPr algn="ctr" indent="0" marL="0">
              <a:buNone/>
            </a:pPr>
            <a:r>
              <a:rPr lang="en-US" sz="2200" dirty="0">
                <a:solidFill>
                  <a:srgbClr val="C2693F"/>
                </a:solidFill>
                <a:latin typeface="Calibri" pitchFamily="34" charset="0"/>
                <a:ea typeface="Calibri" pitchFamily="34" charset="-122"/>
                <a:cs typeface="Calibri" pitchFamily="34" charset="-120"/>
              </a:rPr>
              <a:t>→</a:t>
            </a:r>
            <a:endParaRPr lang="en-US" sz="2200" dirty="0"/>
          </a:p>
        </p:txBody>
      </p:sp>
      <p:sp>
        <p:nvSpPr>
          <p:cNvPr id="18" name="Shape 16"/>
          <p:cNvSpPr/>
          <p:nvPr/>
        </p:nvSpPr>
        <p:spPr>
          <a:xfrm>
            <a:off x="8092440" y="2011680"/>
            <a:ext cx="3291840" cy="1691640"/>
          </a:xfrm>
          <a:prstGeom prst="roundRect">
            <a:avLst>
              <a:gd name="adj" fmla="val 5405"/>
            </a:avLst>
          </a:prstGeom>
          <a:solidFill>
            <a:srgbClr val="242422"/>
          </a:solidFill>
          <a:ln w="9525">
            <a:solidFill>
              <a:srgbClr val="3A3935"/>
            </a:solidFill>
            <a:prstDash val="solid"/>
          </a:ln>
        </p:spPr>
      </p:sp>
      <p:sp>
        <p:nvSpPr>
          <p:cNvPr id="19" name="Shape 17"/>
          <p:cNvSpPr/>
          <p:nvPr/>
        </p:nvSpPr>
        <p:spPr>
          <a:xfrm>
            <a:off x="9445752" y="1719072"/>
            <a:ext cx="585216" cy="585216"/>
          </a:xfrm>
          <a:prstGeom prst="ellipse">
            <a:avLst/>
          </a:prstGeom>
          <a:solidFill>
            <a:srgbClr val="C2693F"/>
          </a:solidFill>
          <a:ln/>
        </p:spPr>
      </p:sp>
      <p:sp>
        <p:nvSpPr>
          <p:cNvPr id="20" name="Text 18"/>
          <p:cNvSpPr/>
          <p:nvPr/>
        </p:nvSpPr>
        <p:spPr>
          <a:xfrm>
            <a:off x="9445752" y="1719072"/>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1" name="Text 19"/>
          <p:cNvSpPr/>
          <p:nvPr/>
        </p:nvSpPr>
        <p:spPr>
          <a:xfrm>
            <a:off x="8321040" y="2395728"/>
            <a:ext cx="28346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自我修正</a:t>
            </a:r>
            <a:endParaRPr lang="en-US" sz="1500" dirty="0"/>
          </a:p>
        </p:txBody>
      </p:sp>
      <p:sp>
        <p:nvSpPr>
          <p:cNvPr id="22" name="Text 20"/>
          <p:cNvSpPr/>
          <p:nvPr/>
        </p:nvSpPr>
        <p:spPr>
          <a:xfrm>
            <a:off x="8321040" y="2798064"/>
            <a:ext cx="2834640" cy="822960"/>
          </a:xfrm>
          <a:prstGeom prst="rect">
            <a:avLst/>
          </a:prstGeom>
          <a:noFill/>
          <a:ln/>
        </p:spPr>
        <p:txBody>
          <a:bodyPr wrap="square" lIns="0" tIns="0" rIns="0" bIns="0" rtlCol="0" anchor="ctr"/>
          <a:lstStyle/>
          <a:p>
            <a:pPr algn="ctr" indent="0" marL="0">
              <a:lnSpc>
                <a:spcPct val="122000"/>
              </a:lnSpc>
              <a:buNone/>
            </a:pPr>
            <a:r>
              <a:rPr lang="en-US" sz="1050" dirty="0">
                <a:solidFill>
                  <a:srgbClr val="C9C5BC"/>
                </a:solidFill>
                <a:latin typeface="Calibri" pitchFamily="34" charset="0"/>
                <a:ea typeface="Calibri" pitchFamily="34" charset="-122"/>
                <a:cs typeface="Calibri" pitchFamily="34" charset="-120"/>
              </a:rPr>
              <a:t>模型据此修正输出，再用于监督学习与强化学习的训练信号</a:t>
            </a:r>
            <a:endParaRPr lang="en-US" sz="1050" dirty="0"/>
          </a:p>
        </p:txBody>
      </p:sp>
      <p:sp>
        <p:nvSpPr>
          <p:cNvPr id="23" name="Shape 21"/>
          <p:cNvSpPr/>
          <p:nvPr/>
        </p:nvSpPr>
        <p:spPr>
          <a:xfrm>
            <a:off x="502920" y="4160520"/>
            <a:ext cx="10607040" cy="1783080"/>
          </a:xfrm>
          <a:prstGeom prst="roundRect">
            <a:avLst>
              <a:gd name="adj" fmla="val 5128"/>
            </a:avLst>
          </a:prstGeom>
          <a:solidFill>
            <a:srgbClr val="242422"/>
          </a:solidFill>
          <a:ln w="9525">
            <a:solidFill>
              <a:srgbClr val="3A3935"/>
            </a:solidFill>
            <a:prstDash val="solid"/>
          </a:ln>
        </p:spPr>
      </p:sp>
      <p:sp>
        <p:nvSpPr>
          <p:cNvPr id="24" name="Text 22"/>
          <p:cNvSpPr/>
          <p:nvPr/>
        </p:nvSpPr>
        <p:spPr>
          <a:xfrm>
            <a:off x="822960" y="4370832"/>
            <a:ext cx="10058400" cy="365760"/>
          </a:xfrm>
          <a:prstGeom prst="rect">
            <a:avLst/>
          </a:prstGeom>
          <a:noFill/>
          <a:ln/>
        </p:spPr>
        <p:txBody>
          <a:bodyPr wrap="square" lIns="0" tIns="0" rIns="0" bIns="0" rtlCol="0" anchor="ctr"/>
          <a:lstStyle/>
          <a:p>
            <a:pPr indent="0" marL="0">
              <a:buNone/>
            </a:pPr>
            <a:r>
              <a:rPr lang="en-US" sz="1400" b="1" dirty="0">
                <a:solidFill>
                  <a:srgbClr val="C2693F"/>
                </a:solidFill>
                <a:latin typeface="Cambria" pitchFamily="34" charset="0"/>
                <a:ea typeface="Cambria" pitchFamily="34" charset="-122"/>
                <a:cs typeface="Cambria" pitchFamily="34" charset="-120"/>
              </a:rPr>
              <a:t>2026年1月：《Claude 宪法》正式发布</a:t>
            </a:r>
            <a:endParaRPr lang="en-US" sz="1400" dirty="0"/>
          </a:p>
        </p:txBody>
      </p:sp>
      <p:sp>
        <p:nvSpPr>
          <p:cNvPr id="25" name="Text 23"/>
          <p:cNvSpPr/>
          <p:nvPr/>
        </p:nvSpPr>
        <p:spPr>
          <a:xfrm>
            <a:off x="822960" y="4754880"/>
            <a:ext cx="10058400" cy="1097280"/>
          </a:xfrm>
          <a:prstGeom prst="rect">
            <a:avLst/>
          </a:prstGeom>
          <a:noFill/>
          <a:ln/>
        </p:spPr>
        <p:txBody>
          <a:bodyPr wrap="square" lIns="0" tIns="0" rIns="0" bIns="0" rtlCol="0" anchor="ctr"/>
          <a:lstStyle/>
          <a:p>
            <a:pPr indent="0" marL="0">
              <a:lnSpc>
                <a:spcPct val="130000"/>
              </a:lnSpc>
              <a:buNone/>
            </a:pPr>
            <a:r>
              <a:rPr lang="en-US" sz="1150" dirty="0">
                <a:solidFill>
                  <a:srgbClr val="D8D4CB"/>
                </a:solidFill>
                <a:latin typeface="Calibri" pitchFamily="34" charset="0"/>
                <a:ea typeface="Calibri" pitchFamily="34" charset="-122"/>
                <a:cs typeface="Calibri" pitchFamily="34" charset="-120"/>
              </a:rPr>
              <a:t>将 Constitutional AI 从单纯的训练技巧，确立为公司治理哲学的核心组成部分。原则可审计、可追溯，使外部监管者与研究者能够理解模型行为的规范基础，而非仅依赖黑箱式的人类偏好数据。</a:t>
            </a:r>
            <a:endParaRPr lang="en-US" sz="1150" dirty="0"/>
          </a:p>
        </p:txBody>
      </p:sp>
      <p:sp>
        <p:nvSpPr>
          <p:cNvPr id="26" name="Text 24"/>
          <p:cNvSpPr/>
          <p:nvPr/>
        </p:nvSpPr>
        <p:spPr>
          <a:xfrm>
            <a:off x="457200" y="6547104"/>
            <a:ext cx="5486400" cy="256032"/>
          </a:xfrm>
          <a:prstGeom prst="rect">
            <a:avLst/>
          </a:prstGeom>
          <a:noFill/>
          <a:ln/>
        </p:spPr>
        <p:txBody>
          <a:bodyPr wrap="square" lIns="0" tIns="0" rIns="0" bIns="0" rtlCol="0" anchor="ctr"/>
          <a:lstStyle/>
          <a:p>
            <a:pPr algn="l" indent="0" marL="0">
              <a:buNone/>
            </a:pPr>
            <a:r>
              <a:rPr lang="en-US" sz="900" dirty="0">
                <a:solidFill>
                  <a:srgbClr val="6B6459"/>
                </a:solidFill>
                <a:latin typeface="Calibri" pitchFamily="34" charset="0"/>
                <a:ea typeface="Calibri" pitchFamily="34" charset="-122"/>
                <a:cs typeface="Calibri" pitchFamily="34" charset="-120"/>
              </a:rPr>
              <a:t>Anthropic 安全治理 · Constitutional AI</a:t>
            </a:r>
            <a:endParaRPr lang="en-US" sz="900" dirty="0"/>
          </a:p>
        </p:txBody>
      </p:sp>
      <p:sp>
        <p:nvSpPr>
          <p:cNvPr id="27" name="Text 25"/>
          <p:cNvSpPr/>
          <p:nvPr/>
        </p:nvSpPr>
        <p:spPr>
          <a:xfrm>
            <a:off x="11338560" y="6547104"/>
            <a:ext cx="411480" cy="256032"/>
          </a:xfrm>
          <a:prstGeom prst="rect">
            <a:avLst/>
          </a:prstGeom>
          <a:noFill/>
          <a:ln/>
        </p:spPr>
        <p:txBody>
          <a:bodyPr wrap="square" lIns="0" tIns="0" rIns="0" bIns="0" rtlCol="0" anchor="ctr"/>
          <a:lstStyle/>
          <a:p>
            <a:pPr algn="r" indent="0" marL="0">
              <a:buNone/>
            </a:pPr>
            <a:r>
              <a:rPr lang="en-US" sz="900" dirty="0">
                <a:solidFill>
                  <a:srgbClr val="6B645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737360" cy="310896"/>
          </a:xfrm>
          <a:prstGeom prst="roundRect">
            <a:avLst>
              <a:gd name="adj" fmla="val 20588"/>
            </a:avLst>
          </a:prstGeom>
          <a:solidFill>
            <a:srgbClr val="C2693F"/>
          </a:solidFill>
          <a:ln/>
        </p:spPr>
      </p:sp>
      <p:sp>
        <p:nvSpPr>
          <p:cNvPr id="3" name="Text 1"/>
          <p:cNvSpPr/>
          <p:nvPr/>
        </p:nvSpPr>
        <p:spPr>
          <a:xfrm>
            <a:off x="502920" y="411480"/>
            <a:ext cx="173736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能力 04</a:t>
            </a:r>
            <a:endParaRPr lang="en-US" sz="1100" dirty="0"/>
          </a:p>
        </p:txBody>
      </p:sp>
      <p:sp>
        <p:nvSpPr>
          <p:cNvPr id="4" name="Text 2"/>
          <p:cNvSpPr/>
          <p:nvPr/>
        </p:nvSpPr>
        <p:spPr>
          <a:xfrm>
            <a:off x="502920" y="841248"/>
            <a:ext cx="10515600" cy="548640"/>
          </a:xfrm>
          <a:prstGeom prst="rect">
            <a:avLst/>
          </a:prstGeom>
          <a:noFill/>
          <a:ln/>
        </p:spPr>
        <p:txBody>
          <a:bodyPr wrap="square" lIns="0" tIns="0" rIns="0" bIns="0" rtlCol="0" anchor="ctr"/>
          <a:lstStyle/>
          <a:p>
            <a:pPr indent="0" marL="0">
              <a:buNone/>
            </a:pPr>
            <a:r>
              <a:rPr lang="en-US" sz="2500" b="1" dirty="0">
                <a:solidFill>
                  <a:srgbClr val="262420"/>
                </a:solidFill>
                <a:latin typeface="Cambria" pitchFamily="34" charset="0"/>
                <a:ea typeface="Cambria" pitchFamily="34" charset="-122"/>
                <a:cs typeface="Cambria" pitchFamily="34" charset="-120"/>
              </a:rPr>
              <a:t>Constitutional Classifiers：部署阶段的实时防御</a:t>
            </a:r>
            <a:endParaRPr lang="en-US" sz="2500" dirty="0"/>
          </a:p>
        </p:txBody>
      </p:sp>
      <p:sp>
        <p:nvSpPr>
          <p:cNvPr id="5" name="Text 3"/>
          <p:cNvSpPr/>
          <p:nvPr/>
        </p:nvSpPr>
        <p:spPr>
          <a:xfrm>
            <a:off x="502920" y="1371600"/>
            <a:ext cx="10332720" cy="365760"/>
          </a:xfrm>
          <a:prstGeom prst="rect">
            <a:avLst/>
          </a:prstGeom>
          <a:noFill/>
          <a:ln/>
        </p:spPr>
        <p:txBody>
          <a:bodyPr wrap="square" lIns="0" tIns="0" rIns="0" bIns="0" rtlCol="0" anchor="ctr"/>
          <a:lstStyle/>
          <a:p>
            <a:pPr indent="0" marL="0">
              <a:buNone/>
            </a:pPr>
            <a:r>
              <a:rPr lang="en-US" sz="1250" dirty="0">
                <a:solidFill>
                  <a:srgbClr val="6B6459"/>
                </a:solidFill>
                <a:latin typeface="Calibri" pitchFamily="34" charset="0"/>
                <a:ea typeface="Calibri" pitchFamily="34" charset="-122"/>
                <a:cs typeface="Calibri" pitchFamily="34" charset="-120"/>
              </a:rPr>
              <a:t>双层输入/输出分类器，专门防御能绕过所有安全护栏的“通用越狱”攻击</a:t>
            </a:r>
            <a:endParaRPr lang="en-US" sz="1250" dirty="0"/>
          </a:p>
        </p:txBody>
      </p:sp>
      <p:sp>
        <p:nvSpPr>
          <p:cNvPr id="6" name="Shape 4"/>
          <p:cNvSpPr/>
          <p:nvPr/>
        </p:nvSpPr>
        <p:spPr>
          <a:xfrm>
            <a:off x="777240" y="1828800"/>
            <a:ext cx="1828800" cy="822960"/>
          </a:xfrm>
          <a:prstGeom prst="roundRect">
            <a:avLst>
              <a:gd name="adj" fmla="val 8889"/>
            </a:avLst>
          </a:prstGeom>
          <a:solidFill>
            <a:srgbClr val="EDE6DC"/>
          </a:solidFill>
          <a:ln/>
        </p:spPr>
      </p:sp>
      <p:sp>
        <p:nvSpPr>
          <p:cNvPr id="7" name="Text 5"/>
          <p:cNvSpPr/>
          <p:nvPr/>
        </p:nvSpPr>
        <p:spPr>
          <a:xfrm>
            <a:off x="777240" y="1828800"/>
            <a:ext cx="1828800" cy="822960"/>
          </a:xfrm>
          <a:prstGeom prst="rect">
            <a:avLst/>
          </a:prstGeom>
          <a:noFill/>
          <a:ln/>
        </p:spPr>
        <p:txBody>
          <a:bodyPr wrap="square" lIns="0" tIns="0" rIns="0" bIns="0" rtlCol="0" anchor="ctr"/>
          <a:lstStyle/>
          <a:p>
            <a:pPr algn="ctr" indent="0" marL="0">
              <a:buNone/>
            </a:pPr>
            <a:r>
              <a:rPr lang="en-US" sz="1050" b="1" dirty="0">
                <a:solidFill>
                  <a:srgbClr val="262420"/>
                </a:solidFill>
                <a:latin typeface="Calibri" pitchFamily="34" charset="0"/>
                <a:ea typeface="Calibri" pitchFamily="34" charset="-122"/>
                <a:cs typeface="Calibri" pitchFamily="34" charset="-120"/>
              </a:rPr>
              <a:t>用户输入</a:t>
            </a:r>
            <a:endParaRPr lang="en-US" sz="1050" dirty="0"/>
          </a:p>
        </p:txBody>
      </p:sp>
      <p:sp>
        <p:nvSpPr>
          <p:cNvPr id="8" name="Text 6"/>
          <p:cNvSpPr/>
          <p:nvPr/>
        </p:nvSpPr>
        <p:spPr>
          <a:xfrm>
            <a:off x="2606040" y="1828800"/>
            <a:ext cx="365760" cy="822960"/>
          </a:xfrm>
          <a:prstGeom prst="rect">
            <a:avLst/>
          </a:prstGeom>
          <a:noFill/>
          <a:ln/>
        </p:spPr>
        <p:txBody>
          <a:bodyPr wrap="square" lIns="0" tIns="0" rIns="0" bIns="0" rtlCol="0" anchor="ctr"/>
          <a:lstStyle/>
          <a:p>
            <a:pPr algn="ctr" indent="0" marL="0">
              <a:buNone/>
            </a:pPr>
            <a:r>
              <a:rPr lang="en-US" sz="1800" dirty="0">
                <a:solidFill>
                  <a:srgbClr val="C2693F"/>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2971800" y="1828800"/>
            <a:ext cx="2103120" cy="822960"/>
          </a:xfrm>
          <a:prstGeom prst="roundRect">
            <a:avLst>
              <a:gd name="adj" fmla="val 8889"/>
            </a:avLst>
          </a:prstGeom>
          <a:solidFill>
            <a:srgbClr val="F2E2D5"/>
          </a:solidFill>
          <a:ln/>
        </p:spPr>
      </p:sp>
      <p:sp>
        <p:nvSpPr>
          <p:cNvPr id="10" name="Text 8"/>
          <p:cNvSpPr/>
          <p:nvPr/>
        </p:nvSpPr>
        <p:spPr>
          <a:xfrm>
            <a:off x="2971800" y="1828800"/>
            <a:ext cx="2103120" cy="822960"/>
          </a:xfrm>
          <a:prstGeom prst="rect">
            <a:avLst/>
          </a:prstGeom>
          <a:noFill/>
          <a:ln/>
        </p:spPr>
        <p:txBody>
          <a:bodyPr wrap="square" lIns="0" tIns="0" rIns="0" bIns="0" rtlCol="0" anchor="ctr"/>
          <a:lstStyle/>
          <a:p>
            <a:pPr algn="ctr" indent="0" marL="0">
              <a:buNone/>
            </a:pPr>
            <a:r>
              <a:rPr lang="en-US" sz="1050" b="1" dirty="0">
                <a:solidFill>
                  <a:srgbClr val="9C4F2C"/>
                </a:solidFill>
                <a:latin typeface="Calibri" pitchFamily="34" charset="0"/>
                <a:ea typeface="Calibri" pitchFamily="34" charset="-122"/>
                <a:cs typeface="Calibri" pitchFamily="34" charset="-120"/>
              </a:rPr>
              <a:t>轻量探针</a:t>
            </a:r>
            <a:endParaRPr lang="en-US" sz="1050" dirty="0"/>
          </a:p>
          <a:p>
            <a:pPr algn="ctr" indent="0" marL="0">
              <a:buNone/>
            </a:pPr>
            <a:r>
              <a:rPr lang="en-US" sz="1050" b="1" dirty="0">
                <a:solidFill>
                  <a:srgbClr val="9C4F2C"/>
                </a:solidFill>
                <a:latin typeface="Calibri" pitchFamily="34" charset="0"/>
                <a:ea typeface="Calibri" pitchFamily="34" charset="-122"/>
                <a:cs typeface="Calibri" pitchFamily="34" charset="-120"/>
              </a:rPr>
              <a:t>（解释性方法）</a:t>
            </a:r>
            <a:endParaRPr lang="en-US" sz="1050" dirty="0"/>
          </a:p>
        </p:txBody>
      </p:sp>
      <p:sp>
        <p:nvSpPr>
          <p:cNvPr id="11" name="Text 9"/>
          <p:cNvSpPr/>
          <p:nvPr/>
        </p:nvSpPr>
        <p:spPr>
          <a:xfrm>
            <a:off x="5074920" y="1828800"/>
            <a:ext cx="365760" cy="822960"/>
          </a:xfrm>
          <a:prstGeom prst="rect">
            <a:avLst/>
          </a:prstGeom>
          <a:noFill/>
          <a:ln/>
        </p:spPr>
        <p:txBody>
          <a:bodyPr wrap="square" lIns="0" tIns="0" rIns="0" bIns="0" rtlCol="0" anchor="ctr"/>
          <a:lstStyle/>
          <a:p>
            <a:pPr algn="ctr" indent="0" marL="0">
              <a:buNone/>
            </a:pPr>
            <a:r>
              <a:rPr lang="en-US" sz="1800" dirty="0">
                <a:solidFill>
                  <a:srgbClr val="C2693F"/>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5440680" y="1828800"/>
            <a:ext cx="2377440" cy="822960"/>
          </a:xfrm>
          <a:prstGeom prst="roundRect">
            <a:avLst>
              <a:gd name="adj" fmla="val 8889"/>
            </a:avLst>
          </a:prstGeom>
          <a:solidFill>
            <a:srgbClr val="1A1A19"/>
          </a:solidFill>
          <a:ln/>
        </p:spPr>
      </p:sp>
      <p:sp>
        <p:nvSpPr>
          <p:cNvPr id="13" name="Text 11"/>
          <p:cNvSpPr/>
          <p:nvPr/>
        </p:nvSpPr>
        <p:spPr>
          <a:xfrm>
            <a:off x="5440680" y="1828800"/>
            <a:ext cx="2377440" cy="8229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二级分类器</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（约5.5%流量升级）</a:t>
            </a:r>
            <a:endParaRPr lang="en-US" sz="1050" dirty="0"/>
          </a:p>
        </p:txBody>
      </p:sp>
      <p:sp>
        <p:nvSpPr>
          <p:cNvPr id="14" name="Text 12"/>
          <p:cNvSpPr/>
          <p:nvPr/>
        </p:nvSpPr>
        <p:spPr>
          <a:xfrm>
            <a:off x="7818120" y="1828800"/>
            <a:ext cx="365760" cy="822960"/>
          </a:xfrm>
          <a:prstGeom prst="rect">
            <a:avLst/>
          </a:prstGeom>
          <a:noFill/>
          <a:ln/>
        </p:spPr>
        <p:txBody>
          <a:bodyPr wrap="square" lIns="0" tIns="0" rIns="0" bIns="0" rtlCol="0" anchor="ctr"/>
          <a:lstStyle/>
          <a:p>
            <a:pPr algn="ctr" indent="0" marL="0">
              <a:buNone/>
            </a:pPr>
            <a:r>
              <a:rPr lang="en-US" sz="1800" dirty="0">
                <a:solidFill>
                  <a:srgbClr val="C2693F"/>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8183880" y="1828800"/>
            <a:ext cx="1828800" cy="822960"/>
          </a:xfrm>
          <a:prstGeom prst="roundRect">
            <a:avLst>
              <a:gd name="adj" fmla="val 8889"/>
            </a:avLst>
          </a:prstGeom>
          <a:solidFill>
            <a:srgbClr val="EDE6DC"/>
          </a:solidFill>
          <a:ln/>
        </p:spPr>
      </p:sp>
      <p:sp>
        <p:nvSpPr>
          <p:cNvPr id="16" name="Text 14"/>
          <p:cNvSpPr/>
          <p:nvPr/>
        </p:nvSpPr>
        <p:spPr>
          <a:xfrm>
            <a:off x="8183880" y="1828800"/>
            <a:ext cx="1828800" cy="822960"/>
          </a:xfrm>
          <a:prstGeom prst="rect">
            <a:avLst/>
          </a:prstGeom>
          <a:noFill/>
          <a:ln/>
        </p:spPr>
        <p:txBody>
          <a:bodyPr wrap="square" lIns="0" tIns="0" rIns="0" bIns="0" rtlCol="0" anchor="ctr"/>
          <a:lstStyle/>
          <a:p>
            <a:pPr algn="ctr" indent="0" marL="0">
              <a:buNone/>
            </a:pPr>
            <a:r>
              <a:rPr lang="en-US" sz="1050" b="1" dirty="0">
                <a:solidFill>
                  <a:srgbClr val="262420"/>
                </a:solidFill>
                <a:latin typeface="Calibri" pitchFamily="34" charset="0"/>
                <a:ea typeface="Calibri" pitchFamily="34" charset="-122"/>
                <a:cs typeface="Calibri" pitchFamily="34" charset="-120"/>
              </a:rPr>
              <a:t>输出 / 拦截</a:t>
            </a:r>
            <a:endParaRPr lang="en-US" sz="1050" dirty="0"/>
          </a:p>
        </p:txBody>
      </p:sp>
      <p:sp>
        <p:nvSpPr>
          <p:cNvPr id="17" name="Text 15"/>
          <p:cNvSpPr/>
          <p:nvPr/>
        </p:nvSpPr>
        <p:spPr>
          <a:xfrm>
            <a:off x="777240" y="2788920"/>
            <a:ext cx="9235440" cy="320040"/>
          </a:xfrm>
          <a:prstGeom prst="rect">
            <a:avLst/>
          </a:prstGeom>
          <a:noFill/>
          <a:ln/>
        </p:spPr>
        <p:txBody>
          <a:bodyPr wrap="square" lIns="0" tIns="0" rIns="0" bIns="0" rtlCol="0" anchor="ctr"/>
          <a:lstStyle/>
          <a:p>
            <a:pPr indent="0" marL="0">
              <a:buNone/>
            </a:pPr>
            <a:r>
              <a:rPr lang="en-US" sz="1050" i="1" dirty="0">
                <a:solidFill>
                  <a:srgbClr val="6B6459"/>
                </a:solidFill>
                <a:latin typeface="Calibri" pitchFamily="34" charset="0"/>
                <a:ea typeface="Calibri" pitchFamily="34" charset="-122"/>
                <a:cs typeface="Calibri" pitchFamily="34" charset="-120"/>
              </a:rPr>
              <a:t>“瑞士奶酪”式多层防御：单层不完美，叠加后大幅降低攻击成功率</a:t>
            </a:r>
            <a:endParaRPr lang="en-US" sz="1050" dirty="0"/>
          </a:p>
        </p:txBody>
      </p:sp>
      <p:sp>
        <p:nvSpPr>
          <p:cNvPr id="18" name="Shape 16"/>
          <p:cNvSpPr/>
          <p:nvPr/>
        </p:nvSpPr>
        <p:spPr>
          <a:xfrm>
            <a:off x="502920" y="3383280"/>
            <a:ext cx="2542032" cy="1417320"/>
          </a:xfrm>
          <a:prstGeom prst="roundRect">
            <a:avLst>
              <a:gd name="adj" fmla="val 6452"/>
            </a:avLst>
          </a:prstGeom>
          <a:solidFill>
            <a:srgbClr val="FBF8F4"/>
          </a:solidFill>
          <a:ln w="9525">
            <a:solidFill>
              <a:srgbClr val="E4DCD0"/>
            </a:solidFill>
            <a:prstDash val="solid"/>
          </a:ln>
        </p:spPr>
      </p:sp>
      <p:sp>
        <p:nvSpPr>
          <p:cNvPr id="19" name="Text 17"/>
          <p:cNvSpPr/>
          <p:nvPr/>
        </p:nvSpPr>
        <p:spPr>
          <a:xfrm>
            <a:off x="685800" y="3547872"/>
            <a:ext cx="2176272" cy="502920"/>
          </a:xfrm>
          <a:prstGeom prst="rect">
            <a:avLst/>
          </a:prstGeom>
          <a:noFill/>
          <a:ln/>
        </p:spPr>
        <p:txBody>
          <a:bodyPr wrap="square" lIns="0" tIns="0" rIns="0" bIns="0" rtlCol="0" anchor="ctr"/>
          <a:lstStyle/>
          <a:p>
            <a:pPr indent="0" marL="0">
              <a:buNone/>
            </a:pPr>
            <a:r>
              <a:rPr lang="en-US" sz="1700" b="1" dirty="0">
                <a:solidFill>
                  <a:srgbClr val="9C4F2C"/>
                </a:solidFill>
                <a:latin typeface="Cambria" pitchFamily="34" charset="0"/>
                <a:ea typeface="Cambria" pitchFamily="34" charset="-122"/>
                <a:cs typeface="Cambria" pitchFamily="34" charset="-120"/>
              </a:rPr>
              <a:t>86% → 4.4%</a:t>
            </a:r>
            <a:endParaRPr lang="en-US" sz="1700" dirty="0"/>
          </a:p>
        </p:txBody>
      </p:sp>
      <p:sp>
        <p:nvSpPr>
          <p:cNvPr id="20" name="Text 18"/>
          <p:cNvSpPr/>
          <p:nvPr/>
        </p:nvSpPr>
        <p:spPr>
          <a:xfrm>
            <a:off x="685800" y="4069080"/>
            <a:ext cx="2176272" cy="658368"/>
          </a:xfrm>
          <a:prstGeom prst="rect">
            <a:avLst/>
          </a:prstGeom>
          <a:noFill/>
          <a:ln/>
        </p:spPr>
        <p:txBody>
          <a:bodyPr wrap="square" lIns="0" tIns="0" rIns="0" bIns="0" rtlCol="0" anchor="ctr"/>
          <a:lstStyle/>
          <a:p>
            <a:pPr indent="0" marL="0">
              <a:lnSpc>
                <a:spcPct val="115000"/>
              </a:lnSpc>
              <a:buNone/>
            </a:pPr>
            <a:r>
              <a:rPr lang="en-US" sz="950" dirty="0">
                <a:solidFill>
                  <a:srgbClr val="6B6459"/>
                </a:solidFill>
                <a:latin typeface="Calibri" pitchFamily="34" charset="0"/>
                <a:ea typeface="Calibri" pitchFamily="34" charset="-122"/>
                <a:cs typeface="Calibri" pitchFamily="34" charset="-120"/>
              </a:rPr>
              <a:t>上一代分类器将越狱成功率从86%降至4.4%</a:t>
            </a:r>
            <a:endParaRPr lang="en-US" sz="950" dirty="0"/>
          </a:p>
        </p:txBody>
      </p:sp>
      <p:sp>
        <p:nvSpPr>
          <p:cNvPr id="21" name="Shape 19"/>
          <p:cNvSpPr/>
          <p:nvPr/>
        </p:nvSpPr>
        <p:spPr>
          <a:xfrm>
            <a:off x="3209544" y="3383280"/>
            <a:ext cx="2542032" cy="1417320"/>
          </a:xfrm>
          <a:prstGeom prst="roundRect">
            <a:avLst>
              <a:gd name="adj" fmla="val 6452"/>
            </a:avLst>
          </a:prstGeom>
          <a:solidFill>
            <a:srgbClr val="FBF8F4"/>
          </a:solidFill>
          <a:ln w="9525">
            <a:solidFill>
              <a:srgbClr val="E4DCD0"/>
            </a:solidFill>
            <a:prstDash val="solid"/>
          </a:ln>
        </p:spPr>
      </p:sp>
      <p:sp>
        <p:nvSpPr>
          <p:cNvPr id="22" name="Text 20"/>
          <p:cNvSpPr/>
          <p:nvPr/>
        </p:nvSpPr>
        <p:spPr>
          <a:xfrm>
            <a:off x="3392424" y="3547872"/>
            <a:ext cx="2176272" cy="502920"/>
          </a:xfrm>
          <a:prstGeom prst="rect">
            <a:avLst/>
          </a:prstGeom>
          <a:noFill/>
          <a:ln/>
        </p:spPr>
        <p:txBody>
          <a:bodyPr wrap="square" lIns="0" tIns="0" rIns="0" bIns="0" rtlCol="0" anchor="ctr"/>
          <a:lstStyle/>
          <a:p>
            <a:pPr indent="0" marL="0">
              <a:buNone/>
            </a:pPr>
            <a:r>
              <a:rPr lang="en-US" sz="1700" b="1" dirty="0">
                <a:solidFill>
                  <a:srgbClr val="9C4F2C"/>
                </a:solidFill>
                <a:latin typeface="Cambria" pitchFamily="34" charset="0"/>
                <a:ea typeface="Cambria" pitchFamily="34" charset="-122"/>
                <a:cs typeface="Cambria" pitchFamily="34" charset="-120"/>
              </a:rPr>
              <a:t>0.05%</a:t>
            </a:r>
            <a:endParaRPr lang="en-US" sz="1700" dirty="0"/>
          </a:p>
        </p:txBody>
      </p:sp>
      <p:sp>
        <p:nvSpPr>
          <p:cNvPr id="23" name="Text 21"/>
          <p:cNvSpPr/>
          <p:nvPr/>
        </p:nvSpPr>
        <p:spPr>
          <a:xfrm>
            <a:off x="3392424" y="4069080"/>
            <a:ext cx="2176272" cy="658368"/>
          </a:xfrm>
          <a:prstGeom prst="rect">
            <a:avLst/>
          </a:prstGeom>
          <a:noFill/>
          <a:ln/>
        </p:spPr>
        <p:txBody>
          <a:bodyPr wrap="square" lIns="0" tIns="0" rIns="0" bIns="0" rtlCol="0" anchor="ctr"/>
          <a:lstStyle/>
          <a:p>
            <a:pPr indent="0" marL="0">
              <a:lnSpc>
                <a:spcPct val="115000"/>
              </a:lnSpc>
              <a:buNone/>
            </a:pPr>
            <a:r>
              <a:rPr lang="en-US" sz="950" dirty="0">
                <a:solidFill>
                  <a:srgbClr val="6B6459"/>
                </a:solidFill>
                <a:latin typeface="Calibri" pitchFamily="34" charset="0"/>
                <a:ea typeface="Calibri" pitchFamily="34" charset="-122"/>
                <a:cs typeface="Calibri" pitchFamily="34" charset="-120"/>
              </a:rPr>
              <a:t>新一代分类器生产环境标记率（较2025年的0.38%大幅降低）</a:t>
            </a:r>
            <a:endParaRPr lang="en-US" sz="950" dirty="0"/>
          </a:p>
        </p:txBody>
      </p:sp>
      <p:sp>
        <p:nvSpPr>
          <p:cNvPr id="24" name="Shape 22"/>
          <p:cNvSpPr/>
          <p:nvPr/>
        </p:nvSpPr>
        <p:spPr>
          <a:xfrm>
            <a:off x="5916168" y="3383280"/>
            <a:ext cx="2542032" cy="1417320"/>
          </a:xfrm>
          <a:prstGeom prst="roundRect">
            <a:avLst>
              <a:gd name="adj" fmla="val 6452"/>
            </a:avLst>
          </a:prstGeom>
          <a:solidFill>
            <a:srgbClr val="FBF8F4"/>
          </a:solidFill>
          <a:ln w="9525">
            <a:solidFill>
              <a:srgbClr val="E4DCD0"/>
            </a:solidFill>
            <a:prstDash val="solid"/>
          </a:ln>
        </p:spPr>
      </p:sp>
      <p:sp>
        <p:nvSpPr>
          <p:cNvPr id="25" name="Text 23"/>
          <p:cNvSpPr/>
          <p:nvPr/>
        </p:nvSpPr>
        <p:spPr>
          <a:xfrm>
            <a:off x="6099048" y="3547872"/>
            <a:ext cx="2176272" cy="502920"/>
          </a:xfrm>
          <a:prstGeom prst="rect">
            <a:avLst/>
          </a:prstGeom>
          <a:noFill/>
          <a:ln/>
        </p:spPr>
        <p:txBody>
          <a:bodyPr wrap="square" lIns="0" tIns="0" rIns="0" bIns="0" rtlCol="0" anchor="ctr"/>
          <a:lstStyle/>
          <a:p>
            <a:pPr indent="0" marL="0">
              <a:buNone/>
            </a:pPr>
            <a:r>
              <a:rPr lang="en-US" sz="1700" b="1" dirty="0">
                <a:solidFill>
                  <a:srgbClr val="9C4F2C"/>
                </a:solidFill>
                <a:latin typeface="Cambria" pitchFamily="34" charset="0"/>
                <a:ea typeface="Cambria" pitchFamily="34" charset="-122"/>
                <a:cs typeface="Cambria" pitchFamily="34" charset="-120"/>
              </a:rPr>
              <a:t>1,700+ 小时</a:t>
            </a:r>
            <a:endParaRPr lang="en-US" sz="1700" dirty="0"/>
          </a:p>
        </p:txBody>
      </p:sp>
      <p:sp>
        <p:nvSpPr>
          <p:cNvPr id="26" name="Text 24"/>
          <p:cNvSpPr/>
          <p:nvPr/>
        </p:nvSpPr>
        <p:spPr>
          <a:xfrm>
            <a:off x="6099048" y="4069080"/>
            <a:ext cx="2176272" cy="658368"/>
          </a:xfrm>
          <a:prstGeom prst="rect">
            <a:avLst/>
          </a:prstGeom>
          <a:noFill/>
          <a:ln/>
        </p:spPr>
        <p:txBody>
          <a:bodyPr wrap="square" lIns="0" tIns="0" rIns="0" bIns="0" rtlCol="0" anchor="ctr"/>
          <a:lstStyle/>
          <a:p>
            <a:pPr indent="0" marL="0">
              <a:lnSpc>
                <a:spcPct val="115000"/>
              </a:lnSpc>
              <a:buNone/>
            </a:pPr>
            <a:r>
              <a:rPr lang="en-US" sz="950" dirty="0">
                <a:solidFill>
                  <a:srgbClr val="6B6459"/>
                </a:solidFill>
                <a:latin typeface="Calibri" pitchFamily="34" charset="0"/>
                <a:ea typeface="Calibri" pitchFamily="34" charset="-122"/>
                <a:cs typeface="Calibri" pitchFamily="34" charset="-120"/>
              </a:rPr>
              <a:t>累计人工红队测试时长，未发现稳定的通用越狱</a:t>
            </a:r>
            <a:endParaRPr lang="en-US" sz="950" dirty="0"/>
          </a:p>
        </p:txBody>
      </p:sp>
      <p:sp>
        <p:nvSpPr>
          <p:cNvPr id="27" name="Shape 25"/>
          <p:cNvSpPr/>
          <p:nvPr/>
        </p:nvSpPr>
        <p:spPr>
          <a:xfrm>
            <a:off x="8622792" y="3383280"/>
            <a:ext cx="2542032" cy="1417320"/>
          </a:xfrm>
          <a:prstGeom prst="roundRect">
            <a:avLst>
              <a:gd name="adj" fmla="val 6452"/>
            </a:avLst>
          </a:prstGeom>
          <a:solidFill>
            <a:srgbClr val="FBF8F4"/>
          </a:solidFill>
          <a:ln w="9525">
            <a:solidFill>
              <a:srgbClr val="E4DCD0"/>
            </a:solidFill>
            <a:prstDash val="solid"/>
          </a:ln>
        </p:spPr>
      </p:sp>
      <p:sp>
        <p:nvSpPr>
          <p:cNvPr id="28" name="Text 26"/>
          <p:cNvSpPr/>
          <p:nvPr/>
        </p:nvSpPr>
        <p:spPr>
          <a:xfrm>
            <a:off x="8805672" y="3547872"/>
            <a:ext cx="2176272" cy="502920"/>
          </a:xfrm>
          <a:prstGeom prst="rect">
            <a:avLst/>
          </a:prstGeom>
          <a:noFill/>
          <a:ln/>
        </p:spPr>
        <p:txBody>
          <a:bodyPr wrap="square" lIns="0" tIns="0" rIns="0" bIns="0" rtlCol="0" anchor="ctr"/>
          <a:lstStyle/>
          <a:p>
            <a:pPr indent="0" marL="0">
              <a:buNone/>
            </a:pPr>
            <a:r>
              <a:rPr lang="en-US" sz="1700" b="1" dirty="0">
                <a:solidFill>
                  <a:srgbClr val="9C4F2C"/>
                </a:solidFill>
                <a:latin typeface="Cambria" pitchFamily="34" charset="0"/>
                <a:ea typeface="Cambria" pitchFamily="34" charset="-122"/>
                <a:cs typeface="Cambria" pitchFamily="34" charset="-120"/>
              </a:rPr>
              <a:t>8x / 40x</a:t>
            </a:r>
            <a:endParaRPr lang="en-US" sz="1700" dirty="0"/>
          </a:p>
        </p:txBody>
      </p:sp>
      <p:sp>
        <p:nvSpPr>
          <p:cNvPr id="29" name="Text 27"/>
          <p:cNvSpPr/>
          <p:nvPr/>
        </p:nvSpPr>
        <p:spPr>
          <a:xfrm>
            <a:off x="8805672" y="4069080"/>
            <a:ext cx="2176272" cy="658368"/>
          </a:xfrm>
          <a:prstGeom prst="rect">
            <a:avLst/>
          </a:prstGeom>
          <a:noFill/>
          <a:ln/>
        </p:spPr>
        <p:txBody>
          <a:bodyPr wrap="square" lIns="0" tIns="0" rIns="0" bIns="0" rtlCol="0" anchor="ctr"/>
          <a:lstStyle/>
          <a:p>
            <a:pPr indent="0" marL="0">
              <a:lnSpc>
                <a:spcPct val="115000"/>
              </a:lnSpc>
              <a:buNone/>
            </a:pPr>
            <a:r>
              <a:rPr lang="en-US" sz="950" dirty="0">
                <a:solidFill>
                  <a:srgbClr val="6B6459"/>
                </a:solidFill>
                <a:latin typeface="Calibri" pitchFamily="34" charset="0"/>
                <a:ea typeface="Calibri" pitchFamily="34" charset="-122"/>
                <a:cs typeface="Calibri" pitchFamily="34" charset="-120"/>
              </a:rPr>
              <a:t>计算开销较前代分别降低8倍与40倍，兼顾安全与性能</a:t>
            </a:r>
            <a:endParaRPr lang="en-US" sz="950" dirty="0"/>
          </a:p>
        </p:txBody>
      </p:sp>
      <p:sp>
        <p:nvSpPr>
          <p:cNvPr id="30" name="Text 28"/>
          <p:cNvSpPr/>
          <p:nvPr/>
        </p:nvSpPr>
        <p:spPr>
          <a:xfrm>
            <a:off x="502920" y="5074920"/>
            <a:ext cx="10332720" cy="365760"/>
          </a:xfrm>
          <a:prstGeom prst="rect">
            <a:avLst/>
          </a:prstGeom>
          <a:noFill/>
          <a:ln/>
        </p:spPr>
        <p:txBody>
          <a:bodyPr wrap="square" lIns="0" tIns="0" rIns="0" bIns="0" rtlCol="0" anchor="ctr"/>
          <a:lstStyle/>
          <a:p>
            <a:pPr indent="0" marL="0">
              <a:buNone/>
            </a:pPr>
            <a:r>
              <a:rPr lang="en-US" sz="1150" dirty="0">
                <a:solidFill>
                  <a:srgbClr val="6B6459"/>
                </a:solidFill>
                <a:latin typeface="Calibri" pitchFamily="34" charset="0"/>
                <a:ea typeface="Calibri" pitchFamily="34" charset="-122"/>
                <a:cs typeface="Calibri" pitchFamily="34" charset="-120"/>
              </a:rPr>
              <a:t>聚焦高危场景：化学、生物、放射性、核（CBRN）相关内容的越狱防御为首要目标</a:t>
            </a:r>
            <a:endParaRPr lang="en-US" sz="1150" dirty="0"/>
          </a:p>
        </p:txBody>
      </p:sp>
      <p:sp>
        <p:nvSpPr>
          <p:cNvPr id="31" name="Text 29"/>
          <p:cNvSpPr/>
          <p:nvPr/>
        </p:nvSpPr>
        <p:spPr>
          <a:xfrm>
            <a:off x="502920" y="6263640"/>
            <a:ext cx="10332720" cy="274320"/>
          </a:xfrm>
          <a:prstGeom prst="rect">
            <a:avLst/>
          </a:prstGeom>
          <a:noFill/>
          <a:ln/>
        </p:spPr>
        <p:txBody>
          <a:bodyPr wrap="square" lIns="0" tIns="0" rIns="0" bIns="0" rtlCol="0" anchor="ctr"/>
          <a:lstStyle/>
          <a:p>
            <a:pPr indent="0" marL="0">
              <a:buNone/>
            </a:pPr>
            <a:r>
              <a:rPr lang="en-US" sz="850" i="1" dirty="0">
                <a:solidFill>
                  <a:srgbClr val="6B6459"/>
                </a:solidFill>
                <a:latin typeface="Calibri" pitchFamily="34" charset="0"/>
                <a:ea typeface="Calibri" pitchFamily="34" charset="-122"/>
                <a:cs typeface="Calibri" pitchFamily="34" charset="-120"/>
              </a:rPr>
              <a:t>数据来源：Anthropic Safeguards Research Team 公开论文（2025-2026）</a:t>
            </a:r>
            <a:endParaRPr lang="en-US" sz="850" dirty="0"/>
          </a:p>
        </p:txBody>
      </p:sp>
      <p:sp>
        <p:nvSpPr>
          <p:cNvPr id="32" name="Text 30"/>
          <p:cNvSpPr/>
          <p:nvPr/>
        </p:nvSpPr>
        <p:spPr>
          <a:xfrm>
            <a:off x="457200" y="6547104"/>
            <a:ext cx="5486400" cy="256032"/>
          </a:xfrm>
          <a:prstGeom prst="rect">
            <a:avLst/>
          </a:prstGeom>
          <a:noFill/>
          <a:ln/>
        </p:spPr>
        <p:txBody>
          <a:bodyPr wrap="square" lIns="0" tIns="0" rIns="0" bIns="0" rtlCol="0" anchor="ctr"/>
          <a:lstStyle/>
          <a:p>
            <a:pPr algn="l" indent="0" marL="0">
              <a:buNone/>
            </a:pPr>
            <a:r>
              <a:rPr lang="en-US" sz="900" dirty="0">
                <a:solidFill>
                  <a:srgbClr val="6B6459"/>
                </a:solidFill>
                <a:latin typeface="Calibri" pitchFamily="34" charset="0"/>
                <a:ea typeface="Calibri" pitchFamily="34" charset="-122"/>
                <a:cs typeface="Calibri" pitchFamily="34" charset="-120"/>
              </a:rPr>
              <a:t>Anthropic 安全治理 · Constitutional Classifiers</a:t>
            </a:r>
            <a:endParaRPr lang="en-US" sz="900" dirty="0"/>
          </a:p>
        </p:txBody>
      </p:sp>
      <p:sp>
        <p:nvSpPr>
          <p:cNvPr id="33" name="Text 31"/>
          <p:cNvSpPr/>
          <p:nvPr/>
        </p:nvSpPr>
        <p:spPr>
          <a:xfrm>
            <a:off x="11338560" y="6547104"/>
            <a:ext cx="411480" cy="256032"/>
          </a:xfrm>
          <a:prstGeom prst="rect">
            <a:avLst/>
          </a:prstGeom>
          <a:noFill/>
          <a:ln/>
        </p:spPr>
        <p:txBody>
          <a:bodyPr wrap="square" lIns="0" tIns="0" rIns="0" bIns="0" rtlCol="0" anchor="ctr"/>
          <a:lstStyle/>
          <a:p>
            <a:pPr algn="r" indent="0" marL="0">
              <a:buNone/>
            </a:pPr>
            <a:r>
              <a:rPr lang="en-US" sz="900" dirty="0">
                <a:solidFill>
                  <a:srgbClr val="6B645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19"/>
        </a:solidFill>
      </p:bgPr>
    </p:bg>
    <p:spTree>
      <p:nvGrpSpPr>
        <p:cNvPr id="1" name=""/>
        <p:cNvGrpSpPr/>
        <p:nvPr/>
      </p:nvGrpSpPr>
      <p:grpSpPr>
        <a:xfrm>
          <a:off x="0" y="0"/>
          <a:ext cx="0" cy="0"/>
          <a:chOff x="0" y="0"/>
          <a:chExt cx="0" cy="0"/>
        </a:xfrm>
      </p:grpSpPr>
      <p:sp>
        <p:nvSpPr>
          <p:cNvPr id="2" name="Shape 0"/>
          <p:cNvSpPr/>
          <p:nvPr/>
        </p:nvSpPr>
        <p:spPr>
          <a:xfrm>
            <a:off x="502920" y="411480"/>
            <a:ext cx="1737360" cy="310896"/>
          </a:xfrm>
          <a:prstGeom prst="roundRect">
            <a:avLst>
              <a:gd name="adj" fmla="val 20588"/>
            </a:avLst>
          </a:prstGeom>
          <a:solidFill>
            <a:srgbClr val="C2693F"/>
          </a:solidFill>
          <a:ln/>
        </p:spPr>
      </p:sp>
      <p:sp>
        <p:nvSpPr>
          <p:cNvPr id="3" name="Text 1"/>
          <p:cNvSpPr/>
          <p:nvPr/>
        </p:nvSpPr>
        <p:spPr>
          <a:xfrm>
            <a:off x="502920" y="411480"/>
            <a:ext cx="173736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能力 05</a:t>
            </a:r>
            <a:endParaRPr lang="en-US" sz="1100" dirty="0"/>
          </a:p>
        </p:txBody>
      </p:sp>
      <p:sp>
        <p:nvSpPr>
          <p:cNvPr id="4" name="Text 2"/>
          <p:cNvSpPr/>
          <p:nvPr/>
        </p:nvSpPr>
        <p:spPr>
          <a:xfrm>
            <a:off x="502920" y="841248"/>
            <a:ext cx="10515600" cy="54864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机制可解释性：打开模型的“黑箱”</a:t>
            </a:r>
            <a:endParaRPr lang="en-US" sz="2500" dirty="0"/>
          </a:p>
        </p:txBody>
      </p:sp>
      <p:sp>
        <p:nvSpPr>
          <p:cNvPr id="5" name="Text 3"/>
          <p:cNvSpPr/>
          <p:nvPr/>
        </p:nvSpPr>
        <p:spPr>
          <a:xfrm>
            <a:off x="502920" y="1371600"/>
            <a:ext cx="10332720" cy="365760"/>
          </a:xfrm>
          <a:prstGeom prst="rect">
            <a:avLst/>
          </a:prstGeom>
          <a:noFill/>
          <a:ln/>
        </p:spPr>
        <p:txBody>
          <a:bodyPr wrap="square" lIns="0" tIns="0" rIns="0" bIns="0" rtlCol="0" anchor="ctr"/>
          <a:lstStyle/>
          <a:p>
            <a:pPr indent="0" marL="0">
              <a:buNone/>
            </a:pPr>
            <a:r>
              <a:rPr lang="en-US" sz="1250" dirty="0">
                <a:solidFill>
                  <a:srgbClr val="B8B2A6"/>
                </a:solidFill>
                <a:latin typeface="Calibri" pitchFamily="34" charset="0"/>
                <a:ea typeface="Calibri" pitchFamily="34" charset="-122"/>
                <a:cs typeface="Calibri" pitchFamily="34" charset="-120"/>
              </a:rPr>
              <a:t>“Claude 用文字说话，但用数字思考”——可解释性研究致力于让安全评估建立在对模型内部机制的真实理解上</a:t>
            </a:r>
            <a:endParaRPr lang="en-US" sz="1250" dirty="0"/>
          </a:p>
        </p:txBody>
      </p:sp>
      <p:sp>
        <p:nvSpPr>
          <p:cNvPr id="6" name="Shape 4"/>
          <p:cNvSpPr/>
          <p:nvPr/>
        </p:nvSpPr>
        <p:spPr>
          <a:xfrm>
            <a:off x="502920" y="1783080"/>
            <a:ext cx="5120640" cy="4114800"/>
          </a:xfrm>
          <a:prstGeom prst="roundRect">
            <a:avLst>
              <a:gd name="adj" fmla="val 2222"/>
            </a:avLst>
          </a:prstGeom>
          <a:solidFill>
            <a:srgbClr val="242422"/>
          </a:solidFill>
          <a:ln w="9525">
            <a:solidFill>
              <a:srgbClr val="3A3935"/>
            </a:solidFill>
            <a:prstDash val="solid"/>
          </a:ln>
        </p:spPr>
      </p:sp>
      <p:pic>
        <p:nvPicPr>
          <p:cNvPr id="7" name="Image 0" descr="/home/claude/anthropic_safety_deck/icons/microscope_white.png">    </p:cNvPr>
          <p:cNvPicPr>
            <a:picLocks noChangeAspect="1"/>
          </p:cNvPicPr>
          <p:nvPr/>
        </p:nvPicPr>
        <p:blipFill>
          <a:blip r:embed="rId1"/>
          <a:stretch>
            <a:fillRect/>
          </a:stretch>
        </p:blipFill>
        <p:spPr>
          <a:xfrm>
            <a:off x="822960" y="2011680"/>
            <a:ext cx="365760" cy="365760"/>
          </a:xfrm>
          <a:prstGeom prst="rect">
            <a:avLst/>
          </a:prstGeom>
        </p:spPr>
      </p:pic>
      <p:sp>
        <p:nvSpPr>
          <p:cNvPr id="8" name="Text 5"/>
          <p:cNvSpPr/>
          <p:nvPr/>
        </p:nvSpPr>
        <p:spPr>
          <a:xfrm>
            <a:off x="1298448" y="2011680"/>
            <a:ext cx="4206240" cy="4114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核心研究方向</a:t>
            </a:r>
            <a:endParaRPr lang="en-US" sz="1600" dirty="0"/>
          </a:p>
        </p:txBody>
      </p:sp>
      <p:sp>
        <p:nvSpPr>
          <p:cNvPr id="9" name="Shape 6"/>
          <p:cNvSpPr/>
          <p:nvPr/>
        </p:nvSpPr>
        <p:spPr>
          <a:xfrm>
            <a:off x="822960" y="2670048"/>
            <a:ext cx="82296" cy="82296"/>
          </a:xfrm>
          <a:prstGeom prst="ellipse">
            <a:avLst/>
          </a:prstGeom>
          <a:solidFill>
            <a:srgbClr val="C2693F"/>
          </a:solidFill>
          <a:ln/>
        </p:spPr>
      </p:sp>
      <p:sp>
        <p:nvSpPr>
          <p:cNvPr id="10" name="Text 7"/>
          <p:cNvSpPr/>
          <p:nvPr/>
        </p:nvSpPr>
        <p:spPr>
          <a:xfrm>
            <a:off x="1051560" y="2551176"/>
            <a:ext cx="4434840" cy="713232"/>
          </a:xfrm>
          <a:prstGeom prst="rect">
            <a:avLst/>
          </a:prstGeom>
          <a:noFill/>
          <a:ln/>
        </p:spPr>
        <p:txBody>
          <a:bodyPr wrap="square" lIns="0" tIns="0" rIns="0" bIns="0" rtlCol="0" anchor="ctr"/>
          <a:lstStyle/>
          <a:p>
            <a:pPr indent="0" marL="0">
              <a:lnSpc>
                <a:spcPct val="120000"/>
              </a:lnSpc>
              <a:buNone/>
            </a:pPr>
            <a:r>
              <a:rPr lang="en-US" sz="1050" dirty="0">
                <a:solidFill>
                  <a:srgbClr val="D8D4CB"/>
                </a:solidFill>
                <a:latin typeface="Calibri" pitchFamily="34" charset="0"/>
                <a:ea typeface="Calibri" pitchFamily="34" charset="-122"/>
                <a:cs typeface="Calibri" pitchFamily="34" charset="-120"/>
              </a:rPr>
              <a:t>归因图谱（Attribution Graphs）：追踪模型做出特定输出的内部决策步骤，并已开源</a:t>
            </a:r>
            <a:endParaRPr lang="en-US" sz="1050" dirty="0"/>
          </a:p>
        </p:txBody>
      </p:sp>
      <p:sp>
        <p:nvSpPr>
          <p:cNvPr id="11" name="Shape 8"/>
          <p:cNvSpPr/>
          <p:nvPr/>
        </p:nvSpPr>
        <p:spPr>
          <a:xfrm>
            <a:off x="822960" y="3474720"/>
            <a:ext cx="82296" cy="82296"/>
          </a:xfrm>
          <a:prstGeom prst="ellipse">
            <a:avLst/>
          </a:prstGeom>
          <a:solidFill>
            <a:srgbClr val="C2693F"/>
          </a:solidFill>
          <a:ln/>
        </p:spPr>
      </p:sp>
      <p:sp>
        <p:nvSpPr>
          <p:cNvPr id="12" name="Text 9"/>
          <p:cNvSpPr/>
          <p:nvPr/>
        </p:nvSpPr>
        <p:spPr>
          <a:xfrm>
            <a:off x="1051560" y="3355848"/>
            <a:ext cx="4434840" cy="713232"/>
          </a:xfrm>
          <a:prstGeom prst="rect">
            <a:avLst/>
          </a:prstGeom>
          <a:noFill/>
          <a:ln/>
        </p:spPr>
        <p:txBody>
          <a:bodyPr wrap="square" lIns="0" tIns="0" rIns="0" bIns="0" rtlCol="0" anchor="ctr"/>
          <a:lstStyle/>
          <a:p>
            <a:pPr indent="0" marL="0">
              <a:lnSpc>
                <a:spcPct val="120000"/>
              </a:lnSpc>
              <a:buNone/>
            </a:pPr>
            <a:r>
              <a:rPr lang="en-US" sz="1050" dirty="0">
                <a:solidFill>
                  <a:srgbClr val="D8D4CB"/>
                </a:solidFill>
                <a:latin typeface="Calibri" pitchFamily="34" charset="0"/>
                <a:ea typeface="Calibri" pitchFamily="34" charset="-122"/>
                <a:cs typeface="Calibri" pitchFamily="34" charset="-120"/>
              </a:rPr>
              <a:t>稀疏自编码器与电路分析：分解模型内部表征，识别可解释的概念特征</a:t>
            </a:r>
            <a:endParaRPr lang="en-US" sz="1050" dirty="0"/>
          </a:p>
        </p:txBody>
      </p:sp>
      <p:sp>
        <p:nvSpPr>
          <p:cNvPr id="13" name="Shape 10"/>
          <p:cNvSpPr/>
          <p:nvPr/>
        </p:nvSpPr>
        <p:spPr>
          <a:xfrm>
            <a:off x="822960" y="4279392"/>
            <a:ext cx="82296" cy="82296"/>
          </a:xfrm>
          <a:prstGeom prst="ellipse">
            <a:avLst/>
          </a:prstGeom>
          <a:solidFill>
            <a:srgbClr val="C2693F"/>
          </a:solidFill>
          <a:ln/>
        </p:spPr>
      </p:sp>
      <p:sp>
        <p:nvSpPr>
          <p:cNvPr id="14" name="Text 11"/>
          <p:cNvSpPr/>
          <p:nvPr/>
        </p:nvSpPr>
        <p:spPr>
          <a:xfrm>
            <a:off x="1051560" y="4160520"/>
            <a:ext cx="4434840" cy="713232"/>
          </a:xfrm>
          <a:prstGeom prst="rect">
            <a:avLst/>
          </a:prstGeom>
          <a:noFill/>
          <a:ln/>
        </p:spPr>
        <p:txBody>
          <a:bodyPr wrap="square" lIns="0" tIns="0" rIns="0" bIns="0" rtlCol="0" anchor="ctr"/>
          <a:lstStyle/>
          <a:p>
            <a:pPr indent="0" marL="0">
              <a:lnSpc>
                <a:spcPct val="120000"/>
              </a:lnSpc>
              <a:buNone/>
            </a:pPr>
            <a:r>
              <a:rPr lang="en-US" sz="1050" dirty="0">
                <a:solidFill>
                  <a:srgbClr val="D8D4CB"/>
                </a:solidFill>
                <a:latin typeface="Calibri" pitchFamily="34" charset="0"/>
                <a:ea typeface="Calibri" pitchFamily="34" charset="-122"/>
                <a:cs typeface="Calibri" pitchFamily="34" charset="-120"/>
              </a:rPr>
              <a:t>对齐压力测试：使用“模型有机体”进行红队测试，验证对齐假设的稳健性</a:t>
            </a:r>
            <a:endParaRPr lang="en-US" sz="1050" dirty="0"/>
          </a:p>
        </p:txBody>
      </p:sp>
      <p:sp>
        <p:nvSpPr>
          <p:cNvPr id="15" name="Shape 12"/>
          <p:cNvSpPr/>
          <p:nvPr/>
        </p:nvSpPr>
        <p:spPr>
          <a:xfrm>
            <a:off x="822960" y="5084064"/>
            <a:ext cx="82296" cy="82296"/>
          </a:xfrm>
          <a:prstGeom prst="ellipse">
            <a:avLst/>
          </a:prstGeom>
          <a:solidFill>
            <a:srgbClr val="C2693F"/>
          </a:solidFill>
          <a:ln/>
        </p:spPr>
      </p:sp>
      <p:sp>
        <p:nvSpPr>
          <p:cNvPr id="16" name="Text 13"/>
          <p:cNvSpPr/>
          <p:nvPr/>
        </p:nvSpPr>
        <p:spPr>
          <a:xfrm>
            <a:off x="1051560" y="4965192"/>
            <a:ext cx="4434840" cy="713232"/>
          </a:xfrm>
          <a:prstGeom prst="rect">
            <a:avLst/>
          </a:prstGeom>
          <a:noFill/>
          <a:ln/>
        </p:spPr>
        <p:txBody>
          <a:bodyPr wrap="square" lIns="0" tIns="0" rIns="0" bIns="0" rtlCol="0" anchor="ctr"/>
          <a:lstStyle/>
          <a:p>
            <a:pPr indent="0" marL="0">
              <a:lnSpc>
                <a:spcPct val="120000"/>
              </a:lnSpc>
              <a:buNone/>
            </a:pPr>
            <a:r>
              <a:rPr lang="en-US" sz="1050" dirty="0">
                <a:solidFill>
                  <a:srgbClr val="D8D4CB"/>
                </a:solidFill>
                <a:latin typeface="Calibri" pitchFamily="34" charset="0"/>
                <a:ea typeface="Calibri" pitchFamily="34" charset="-122"/>
                <a:cs typeface="Calibri" pitchFamily="34" charset="-120"/>
              </a:rPr>
              <a:t>情感与人格向量：2026年4月研究识别出171个情感概念向量，可因果性地影响模型行为</a:t>
            </a:r>
            <a:endParaRPr lang="en-US" sz="1050" dirty="0"/>
          </a:p>
        </p:txBody>
      </p:sp>
      <p:sp>
        <p:nvSpPr>
          <p:cNvPr id="17" name="Shape 14"/>
          <p:cNvSpPr/>
          <p:nvPr/>
        </p:nvSpPr>
        <p:spPr>
          <a:xfrm>
            <a:off x="5806440" y="1783080"/>
            <a:ext cx="5897880" cy="4114800"/>
          </a:xfrm>
          <a:prstGeom prst="roundRect">
            <a:avLst>
              <a:gd name="adj" fmla="val 2222"/>
            </a:avLst>
          </a:prstGeom>
          <a:solidFill>
            <a:srgbClr val="C2693F"/>
          </a:solidFill>
          <a:ln/>
          <a:effectLst>
            <a:outerShdw sx="100000" sy="100000" kx="0" ky="0" algn="bl" rotWithShape="0" blurRad="101600" dist="38100" dir="5400000">
              <a:srgbClr val="000000">
                <a:alpha val="12000"/>
              </a:srgbClr>
            </a:outerShdw>
          </a:effectLst>
        </p:spPr>
      </p:sp>
      <p:sp>
        <p:nvSpPr>
          <p:cNvPr id="18" name="Text 15"/>
          <p:cNvSpPr/>
          <p:nvPr/>
        </p:nvSpPr>
        <p:spPr>
          <a:xfrm>
            <a:off x="6172200" y="2011680"/>
            <a:ext cx="5120640" cy="4114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在安全评估中的实际应用</a:t>
            </a:r>
            <a:endParaRPr lang="en-US" sz="1600" dirty="0"/>
          </a:p>
        </p:txBody>
      </p:sp>
      <p:sp>
        <p:nvSpPr>
          <p:cNvPr id="19" name="Text 16"/>
          <p:cNvSpPr/>
          <p:nvPr/>
        </p:nvSpPr>
        <p:spPr>
          <a:xfrm>
            <a:off x="6172200" y="2606040"/>
            <a:ext cx="516636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发布前安全评估</a:t>
            </a:r>
            <a:endParaRPr lang="en-US" sz="1300" dirty="0"/>
          </a:p>
        </p:txBody>
      </p:sp>
      <p:sp>
        <p:nvSpPr>
          <p:cNvPr id="20" name="Text 17"/>
          <p:cNvSpPr/>
          <p:nvPr/>
        </p:nvSpPr>
        <p:spPr>
          <a:xfrm>
            <a:off x="6172200" y="2916936"/>
            <a:ext cx="5166360" cy="685800"/>
          </a:xfrm>
          <a:prstGeom prst="rect">
            <a:avLst/>
          </a:prstGeom>
          <a:noFill/>
          <a:ln/>
        </p:spPr>
        <p:txBody>
          <a:bodyPr wrap="square" lIns="0" tIns="0" rIns="0" bIns="0" rtlCol="0" anchor="ctr"/>
          <a:lstStyle/>
          <a:p>
            <a:pPr indent="0" marL="0">
              <a:lnSpc>
                <a:spcPct val="120000"/>
              </a:lnSpc>
              <a:buNone/>
            </a:pPr>
            <a:r>
              <a:rPr lang="en-US" sz="1050" dirty="0">
                <a:solidFill>
                  <a:srgbClr val="FBEAE0"/>
                </a:solidFill>
                <a:latin typeface="Calibri" pitchFamily="34" charset="0"/>
                <a:ea typeface="Calibri" pitchFamily="34" charset="-122"/>
                <a:cs typeface="Calibri" pitchFamily="34" charset="-120"/>
              </a:rPr>
              <a:t>Claude Sonnet 4.5 发布前，研究人员检查内部特征以排查危险能力、欺骗倾向或非预期目标</a:t>
            </a:r>
            <a:endParaRPr lang="en-US" sz="1050" dirty="0"/>
          </a:p>
        </p:txBody>
      </p:sp>
      <p:sp>
        <p:nvSpPr>
          <p:cNvPr id="21" name="Text 18"/>
          <p:cNvSpPr/>
          <p:nvPr/>
        </p:nvSpPr>
        <p:spPr>
          <a:xfrm>
            <a:off x="6172200" y="3685032"/>
            <a:ext cx="516636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越狱检测探针</a:t>
            </a:r>
            <a:endParaRPr lang="en-US" sz="1300" dirty="0"/>
          </a:p>
        </p:txBody>
      </p:sp>
      <p:sp>
        <p:nvSpPr>
          <p:cNvPr id="22" name="Text 19"/>
          <p:cNvSpPr/>
          <p:nvPr/>
        </p:nvSpPr>
        <p:spPr>
          <a:xfrm>
            <a:off x="6172200" y="3995928"/>
            <a:ext cx="5166360" cy="685800"/>
          </a:xfrm>
          <a:prstGeom prst="rect">
            <a:avLst/>
          </a:prstGeom>
          <a:noFill/>
          <a:ln/>
        </p:spPr>
        <p:txBody>
          <a:bodyPr wrap="square" lIns="0" tIns="0" rIns="0" bIns="0" rtlCol="0" anchor="ctr"/>
          <a:lstStyle/>
          <a:p>
            <a:pPr indent="0" marL="0">
              <a:lnSpc>
                <a:spcPct val="120000"/>
              </a:lnSpc>
              <a:buNone/>
            </a:pPr>
            <a:r>
              <a:rPr lang="en-US" sz="1050" dirty="0">
                <a:solidFill>
                  <a:srgbClr val="FBEAE0"/>
                </a:solidFill>
                <a:latin typeface="Calibri" pitchFamily="34" charset="0"/>
                <a:ea typeface="Calibri" pitchFamily="34" charset="-122"/>
                <a:cs typeface="Calibri" pitchFamily="34" charset="-120"/>
              </a:rPr>
              <a:t>Constitutional Classifiers 新一代架构直接将可解释性探针接入安全防护链路</a:t>
            </a:r>
            <a:endParaRPr lang="en-US" sz="1050" dirty="0"/>
          </a:p>
        </p:txBody>
      </p:sp>
      <p:sp>
        <p:nvSpPr>
          <p:cNvPr id="23" name="Text 20"/>
          <p:cNvSpPr/>
          <p:nvPr/>
        </p:nvSpPr>
        <p:spPr>
          <a:xfrm>
            <a:off x="6172200" y="4764024"/>
            <a:ext cx="516636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“AI测谎”方向探索</a:t>
            </a:r>
            <a:endParaRPr lang="en-US" sz="1300" dirty="0"/>
          </a:p>
        </p:txBody>
      </p:sp>
      <p:sp>
        <p:nvSpPr>
          <p:cNvPr id="24" name="Text 21"/>
          <p:cNvSpPr/>
          <p:nvPr/>
        </p:nvSpPr>
        <p:spPr>
          <a:xfrm>
            <a:off x="6172200" y="5074920"/>
            <a:ext cx="5166360" cy="685800"/>
          </a:xfrm>
          <a:prstGeom prst="rect">
            <a:avLst/>
          </a:prstGeom>
          <a:noFill/>
          <a:ln/>
        </p:spPr>
        <p:txBody>
          <a:bodyPr wrap="square" lIns="0" tIns="0" rIns="0" bIns="0" rtlCol="0" anchor="ctr"/>
          <a:lstStyle/>
          <a:p>
            <a:pPr indent="0" marL="0">
              <a:lnSpc>
                <a:spcPct val="120000"/>
              </a:lnSpc>
              <a:buNone/>
            </a:pPr>
            <a:r>
              <a:rPr lang="en-US" sz="1050" dirty="0">
                <a:solidFill>
                  <a:srgbClr val="FBEAE0"/>
                </a:solidFill>
                <a:latin typeface="Calibri" pitchFamily="34" charset="0"/>
                <a:ea typeface="Calibri" pitchFamily="34" charset="-122"/>
                <a:cs typeface="Calibri" pitchFamily="34" charset="-120"/>
              </a:rPr>
              <a:t>通过模型内部表征判断输出是否与内部状态一致，应对策略性欺骗这一核心难题</a:t>
            </a:r>
            <a:endParaRPr lang="en-US" sz="1050" dirty="0"/>
          </a:p>
        </p:txBody>
      </p:sp>
      <p:sp>
        <p:nvSpPr>
          <p:cNvPr id="25" name="Text 22"/>
          <p:cNvSpPr/>
          <p:nvPr/>
        </p:nvSpPr>
        <p:spPr>
          <a:xfrm>
            <a:off x="457200" y="6547104"/>
            <a:ext cx="5486400" cy="256032"/>
          </a:xfrm>
          <a:prstGeom prst="rect">
            <a:avLst/>
          </a:prstGeom>
          <a:noFill/>
          <a:ln/>
        </p:spPr>
        <p:txBody>
          <a:bodyPr wrap="square" lIns="0" tIns="0" rIns="0" bIns="0" rtlCol="0" anchor="ctr"/>
          <a:lstStyle/>
          <a:p>
            <a:pPr algn="l" indent="0" marL="0">
              <a:buNone/>
            </a:pPr>
            <a:r>
              <a:rPr lang="en-US" sz="900" dirty="0">
                <a:solidFill>
                  <a:srgbClr val="6B6459"/>
                </a:solidFill>
                <a:latin typeface="Calibri" pitchFamily="34" charset="0"/>
                <a:ea typeface="Calibri" pitchFamily="34" charset="-122"/>
                <a:cs typeface="Calibri" pitchFamily="34" charset="-120"/>
              </a:rPr>
              <a:t>Anthropic 安全治理 · 机制可解释性</a:t>
            </a:r>
            <a:endParaRPr lang="en-US" sz="900" dirty="0"/>
          </a:p>
        </p:txBody>
      </p:sp>
      <p:sp>
        <p:nvSpPr>
          <p:cNvPr id="26" name="Text 23"/>
          <p:cNvSpPr/>
          <p:nvPr/>
        </p:nvSpPr>
        <p:spPr>
          <a:xfrm>
            <a:off x="11338560" y="6547104"/>
            <a:ext cx="411480" cy="256032"/>
          </a:xfrm>
          <a:prstGeom prst="rect">
            <a:avLst/>
          </a:prstGeom>
          <a:noFill/>
          <a:ln/>
        </p:spPr>
        <p:txBody>
          <a:bodyPr wrap="square" lIns="0" tIns="0" rIns="0" bIns="0" rtlCol="0" anchor="ctr"/>
          <a:lstStyle/>
          <a:p>
            <a:pPr algn="r" indent="0" marL="0">
              <a:buNone/>
            </a:pPr>
            <a:r>
              <a:rPr lang="en-US" sz="900" dirty="0">
                <a:solidFill>
                  <a:srgbClr val="6B645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8F4"/>
        </a:solidFill>
      </p:bgPr>
    </p:bg>
    <p:spTree>
      <p:nvGrpSpPr>
        <p:cNvPr id="1" name=""/>
        <p:cNvGrpSpPr/>
        <p:nvPr/>
      </p:nvGrpSpPr>
      <p:grpSpPr>
        <a:xfrm>
          <a:off x="0" y="0"/>
          <a:ext cx="0" cy="0"/>
          <a:chOff x="0" y="0"/>
          <a:chExt cx="0" cy="0"/>
        </a:xfrm>
      </p:grpSpPr>
      <p:sp>
        <p:nvSpPr>
          <p:cNvPr id="2" name="Shape 0"/>
          <p:cNvSpPr/>
          <p:nvPr/>
        </p:nvSpPr>
        <p:spPr>
          <a:xfrm>
            <a:off x="502920" y="411480"/>
            <a:ext cx="1737360" cy="310896"/>
          </a:xfrm>
          <a:prstGeom prst="roundRect">
            <a:avLst>
              <a:gd name="adj" fmla="val 20588"/>
            </a:avLst>
          </a:prstGeom>
          <a:solidFill>
            <a:srgbClr val="C2693F"/>
          </a:solidFill>
          <a:ln/>
        </p:spPr>
      </p:sp>
      <p:sp>
        <p:nvSpPr>
          <p:cNvPr id="3" name="Text 1"/>
          <p:cNvSpPr/>
          <p:nvPr/>
        </p:nvSpPr>
        <p:spPr>
          <a:xfrm>
            <a:off x="502920" y="411480"/>
            <a:ext cx="173736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能力 06</a:t>
            </a:r>
            <a:endParaRPr lang="en-US" sz="1100" dirty="0"/>
          </a:p>
        </p:txBody>
      </p:sp>
      <p:sp>
        <p:nvSpPr>
          <p:cNvPr id="4" name="Text 2"/>
          <p:cNvSpPr/>
          <p:nvPr/>
        </p:nvSpPr>
        <p:spPr>
          <a:xfrm>
            <a:off x="502920" y="841248"/>
            <a:ext cx="10515600" cy="548640"/>
          </a:xfrm>
          <a:prstGeom prst="rect">
            <a:avLst/>
          </a:prstGeom>
          <a:noFill/>
          <a:ln/>
        </p:spPr>
        <p:txBody>
          <a:bodyPr wrap="square" lIns="0" tIns="0" rIns="0" bIns="0" rtlCol="0" anchor="ctr"/>
          <a:lstStyle/>
          <a:p>
            <a:pPr indent="0" marL="0">
              <a:buNone/>
            </a:pPr>
            <a:r>
              <a:rPr lang="en-US" sz="2400" b="1" dirty="0">
                <a:solidFill>
                  <a:srgbClr val="262420"/>
                </a:solidFill>
                <a:latin typeface="Cambria" pitchFamily="34" charset="0"/>
                <a:ea typeface="Cambria" pitchFamily="34" charset="-122"/>
                <a:cs typeface="Cambria" pitchFamily="34" charset="-120"/>
              </a:rPr>
              <a:t>外部红队与政府协作：独立验证而非自我审查</a:t>
            </a:r>
            <a:endParaRPr lang="en-US" sz="2400" dirty="0"/>
          </a:p>
        </p:txBody>
      </p:sp>
      <p:sp>
        <p:nvSpPr>
          <p:cNvPr id="5" name="Text 3"/>
          <p:cNvSpPr/>
          <p:nvPr/>
        </p:nvSpPr>
        <p:spPr>
          <a:xfrm>
            <a:off x="502920" y="1371600"/>
            <a:ext cx="10332720" cy="365760"/>
          </a:xfrm>
          <a:prstGeom prst="rect">
            <a:avLst/>
          </a:prstGeom>
          <a:noFill/>
          <a:ln/>
        </p:spPr>
        <p:txBody>
          <a:bodyPr wrap="square" lIns="0" tIns="0" rIns="0" bIns="0" rtlCol="0" anchor="ctr"/>
          <a:lstStyle/>
          <a:p>
            <a:pPr indent="0" marL="0">
              <a:buNone/>
            </a:pPr>
            <a:r>
              <a:rPr lang="en-US" sz="1250" dirty="0">
                <a:solidFill>
                  <a:srgbClr val="6B6459"/>
                </a:solidFill>
                <a:latin typeface="Calibri" pitchFamily="34" charset="0"/>
                <a:ea typeface="Calibri" pitchFamily="34" charset="-122"/>
                <a:cs typeface="Calibri" pitchFamily="34" charset="-120"/>
              </a:rPr>
              <a:t>通过自愿协议引入政府机构与独立研究组织，在发布前对模型进行第三方压力测试</a:t>
            </a:r>
            <a:endParaRPr lang="en-US" sz="1250" dirty="0"/>
          </a:p>
        </p:txBody>
      </p:sp>
      <p:sp>
        <p:nvSpPr>
          <p:cNvPr id="6" name="Shape 4"/>
          <p:cNvSpPr/>
          <p:nvPr/>
        </p:nvSpPr>
        <p:spPr>
          <a:xfrm>
            <a:off x="502920" y="1965960"/>
            <a:ext cx="2542032" cy="3200400"/>
          </a:xfrm>
          <a:prstGeom prst="roundRect">
            <a:avLst>
              <a:gd name="adj" fmla="val 3597"/>
            </a:avLst>
          </a:prstGeom>
          <a:solidFill>
            <a:srgbClr val="1A1A19"/>
          </a:solidFill>
          <a:ln/>
          <a:effectLst>
            <a:outerShdw sx="100000" sy="100000" kx="0" ky="0" algn="bl" rotWithShape="0" blurRad="101600" dist="38100" dir="5400000">
              <a:srgbClr val="000000">
                <a:alpha val="12000"/>
              </a:srgbClr>
            </a:outerShdw>
          </a:effectLst>
        </p:spPr>
      </p:sp>
      <p:sp>
        <p:nvSpPr>
          <p:cNvPr id="7" name="Shape 5"/>
          <p:cNvSpPr/>
          <p:nvPr/>
        </p:nvSpPr>
        <p:spPr>
          <a:xfrm>
            <a:off x="731520" y="2221992"/>
            <a:ext cx="502920" cy="502920"/>
          </a:xfrm>
          <a:prstGeom prst="ellipse">
            <a:avLst/>
          </a:prstGeom>
          <a:solidFill>
            <a:srgbClr val="C2693F"/>
          </a:solidFill>
          <a:ln/>
        </p:spPr>
      </p:sp>
      <p:pic>
        <p:nvPicPr>
          <p:cNvPr id="8" name="Image 0" descr="/home/claude/anthropic_safety_deck/icons/university_white.png">    </p:cNvPr>
          <p:cNvPicPr>
            <a:picLocks noChangeAspect="1"/>
          </p:cNvPicPr>
          <p:nvPr/>
        </p:nvPicPr>
        <p:blipFill>
          <a:blip r:embed="rId1"/>
          <a:stretch>
            <a:fillRect/>
          </a:stretch>
        </p:blipFill>
        <p:spPr>
          <a:xfrm>
            <a:off x="850392" y="2340864"/>
            <a:ext cx="265176" cy="265176"/>
          </a:xfrm>
          <a:prstGeom prst="rect">
            <a:avLst/>
          </a:prstGeom>
        </p:spPr>
      </p:pic>
      <p:sp>
        <p:nvSpPr>
          <p:cNvPr id="9" name="Text 6"/>
          <p:cNvSpPr/>
          <p:nvPr/>
        </p:nvSpPr>
        <p:spPr>
          <a:xfrm>
            <a:off x="685800" y="2834640"/>
            <a:ext cx="2176272"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US CAISI</a:t>
            </a:r>
            <a:endParaRPr lang="en-US" sz="1400" dirty="0"/>
          </a:p>
        </p:txBody>
      </p:sp>
      <p:sp>
        <p:nvSpPr>
          <p:cNvPr id="10" name="Text 7"/>
          <p:cNvSpPr/>
          <p:nvPr/>
        </p:nvSpPr>
        <p:spPr>
          <a:xfrm>
            <a:off x="685800" y="3182112"/>
            <a:ext cx="2176272" cy="411480"/>
          </a:xfrm>
          <a:prstGeom prst="rect">
            <a:avLst/>
          </a:prstGeom>
          <a:noFill/>
          <a:ln/>
        </p:spPr>
        <p:txBody>
          <a:bodyPr wrap="square" lIns="0" tIns="0" rIns="0" bIns="0" rtlCol="0" anchor="ctr"/>
          <a:lstStyle/>
          <a:p>
            <a:pPr indent="0" marL="0">
              <a:lnSpc>
                <a:spcPct val="110000"/>
              </a:lnSpc>
              <a:buNone/>
            </a:pPr>
            <a:r>
              <a:rPr lang="en-US" sz="950" i="1" dirty="0">
                <a:solidFill>
                  <a:srgbClr val="C2693F"/>
                </a:solidFill>
                <a:latin typeface="Calibri" pitchFamily="34" charset="0"/>
                <a:ea typeface="Calibri" pitchFamily="34" charset="-122"/>
                <a:cs typeface="Calibri" pitchFamily="34" charset="-120"/>
              </a:rPr>
              <a:t>美国AI标准与创新中心</a:t>
            </a:r>
            <a:endParaRPr lang="en-US" sz="950" dirty="0"/>
          </a:p>
        </p:txBody>
      </p:sp>
      <p:sp>
        <p:nvSpPr>
          <p:cNvPr id="11" name="Text 8"/>
          <p:cNvSpPr/>
          <p:nvPr/>
        </p:nvSpPr>
        <p:spPr>
          <a:xfrm>
            <a:off x="685800" y="3657600"/>
            <a:ext cx="2176272" cy="1417320"/>
          </a:xfrm>
          <a:prstGeom prst="rect">
            <a:avLst/>
          </a:prstGeom>
          <a:noFill/>
          <a:ln/>
        </p:spPr>
        <p:txBody>
          <a:bodyPr wrap="square" lIns="0" tIns="0" rIns="0" bIns="0" rtlCol="0" anchor="ctr"/>
          <a:lstStyle/>
          <a:p>
            <a:pPr indent="0" marL="0">
              <a:lnSpc>
                <a:spcPct val="120000"/>
              </a:lnSpc>
              <a:buNone/>
            </a:pPr>
            <a:r>
              <a:rPr lang="en-US" sz="950" dirty="0">
                <a:solidFill>
                  <a:srgbClr val="C9C5BC"/>
                </a:solidFill>
                <a:latin typeface="Calibri" pitchFamily="34" charset="0"/>
                <a:ea typeface="Calibri" pitchFamily="34" charset="-122"/>
                <a:cs typeface="Calibri" pitchFamily="34" charset="-120"/>
              </a:rPr>
              <a:t>联合测试 Constitutional Classifiers 多个迭代版本；政府红队识别漏洞，技术团队据此强化防护</a:t>
            </a:r>
            <a:endParaRPr lang="en-US" sz="950" dirty="0"/>
          </a:p>
        </p:txBody>
      </p:sp>
      <p:sp>
        <p:nvSpPr>
          <p:cNvPr id="12" name="Shape 9"/>
          <p:cNvSpPr/>
          <p:nvPr/>
        </p:nvSpPr>
        <p:spPr>
          <a:xfrm>
            <a:off x="3209544" y="1965960"/>
            <a:ext cx="2542032" cy="3200400"/>
          </a:xfrm>
          <a:prstGeom prst="roundRect">
            <a:avLst>
              <a:gd name="adj" fmla="val 3597"/>
            </a:avLst>
          </a:prstGeom>
          <a:solidFill>
            <a:srgbClr val="1A1A19"/>
          </a:solidFill>
          <a:ln/>
          <a:effectLst>
            <a:outerShdw sx="100000" sy="100000" kx="0" ky="0" algn="bl" rotWithShape="0" blurRad="101600" dist="38100" dir="5400000">
              <a:srgbClr val="000000">
                <a:alpha val="12000"/>
              </a:srgbClr>
            </a:outerShdw>
          </a:effectLst>
        </p:spPr>
      </p:sp>
      <p:sp>
        <p:nvSpPr>
          <p:cNvPr id="13" name="Shape 10"/>
          <p:cNvSpPr/>
          <p:nvPr/>
        </p:nvSpPr>
        <p:spPr>
          <a:xfrm>
            <a:off x="3438144" y="2221992"/>
            <a:ext cx="502920" cy="502920"/>
          </a:xfrm>
          <a:prstGeom prst="ellipse">
            <a:avLst/>
          </a:prstGeom>
          <a:solidFill>
            <a:srgbClr val="C2693F"/>
          </a:solidFill>
          <a:ln/>
        </p:spPr>
      </p:sp>
      <p:pic>
        <p:nvPicPr>
          <p:cNvPr id="14" name="Image 1" descr="/home/claude/anthropic_safety_deck/icons/university_white.png">    </p:cNvPr>
          <p:cNvPicPr>
            <a:picLocks noChangeAspect="1"/>
          </p:cNvPicPr>
          <p:nvPr/>
        </p:nvPicPr>
        <p:blipFill>
          <a:blip r:embed="rId2"/>
          <a:stretch>
            <a:fillRect/>
          </a:stretch>
        </p:blipFill>
        <p:spPr>
          <a:xfrm>
            <a:off x="3557016" y="2340864"/>
            <a:ext cx="265176" cy="265176"/>
          </a:xfrm>
          <a:prstGeom prst="rect">
            <a:avLst/>
          </a:prstGeom>
        </p:spPr>
      </p:pic>
      <p:sp>
        <p:nvSpPr>
          <p:cNvPr id="15" name="Text 11"/>
          <p:cNvSpPr/>
          <p:nvPr/>
        </p:nvSpPr>
        <p:spPr>
          <a:xfrm>
            <a:off x="3392424" y="2834640"/>
            <a:ext cx="2176272"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UK AISI</a:t>
            </a:r>
            <a:endParaRPr lang="en-US" sz="1400" dirty="0"/>
          </a:p>
        </p:txBody>
      </p:sp>
      <p:sp>
        <p:nvSpPr>
          <p:cNvPr id="16" name="Text 12"/>
          <p:cNvSpPr/>
          <p:nvPr/>
        </p:nvSpPr>
        <p:spPr>
          <a:xfrm>
            <a:off x="3392424" y="3182112"/>
            <a:ext cx="2176272" cy="411480"/>
          </a:xfrm>
          <a:prstGeom prst="rect">
            <a:avLst/>
          </a:prstGeom>
          <a:noFill/>
          <a:ln/>
        </p:spPr>
        <p:txBody>
          <a:bodyPr wrap="square" lIns="0" tIns="0" rIns="0" bIns="0" rtlCol="0" anchor="ctr"/>
          <a:lstStyle/>
          <a:p>
            <a:pPr indent="0" marL="0">
              <a:lnSpc>
                <a:spcPct val="110000"/>
              </a:lnSpc>
              <a:buNone/>
            </a:pPr>
            <a:r>
              <a:rPr lang="en-US" sz="950" i="1" dirty="0">
                <a:solidFill>
                  <a:srgbClr val="C2693F"/>
                </a:solidFill>
                <a:latin typeface="Calibri" pitchFamily="34" charset="0"/>
                <a:ea typeface="Calibri" pitchFamily="34" charset="-122"/>
                <a:cs typeface="Calibri" pitchFamily="34" charset="-120"/>
              </a:rPr>
              <a:t>英国AI安全研究院（约£3.6亿预算）</a:t>
            </a:r>
            <a:endParaRPr lang="en-US" sz="950" dirty="0"/>
          </a:p>
        </p:txBody>
      </p:sp>
      <p:sp>
        <p:nvSpPr>
          <p:cNvPr id="17" name="Text 13"/>
          <p:cNvSpPr/>
          <p:nvPr/>
        </p:nvSpPr>
        <p:spPr>
          <a:xfrm>
            <a:off x="3392424" y="3657600"/>
            <a:ext cx="2176272" cy="1417320"/>
          </a:xfrm>
          <a:prstGeom prst="rect">
            <a:avLst/>
          </a:prstGeom>
          <a:noFill/>
          <a:ln/>
        </p:spPr>
        <p:txBody>
          <a:bodyPr wrap="square" lIns="0" tIns="0" rIns="0" bIns="0" rtlCol="0" anchor="ctr"/>
          <a:lstStyle/>
          <a:p>
            <a:pPr indent="0" marL="0">
              <a:lnSpc>
                <a:spcPct val="120000"/>
              </a:lnSpc>
              <a:buNone/>
            </a:pPr>
            <a:r>
              <a:rPr lang="en-US" sz="950" dirty="0">
                <a:solidFill>
                  <a:srgbClr val="C9C5BC"/>
                </a:solidFill>
                <a:latin typeface="Calibri" pitchFamily="34" charset="0"/>
                <a:ea typeface="Calibri" pitchFamily="34" charset="-122"/>
                <a:cs typeface="Calibri" pitchFamily="34" charset="-120"/>
              </a:rPr>
              <a:t>约100人团队，对包括未发布的 Mythos 在内的前沿模型进行预发布评估</a:t>
            </a:r>
            <a:endParaRPr lang="en-US" sz="950" dirty="0"/>
          </a:p>
        </p:txBody>
      </p:sp>
      <p:sp>
        <p:nvSpPr>
          <p:cNvPr id="18" name="Shape 14"/>
          <p:cNvSpPr/>
          <p:nvPr/>
        </p:nvSpPr>
        <p:spPr>
          <a:xfrm>
            <a:off x="5916168" y="1965960"/>
            <a:ext cx="2542032" cy="3200400"/>
          </a:xfrm>
          <a:prstGeom prst="roundRect">
            <a:avLst>
              <a:gd name="adj" fmla="val 3597"/>
            </a:avLst>
          </a:prstGeom>
          <a:solidFill>
            <a:srgbClr val="1A1A19"/>
          </a:solidFill>
          <a:ln/>
          <a:effectLst>
            <a:outerShdw sx="100000" sy="100000" kx="0" ky="0" algn="bl" rotWithShape="0" blurRad="101600" dist="38100" dir="5400000">
              <a:srgbClr val="000000">
                <a:alpha val="12000"/>
              </a:srgbClr>
            </a:outerShdw>
          </a:effectLst>
        </p:spPr>
      </p:sp>
      <p:sp>
        <p:nvSpPr>
          <p:cNvPr id="19" name="Shape 15"/>
          <p:cNvSpPr/>
          <p:nvPr/>
        </p:nvSpPr>
        <p:spPr>
          <a:xfrm>
            <a:off x="6144768" y="2221992"/>
            <a:ext cx="502920" cy="502920"/>
          </a:xfrm>
          <a:prstGeom prst="ellipse">
            <a:avLst/>
          </a:prstGeom>
          <a:solidFill>
            <a:srgbClr val="C2693F"/>
          </a:solidFill>
          <a:ln/>
        </p:spPr>
      </p:sp>
      <p:pic>
        <p:nvPicPr>
          <p:cNvPr id="20" name="Image 2" descr="/home/claude/anthropic_safety_deck/icons/searchplus_white.png">    </p:cNvPr>
          <p:cNvPicPr>
            <a:picLocks noChangeAspect="1"/>
          </p:cNvPicPr>
          <p:nvPr/>
        </p:nvPicPr>
        <p:blipFill>
          <a:blip r:embed="rId3"/>
          <a:stretch>
            <a:fillRect/>
          </a:stretch>
        </p:blipFill>
        <p:spPr>
          <a:xfrm>
            <a:off x="6263640" y="2340864"/>
            <a:ext cx="265176" cy="265176"/>
          </a:xfrm>
          <a:prstGeom prst="rect">
            <a:avLst/>
          </a:prstGeom>
        </p:spPr>
      </p:pic>
      <p:sp>
        <p:nvSpPr>
          <p:cNvPr id="21" name="Text 16"/>
          <p:cNvSpPr/>
          <p:nvPr/>
        </p:nvSpPr>
        <p:spPr>
          <a:xfrm>
            <a:off x="6099048" y="2834640"/>
            <a:ext cx="2176272"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METR</a:t>
            </a:r>
            <a:endParaRPr lang="en-US" sz="1400" dirty="0"/>
          </a:p>
        </p:txBody>
      </p:sp>
      <p:sp>
        <p:nvSpPr>
          <p:cNvPr id="22" name="Text 17"/>
          <p:cNvSpPr/>
          <p:nvPr/>
        </p:nvSpPr>
        <p:spPr>
          <a:xfrm>
            <a:off x="6099048" y="3182112"/>
            <a:ext cx="2176272" cy="411480"/>
          </a:xfrm>
          <a:prstGeom prst="rect">
            <a:avLst/>
          </a:prstGeom>
          <a:noFill/>
          <a:ln/>
        </p:spPr>
        <p:txBody>
          <a:bodyPr wrap="square" lIns="0" tIns="0" rIns="0" bIns="0" rtlCol="0" anchor="ctr"/>
          <a:lstStyle/>
          <a:p>
            <a:pPr indent="0" marL="0">
              <a:lnSpc>
                <a:spcPct val="110000"/>
              </a:lnSpc>
              <a:buNone/>
            </a:pPr>
            <a:r>
              <a:rPr lang="en-US" sz="950" i="1" dirty="0">
                <a:solidFill>
                  <a:srgbClr val="C2693F"/>
                </a:solidFill>
                <a:latin typeface="Calibri" pitchFamily="34" charset="0"/>
                <a:ea typeface="Calibri" pitchFamily="34" charset="-122"/>
                <a:cs typeface="Calibri" pitchFamily="34" charset="-120"/>
              </a:rPr>
              <a:t>独立模型评估机构</a:t>
            </a:r>
            <a:endParaRPr lang="en-US" sz="950" dirty="0"/>
          </a:p>
        </p:txBody>
      </p:sp>
      <p:sp>
        <p:nvSpPr>
          <p:cNvPr id="23" name="Text 18"/>
          <p:cNvSpPr/>
          <p:nvPr/>
        </p:nvSpPr>
        <p:spPr>
          <a:xfrm>
            <a:off x="6099048" y="3657600"/>
            <a:ext cx="2176272" cy="1417320"/>
          </a:xfrm>
          <a:prstGeom prst="rect">
            <a:avLst/>
          </a:prstGeom>
          <a:noFill/>
          <a:ln/>
        </p:spPr>
        <p:txBody>
          <a:bodyPr wrap="square" lIns="0" tIns="0" rIns="0" bIns="0" rtlCol="0" anchor="ctr"/>
          <a:lstStyle/>
          <a:p>
            <a:pPr indent="0" marL="0">
              <a:lnSpc>
                <a:spcPct val="120000"/>
              </a:lnSpc>
              <a:buNone/>
            </a:pPr>
            <a:r>
              <a:rPr lang="en-US" sz="950" dirty="0">
                <a:solidFill>
                  <a:srgbClr val="C9C5BC"/>
                </a:solidFill>
                <a:latin typeface="Calibri" pitchFamily="34" charset="0"/>
                <a:ea typeface="Calibri" pitchFamily="34" charset="-122"/>
                <a:cs typeface="Calibri" pitchFamily="34" charset="-120"/>
              </a:rPr>
              <a:t>2026年2月起试点“实体级”评估，覆盖内部AI使用风险，非仅针对单一模型发布</a:t>
            </a:r>
            <a:endParaRPr lang="en-US" sz="950" dirty="0"/>
          </a:p>
        </p:txBody>
      </p:sp>
      <p:sp>
        <p:nvSpPr>
          <p:cNvPr id="24" name="Shape 19"/>
          <p:cNvSpPr/>
          <p:nvPr/>
        </p:nvSpPr>
        <p:spPr>
          <a:xfrm>
            <a:off x="8622792" y="1965960"/>
            <a:ext cx="2542032" cy="3200400"/>
          </a:xfrm>
          <a:prstGeom prst="roundRect">
            <a:avLst>
              <a:gd name="adj" fmla="val 3597"/>
            </a:avLst>
          </a:prstGeom>
          <a:solidFill>
            <a:srgbClr val="1A1A19"/>
          </a:solidFill>
          <a:ln/>
          <a:effectLst>
            <a:outerShdw sx="100000" sy="100000" kx="0" ky="0" algn="bl" rotWithShape="0" blurRad="101600" dist="38100" dir="5400000">
              <a:srgbClr val="000000">
                <a:alpha val="12000"/>
              </a:srgbClr>
            </a:outerShdw>
          </a:effectLst>
        </p:spPr>
      </p:sp>
      <p:sp>
        <p:nvSpPr>
          <p:cNvPr id="25" name="Shape 20"/>
          <p:cNvSpPr/>
          <p:nvPr/>
        </p:nvSpPr>
        <p:spPr>
          <a:xfrm>
            <a:off x="8851392" y="2221992"/>
            <a:ext cx="502920" cy="502920"/>
          </a:xfrm>
          <a:prstGeom prst="ellipse">
            <a:avLst/>
          </a:prstGeom>
          <a:solidFill>
            <a:srgbClr val="C2693F"/>
          </a:solidFill>
          <a:ln/>
        </p:spPr>
      </p:sp>
      <p:pic>
        <p:nvPicPr>
          <p:cNvPr id="26" name="Image 3" descr="/home/claude/anthropic_safety_deck/icons/bug_white.png">    </p:cNvPr>
          <p:cNvPicPr>
            <a:picLocks noChangeAspect="1"/>
          </p:cNvPicPr>
          <p:nvPr/>
        </p:nvPicPr>
        <p:blipFill>
          <a:blip r:embed="rId4"/>
          <a:stretch>
            <a:fillRect/>
          </a:stretch>
        </p:blipFill>
        <p:spPr>
          <a:xfrm>
            <a:off x="8970264" y="2340864"/>
            <a:ext cx="265176" cy="265176"/>
          </a:xfrm>
          <a:prstGeom prst="rect">
            <a:avLst/>
          </a:prstGeom>
        </p:spPr>
      </p:pic>
      <p:sp>
        <p:nvSpPr>
          <p:cNvPr id="27" name="Text 21"/>
          <p:cNvSpPr/>
          <p:nvPr/>
        </p:nvSpPr>
        <p:spPr>
          <a:xfrm>
            <a:off x="8805672" y="2834640"/>
            <a:ext cx="2176272"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HackerOne 漏洞赏金</a:t>
            </a:r>
            <a:endParaRPr lang="en-US" sz="1400" dirty="0"/>
          </a:p>
        </p:txBody>
      </p:sp>
      <p:sp>
        <p:nvSpPr>
          <p:cNvPr id="28" name="Text 22"/>
          <p:cNvSpPr/>
          <p:nvPr/>
        </p:nvSpPr>
        <p:spPr>
          <a:xfrm>
            <a:off x="8805672" y="3182112"/>
            <a:ext cx="2176272" cy="411480"/>
          </a:xfrm>
          <a:prstGeom prst="rect">
            <a:avLst/>
          </a:prstGeom>
          <a:noFill/>
          <a:ln/>
        </p:spPr>
        <p:txBody>
          <a:bodyPr wrap="square" lIns="0" tIns="0" rIns="0" bIns="0" rtlCol="0" anchor="ctr"/>
          <a:lstStyle/>
          <a:p>
            <a:pPr indent="0" marL="0">
              <a:lnSpc>
                <a:spcPct val="110000"/>
              </a:lnSpc>
              <a:buNone/>
            </a:pPr>
            <a:r>
              <a:rPr lang="en-US" sz="950" i="1" dirty="0">
                <a:solidFill>
                  <a:srgbClr val="C2693F"/>
                </a:solidFill>
                <a:latin typeface="Calibri" pitchFamily="34" charset="0"/>
                <a:ea typeface="Calibri" pitchFamily="34" charset="-122"/>
                <a:cs typeface="Calibri" pitchFamily="34" charset="-120"/>
              </a:rPr>
              <a:t>公开众包安全测试</a:t>
            </a:r>
            <a:endParaRPr lang="en-US" sz="950" dirty="0"/>
          </a:p>
        </p:txBody>
      </p:sp>
      <p:sp>
        <p:nvSpPr>
          <p:cNvPr id="29" name="Text 23"/>
          <p:cNvSpPr/>
          <p:nvPr/>
        </p:nvSpPr>
        <p:spPr>
          <a:xfrm>
            <a:off x="8805672" y="3657600"/>
            <a:ext cx="2176272" cy="1417320"/>
          </a:xfrm>
          <a:prstGeom prst="rect">
            <a:avLst/>
          </a:prstGeom>
          <a:noFill/>
          <a:ln/>
        </p:spPr>
        <p:txBody>
          <a:bodyPr wrap="square" lIns="0" tIns="0" rIns="0" bIns="0" rtlCol="0" anchor="ctr"/>
          <a:lstStyle/>
          <a:p>
            <a:pPr indent="0" marL="0">
              <a:lnSpc>
                <a:spcPct val="120000"/>
              </a:lnSpc>
              <a:buNone/>
            </a:pPr>
            <a:r>
              <a:rPr lang="en-US" sz="950" dirty="0">
                <a:solidFill>
                  <a:srgbClr val="C9C5BC"/>
                </a:solidFill>
                <a:latin typeface="Calibri" pitchFamily="34" charset="0"/>
                <a:ea typeface="Calibri" pitchFamily="34" charset="-122"/>
                <a:cs typeface="Calibri" pitchFamily="34" charset="-120"/>
              </a:rPr>
              <a:t>持续激励研究人员发现通用越狱，加速分类器的快速迭代与修复</a:t>
            </a:r>
            <a:endParaRPr lang="en-US" sz="950" dirty="0"/>
          </a:p>
        </p:txBody>
      </p:sp>
      <p:sp>
        <p:nvSpPr>
          <p:cNvPr id="30" name="Text 24"/>
          <p:cNvSpPr/>
          <p:nvPr/>
        </p:nvSpPr>
        <p:spPr>
          <a:xfrm>
            <a:off x="502920" y="5349240"/>
            <a:ext cx="10332720" cy="502920"/>
          </a:xfrm>
          <a:prstGeom prst="rect">
            <a:avLst/>
          </a:prstGeom>
          <a:noFill/>
          <a:ln/>
        </p:spPr>
        <p:txBody>
          <a:bodyPr wrap="square" lIns="0" tIns="0" rIns="0" bIns="0" rtlCol="0" anchor="ctr"/>
          <a:lstStyle/>
          <a:p>
            <a:pPr indent="0" marL="0">
              <a:lnSpc>
                <a:spcPct val="120000"/>
              </a:lnSpc>
              <a:buNone/>
            </a:pPr>
            <a:r>
              <a:rPr lang="en-US" sz="1050" i="1" dirty="0">
                <a:solidFill>
                  <a:srgbClr val="B5562F"/>
                </a:solidFill>
                <a:latin typeface="Calibri" pitchFamily="34" charset="0"/>
                <a:ea typeface="Calibri" pitchFamily="34" charset="-122"/>
                <a:cs typeface="Calibri" pitchFamily="34" charset="-120"/>
              </a:rPr>
              <a:t>关键发现：英国AISI报告称，部分前沿模型已能在比熟练人类更短时间内完成32步企业网络攻击链——独立测试揭示了实验室自评可能忽略的风险</a:t>
            </a:r>
            <a:endParaRPr lang="en-US" sz="1050" dirty="0"/>
          </a:p>
        </p:txBody>
      </p:sp>
      <p:sp>
        <p:nvSpPr>
          <p:cNvPr id="31" name="Text 25"/>
          <p:cNvSpPr/>
          <p:nvPr/>
        </p:nvSpPr>
        <p:spPr>
          <a:xfrm>
            <a:off x="457200" y="6547104"/>
            <a:ext cx="5486400" cy="256032"/>
          </a:xfrm>
          <a:prstGeom prst="rect">
            <a:avLst/>
          </a:prstGeom>
          <a:noFill/>
          <a:ln/>
        </p:spPr>
        <p:txBody>
          <a:bodyPr wrap="square" lIns="0" tIns="0" rIns="0" bIns="0" rtlCol="0" anchor="ctr"/>
          <a:lstStyle/>
          <a:p>
            <a:pPr algn="l" indent="0" marL="0">
              <a:buNone/>
            </a:pPr>
            <a:r>
              <a:rPr lang="en-US" sz="900" dirty="0">
                <a:solidFill>
                  <a:srgbClr val="6B6459"/>
                </a:solidFill>
                <a:latin typeface="Calibri" pitchFamily="34" charset="0"/>
                <a:ea typeface="Calibri" pitchFamily="34" charset="-122"/>
                <a:cs typeface="Calibri" pitchFamily="34" charset="-120"/>
              </a:rPr>
              <a:t>Anthropic 安全治理 · 外部红队</a:t>
            </a:r>
            <a:endParaRPr lang="en-US" sz="900" dirty="0"/>
          </a:p>
        </p:txBody>
      </p:sp>
      <p:sp>
        <p:nvSpPr>
          <p:cNvPr id="32" name="Text 26"/>
          <p:cNvSpPr/>
          <p:nvPr/>
        </p:nvSpPr>
        <p:spPr>
          <a:xfrm>
            <a:off x="11338560" y="6547104"/>
            <a:ext cx="411480" cy="256032"/>
          </a:xfrm>
          <a:prstGeom prst="rect">
            <a:avLst/>
          </a:prstGeom>
          <a:noFill/>
          <a:ln/>
        </p:spPr>
        <p:txBody>
          <a:bodyPr wrap="square" lIns="0" tIns="0" rIns="0" bIns="0" rtlCol="0" anchor="ctr"/>
          <a:lstStyle/>
          <a:p>
            <a:pPr algn="r" indent="0" marL="0">
              <a:buNone/>
            </a:pPr>
            <a:r>
              <a:rPr lang="en-US" sz="900" dirty="0">
                <a:solidFill>
                  <a:srgbClr val="6B645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737360" cy="310896"/>
          </a:xfrm>
          <a:prstGeom prst="roundRect">
            <a:avLst>
              <a:gd name="adj" fmla="val 20588"/>
            </a:avLst>
          </a:prstGeom>
          <a:solidFill>
            <a:srgbClr val="C2693F"/>
          </a:solidFill>
          <a:ln/>
        </p:spPr>
      </p:sp>
      <p:sp>
        <p:nvSpPr>
          <p:cNvPr id="3" name="Text 1"/>
          <p:cNvSpPr/>
          <p:nvPr/>
        </p:nvSpPr>
        <p:spPr>
          <a:xfrm>
            <a:off x="502920" y="411480"/>
            <a:ext cx="173736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支撑机制</a:t>
            </a:r>
            <a:endParaRPr lang="en-US" sz="1100" dirty="0"/>
          </a:p>
        </p:txBody>
      </p:sp>
      <p:sp>
        <p:nvSpPr>
          <p:cNvPr id="4" name="Text 2"/>
          <p:cNvSpPr/>
          <p:nvPr/>
        </p:nvSpPr>
        <p:spPr>
          <a:xfrm>
            <a:off x="502920" y="841248"/>
            <a:ext cx="10332720" cy="548640"/>
          </a:xfrm>
          <a:prstGeom prst="rect">
            <a:avLst/>
          </a:prstGeom>
          <a:noFill/>
          <a:ln/>
        </p:spPr>
        <p:txBody>
          <a:bodyPr wrap="square" lIns="0" tIns="0" rIns="0" bIns="0" rtlCol="0" anchor="ctr"/>
          <a:lstStyle/>
          <a:p>
            <a:pPr indent="0" marL="0">
              <a:buNone/>
            </a:pPr>
            <a:r>
              <a:rPr lang="en-US" sz="2500" b="1" dirty="0">
                <a:solidFill>
                  <a:srgbClr val="262420"/>
                </a:solidFill>
                <a:latin typeface="Cambria" pitchFamily="34" charset="0"/>
                <a:ea typeface="Cambria" pitchFamily="34" charset="-122"/>
                <a:cs typeface="Cambria" pitchFamily="34" charset="-120"/>
              </a:rPr>
              <a:t>透明度基础设施：让治理可被审查</a:t>
            </a:r>
            <a:endParaRPr lang="en-US" sz="2500" dirty="0"/>
          </a:p>
        </p:txBody>
      </p:sp>
      <p:sp>
        <p:nvSpPr>
          <p:cNvPr id="5" name="Text 3"/>
          <p:cNvSpPr/>
          <p:nvPr/>
        </p:nvSpPr>
        <p:spPr>
          <a:xfrm>
            <a:off x="502920" y="1371600"/>
            <a:ext cx="10332720" cy="365760"/>
          </a:xfrm>
          <a:prstGeom prst="rect">
            <a:avLst/>
          </a:prstGeom>
          <a:noFill/>
          <a:ln/>
        </p:spPr>
        <p:txBody>
          <a:bodyPr wrap="square" lIns="0" tIns="0" rIns="0" bIns="0" rtlCol="0" anchor="ctr"/>
          <a:lstStyle/>
          <a:p>
            <a:pPr indent="0" marL="0">
              <a:buNone/>
            </a:pPr>
            <a:r>
              <a:rPr lang="en-US" sz="1250" dirty="0">
                <a:solidFill>
                  <a:srgbClr val="6B6459"/>
                </a:solidFill>
                <a:latin typeface="Calibri" pitchFamily="34" charset="0"/>
                <a:ea typeface="Calibri" pitchFamily="34" charset="-122"/>
                <a:cs typeface="Calibri" pitchFamily="34" charset="-120"/>
              </a:rPr>
              <a:t>六大能力之外，Anthropic 建立了一套披露机制，使外部世界能够验证治理承诺是否落地</a:t>
            </a:r>
            <a:endParaRPr lang="en-US" sz="1250" dirty="0"/>
          </a:p>
        </p:txBody>
      </p:sp>
      <p:sp>
        <p:nvSpPr>
          <p:cNvPr id="6" name="Shape 4"/>
          <p:cNvSpPr/>
          <p:nvPr/>
        </p:nvSpPr>
        <p:spPr>
          <a:xfrm>
            <a:off x="502920" y="1874520"/>
            <a:ext cx="10607040" cy="731520"/>
          </a:xfrm>
          <a:prstGeom prst="roundRect">
            <a:avLst>
              <a:gd name="adj" fmla="val 10000"/>
            </a:avLst>
          </a:prstGeom>
          <a:solidFill>
            <a:srgbClr val="FBF8F4"/>
          </a:solidFill>
          <a:ln w="9525">
            <a:solidFill>
              <a:srgbClr val="E4DCD0"/>
            </a:solidFill>
            <a:prstDash val="solid"/>
          </a:ln>
        </p:spPr>
      </p:sp>
      <p:sp>
        <p:nvSpPr>
          <p:cNvPr id="7" name="Shape 5"/>
          <p:cNvSpPr/>
          <p:nvPr/>
        </p:nvSpPr>
        <p:spPr>
          <a:xfrm>
            <a:off x="713232" y="2002536"/>
            <a:ext cx="475488" cy="475488"/>
          </a:xfrm>
          <a:prstGeom prst="ellipse">
            <a:avLst/>
          </a:prstGeom>
          <a:solidFill>
            <a:srgbClr val="1A1A19"/>
          </a:solidFill>
          <a:ln/>
        </p:spPr>
      </p:sp>
      <p:pic>
        <p:nvPicPr>
          <p:cNvPr id="8" name="Image 0" descr="/home/claude/anthropic_safety_deck/icons/listalt_white.png">    </p:cNvPr>
          <p:cNvPicPr>
            <a:picLocks noChangeAspect="1"/>
          </p:cNvPicPr>
          <p:nvPr/>
        </p:nvPicPr>
        <p:blipFill>
          <a:blip r:embed="rId1"/>
          <a:stretch>
            <a:fillRect/>
          </a:stretch>
        </p:blipFill>
        <p:spPr>
          <a:xfrm>
            <a:off x="841248" y="2130552"/>
            <a:ext cx="219456" cy="219456"/>
          </a:xfrm>
          <a:prstGeom prst="rect">
            <a:avLst/>
          </a:prstGeom>
        </p:spPr>
      </p:pic>
      <p:sp>
        <p:nvSpPr>
          <p:cNvPr id="9" name="Text 6"/>
          <p:cNvSpPr/>
          <p:nvPr/>
        </p:nvSpPr>
        <p:spPr>
          <a:xfrm>
            <a:off x="1371600" y="1929384"/>
            <a:ext cx="3383280" cy="594360"/>
          </a:xfrm>
          <a:prstGeom prst="rect">
            <a:avLst/>
          </a:prstGeom>
          <a:noFill/>
          <a:ln/>
        </p:spPr>
        <p:txBody>
          <a:bodyPr wrap="square" lIns="0" tIns="0" rIns="0" bIns="0" rtlCol="0" anchor="ctr"/>
          <a:lstStyle/>
          <a:p>
            <a:pPr indent="0" marL="0">
              <a:buNone/>
            </a:pPr>
            <a:r>
              <a:rPr lang="en-US" sz="1350" b="1" dirty="0">
                <a:solidFill>
                  <a:srgbClr val="262420"/>
                </a:solidFill>
                <a:latin typeface="Cambria" pitchFamily="34" charset="0"/>
                <a:ea typeface="Cambria" pitchFamily="34" charset="-122"/>
                <a:cs typeface="Cambria" pitchFamily="34" charset="-120"/>
              </a:rPr>
              <a:t>Transparency Hub</a:t>
            </a:r>
            <a:endParaRPr lang="en-US" sz="1350" dirty="0"/>
          </a:p>
        </p:txBody>
      </p:sp>
      <p:sp>
        <p:nvSpPr>
          <p:cNvPr id="10" name="Text 7"/>
          <p:cNvSpPr/>
          <p:nvPr/>
        </p:nvSpPr>
        <p:spPr>
          <a:xfrm>
            <a:off x="4846320" y="1929384"/>
            <a:ext cx="6080760" cy="594360"/>
          </a:xfrm>
          <a:prstGeom prst="rect">
            <a:avLst/>
          </a:prstGeom>
          <a:noFill/>
          <a:ln/>
        </p:spPr>
        <p:txBody>
          <a:bodyPr wrap="square" lIns="0" tIns="0" rIns="0" bIns="0" rtlCol="0" anchor="ctr"/>
          <a:lstStyle/>
          <a:p>
            <a:pPr indent="0" marL="0">
              <a:lnSpc>
                <a:spcPct val="110000"/>
              </a:lnSpc>
              <a:buNone/>
            </a:pPr>
            <a:r>
              <a:rPr lang="en-US" sz="1100" dirty="0">
                <a:solidFill>
                  <a:srgbClr val="6B6459"/>
                </a:solidFill>
                <a:latin typeface="Calibri" pitchFamily="34" charset="0"/>
                <a:ea typeface="Calibri" pitchFamily="34" charset="-122"/>
                <a:cs typeface="Calibri" pitchFamily="34" charset="-120"/>
              </a:rPr>
              <a:t>集中公开发布前测试、外部认证、系统信任与报告页面</a:t>
            </a:r>
            <a:endParaRPr lang="en-US" sz="1100" dirty="0"/>
          </a:p>
        </p:txBody>
      </p:sp>
      <p:sp>
        <p:nvSpPr>
          <p:cNvPr id="11" name="Shape 8"/>
          <p:cNvSpPr/>
          <p:nvPr/>
        </p:nvSpPr>
        <p:spPr>
          <a:xfrm>
            <a:off x="502920" y="2715768"/>
            <a:ext cx="10607040" cy="731520"/>
          </a:xfrm>
          <a:prstGeom prst="roundRect">
            <a:avLst>
              <a:gd name="adj" fmla="val 10000"/>
            </a:avLst>
          </a:prstGeom>
          <a:solidFill>
            <a:srgbClr val="FFFFFF"/>
          </a:solidFill>
          <a:ln w="9525">
            <a:solidFill>
              <a:srgbClr val="E4DCD0"/>
            </a:solidFill>
            <a:prstDash val="solid"/>
          </a:ln>
        </p:spPr>
      </p:sp>
      <p:sp>
        <p:nvSpPr>
          <p:cNvPr id="12" name="Shape 9"/>
          <p:cNvSpPr/>
          <p:nvPr/>
        </p:nvSpPr>
        <p:spPr>
          <a:xfrm>
            <a:off x="713232" y="2843784"/>
            <a:ext cx="475488" cy="475488"/>
          </a:xfrm>
          <a:prstGeom prst="ellipse">
            <a:avLst/>
          </a:prstGeom>
          <a:solidFill>
            <a:srgbClr val="1A1A19"/>
          </a:solidFill>
          <a:ln/>
        </p:spPr>
      </p:sp>
      <p:pic>
        <p:nvPicPr>
          <p:cNvPr id="13" name="Image 1" descr="/home/claude/anthropic_safety_deck/icons/clipboard_white.png">    </p:cNvPr>
          <p:cNvPicPr>
            <a:picLocks noChangeAspect="1"/>
          </p:cNvPicPr>
          <p:nvPr/>
        </p:nvPicPr>
        <p:blipFill>
          <a:blip r:embed="rId2"/>
          <a:stretch>
            <a:fillRect/>
          </a:stretch>
        </p:blipFill>
        <p:spPr>
          <a:xfrm>
            <a:off x="841248" y="2971800"/>
            <a:ext cx="219456" cy="219456"/>
          </a:xfrm>
          <a:prstGeom prst="rect">
            <a:avLst/>
          </a:prstGeom>
        </p:spPr>
      </p:pic>
      <p:sp>
        <p:nvSpPr>
          <p:cNvPr id="14" name="Text 10"/>
          <p:cNvSpPr/>
          <p:nvPr/>
        </p:nvSpPr>
        <p:spPr>
          <a:xfrm>
            <a:off x="1371600" y="2770632"/>
            <a:ext cx="3383280" cy="594360"/>
          </a:xfrm>
          <a:prstGeom prst="rect">
            <a:avLst/>
          </a:prstGeom>
          <a:noFill/>
          <a:ln/>
        </p:spPr>
        <p:txBody>
          <a:bodyPr wrap="square" lIns="0" tIns="0" rIns="0" bIns="0" rtlCol="0" anchor="ctr"/>
          <a:lstStyle/>
          <a:p>
            <a:pPr indent="0" marL="0">
              <a:buNone/>
            </a:pPr>
            <a:r>
              <a:rPr lang="en-US" sz="1350" b="1" dirty="0">
                <a:solidFill>
                  <a:srgbClr val="262420"/>
                </a:solidFill>
                <a:latin typeface="Cambria" pitchFamily="34" charset="0"/>
                <a:ea typeface="Cambria" pitchFamily="34" charset="-122"/>
                <a:cs typeface="Cambria" pitchFamily="34" charset="-120"/>
              </a:rPr>
              <a:t>风险报告 (Risk Reports)</a:t>
            </a:r>
            <a:endParaRPr lang="en-US" sz="1350" dirty="0"/>
          </a:p>
        </p:txBody>
      </p:sp>
      <p:sp>
        <p:nvSpPr>
          <p:cNvPr id="15" name="Text 11"/>
          <p:cNvSpPr/>
          <p:nvPr/>
        </p:nvSpPr>
        <p:spPr>
          <a:xfrm>
            <a:off x="4846320" y="2770632"/>
            <a:ext cx="6080760" cy="594360"/>
          </a:xfrm>
          <a:prstGeom prst="rect">
            <a:avLst/>
          </a:prstGeom>
          <a:noFill/>
          <a:ln/>
        </p:spPr>
        <p:txBody>
          <a:bodyPr wrap="square" lIns="0" tIns="0" rIns="0" bIns="0" rtlCol="0" anchor="ctr"/>
          <a:lstStyle/>
          <a:p>
            <a:pPr indent="0" marL="0">
              <a:lnSpc>
                <a:spcPct val="110000"/>
              </a:lnSpc>
              <a:buNone/>
            </a:pPr>
            <a:r>
              <a:rPr lang="en-US" sz="1100" dirty="0">
                <a:solidFill>
                  <a:srgbClr val="6B6459"/>
                </a:solidFill>
                <a:latin typeface="Calibri" pitchFamily="34" charset="0"/>
                <a:ea typeface="Calibri" pitchFamily="34" charset="-122"/>
                <a:cs typeface="Calibri" pitchFamily="34" charset="-120"/>
              </a:rPr>
              <a:t>RSP v3.0起，发布前公开能力、威胁模型与缓解措施的评估</a:t>
            </a:r>
            <a:endParaRPr lang="en-US" sz="1100" dirty="0"/>
          </a:p>
        </p:txBody>
      </p:sp>
      <p:sp>
        <p:nvSpPr>
          <p:cNvPr id="16" name="Shape 12"/>
          <p:cNvSpPr/>
          <p:nvPr/>
        </p:nvSpPr>
        <p:spPr>
          <a:xfrm>
            <a:off x="502920" y="3557016"/>
            <a:ext cx="10607040" cy="731520"/>
          </a:xfrm>
          <a:prstGeom prst="roundRect">
            <a:avLst>
              <a:gd name="adj" fmla="val 10000"/>
            </a:avLst>
          </a:prstGeom>
          <a:solidFill>
            <a:srgbClr val="FBF8F4"/>
          </a:solidFill>
          <a:ln w="9525">
            <a:solidFill>
              <a:srgbClr val="E4DCD0"/>
            </a:solidFill>
            <a:prstDash val="solid"/>
          </a:ln>
        </p:spPr>
      </p:sp>
      <p:sp>
        <p:nvSpPr>
          <p:cNvPr id="17" name="Shape 13"/>
          <p:cNvSpPr/>
          <p:nvPr/>
        </p:nvSpPr>
        <p:spPr>
          <a:xfrm>
            <a:off x="713232" y="3685032"/>
            <a:ext cx="475488" cy="475488"/>
          </a:xfrm>
          <a:prstGeom prst="ellipse">
            <a:avLst/>
          </a:prstGeom>
          <a:solidFill>
            <a:srgbClr val="1A1A19"/>
          </a:solidFill>
          <a:ln/>
        </p:spPr>
      </p:sp>
      <p:pic>
        <p:nvPicPr>
          <p:cNvPr id="18" name="Image 2" descr="/home/claude/anthropic_safety_deck/icons/history_white.png">    </p:cNvPr>
          <p:cNvPicPr>
            <a:picLocks noChangeAspect="1"/>
          </p:cNvPicPr>
          <p:nvPr/>
        </p:nvPicPr>
        <p:blipFill>
          <a:blip r:embed="rId3"/>
          <a:stretch>
            <a:fillRect/>
          </a:stretch>
        </p:blipFill>
        <p:spPr>
          <a:xfrm>
            <a:off x="841248" y="3813048"/>
            <a:ext cx="219456" cy="219456"/>
          </a:xfrm>
          <a:prstGeom prst="rect">
            <a:avLst/>
          </a:prstGeom>
        </p:spPr>
      </p:pic>
      <p:sp>
        <p:nvSpPr>
          <p:cNvPr id="19" name="Text 14"/>
          <p:cNvSpPr/>
          <p:nvPr/>
        </p:nvSpPr>
        <p:spPr>
          <a:xfrm>
            <a:off x="1371600" y="3611880"/>
            <a:ext cx="3383280" cy="594360"/>
          </a:xfrm>
          <a:prstGeom prst="rect">
            <a:avLst/>
          </a:prstGeom>
          <a:noFill/>
          <a:ln/>
        </p:spPr>
        <p:txBody>
          <a:bodyPr wrap="square" lIns="0" tIns="0" rIns="0" bIns="0" rtlCol="0" anchor="ctr"/>
          <a:lstStyle/>
          <a:p>
            <a:pPr indent="0" marL="0">
              <a:buNone/>
            </a:pPr>
            <a:r>
              <a:rPr lang="en-US" sz="1350" b="1" dirty="0">
                <a:solidFill>
                  <a:srgbClr val="262420"/>
                </a:solidFill>
                <a:latin typeface="Cambria" pitchFamily="34" charset="0"/>
                <a:ea typeface="Cambria" pitchFamily="34" charset="-122"/>
                <a:cs typeface="Cambria" pitchFamily="34" charset="-120"/>
              </a:rPr>
              <a:t>Frontier / Alignment 研究博客</a:t>
            </a:r>
            <a:endParaRPr lang="en-US" sz="1350" dirty="0"/>
          </a:p>
        </p:txBody>
      </p:sp>
      <p:sp>
        <p:nvSpPr>
          <p:cNvPr id="20" name="Text 15"/>
          <p:cNvSpPr/>
          <p:nvPr/>
        </p:nvSpPr>
        <p:spPr>
          <a:xfrm>
            <a:off x="4846320" y="3611880"/>
            <a:ext cx="6080760" cy="594360"/>
          </a:xfrm>
          <a:prstGeom prst="rect">
            <a:avLst/>
          </a:prstGeom>
          <a:noFill/>
          <a:ln/>
        </p:spPr>
        <p:txBody>
          <a:bodyPr wrap="square" lIns="0" tIns="0" rIns="0" bIns="0" rtlCol="0" anchor="ctr"/>
          <a:lstStyle/>
          <a:p>
            <a:pPr indent="0" marL="0">
              <a:lnSpc>
                <a:spcPct val="110000"/>
              </a:lnSpc>
              <a:buNone/>
            </a:pPr>
            <a:r>
              <a:rPr lang="en-US" sz="1100" dirty="0">
                <a:solidFill>
                  <a:srgbClr val="6B6459"/>
                </a:solidFill>
                <a:latin typeface="Calibri" pitchFamily="34" charset="0"/>
                <a:ea typeface="Calibri" pitchFamily="34" charset="-122"/>
                <a:cs typeface="Calibri" pitchFamily="34" charset="-120"/>
              </a:rPr>
              <a:t>red.anthropic.com 与 alignment.anthropic.com 持续公开前沿风险研究</a:t>
            </a:r>
            <a:endParaRPr lang="en-US" sz="1100" dirty="0"/>
          </a:p>
        </p:txBody>
      </p:sp>
      <p:sp>
        <p:nvSpPr>
          <p:cNvPr id="21" name="Shape 16"/>
          <p:cNvSpPr/>
          <p:nvPr/>
        </p:nvSpPr>
        <p:spPr>
          <a:xfrm>
            <a:off x="502920" y="4398264"/>
            <a:ext cx="10607040" cy="731520"/>
          </a:xfrm>
          <a:prstGeom prst="roundRect">
            <a:avLst>
              <a:gd name="adj" fmla="val 10000"/>
            </a:avLst>
          </a:prstGeom>
          <a:solidFill>
            <a:srgbClr val="FFFFFF"/>
          </a:solidFill>
          <a:ln w="9525">
            <a:solidFill>
              <a:srgbClr val="E4DCD0"/>
            </a:solidFill>
            <a:prstDash val="solid"/>
          </a:ln>
        </p:spPr>
      </p:sp>
      <p:sp>
        <p:nvSpPr>
          <p:cNvPr id="22" name="Shape 17"/>
          <p:cNvSpPr/>
          <p:nvPr/>
        </p:nvSpPr>
        <p:spPr>
          <a:xfrm>
            <a:off x="713232" y="4526280"/>
            <a:ext cx="475488" cy="475488"/>
          </a:xfrm>
          <a:prstGeom prst="ellipse">
            <a:avLst/>
          </a:prstGeom>
          <a:solidFill>
            <a:srgbClr val="1A1A19"/>
          </a:solidFill>
          <a:ln/>
        </p:spPr>
      </p:sp>
      <p:pic>
        <p:nvPicPr>
          <p:cNvPr id="23" name="Image 3" descr="/home/claude/anthropic_safety_deck/icons/exclamation_white.png">    </p:cNvPr>
          <p:cNvPicPr>
            <a:picLocks noChangeAspect="1"/>
          </p:cNvPicPr>
          <p:nvPr/>
        </p:nvPicPr>
        <p:blipFill>
          <a:blip r:embed="rId4"/>
          <a:stretch>
            <a:fillRect/>
          </a:stretch>
        </p:blipFill>
        <p:spPr>
          <a:xfrm>
            <a:off x="841248" y="4654296"/>
            <a:ext cx="219456" cy="219456"/>
          </a:xfrm>
          <a:prstGeom prst="rect">
            <a:avLst/>
          </a:prstGeom>
        </p:spPr>
      </p:pic>
      <p:sp>
        <p:nvSpPr>
          <p:cNvPr id="24" name="Text 18"/>
          <p:cNvSpPr/>
          <p:nvPr/>
        </p:nvSpPr>
        <p:spPr>
          <a:xfrm>
            <a:off x="1371600" y="4453128"/>
            <a:ext cx="3383280" cy="594360"/>
          </a:xfrm>
          <a:prstGeom prst="rect">
            <a:avLst/>
          </a:prstGeom>
          <a:noFill/>
          <a:ln/>
        </p:spPr>
        <p:txBody>
          <a:bodyPr wrap="square" lIns="0" tIns="0" rIns="0" bIns="0" rtlCol="0" anchor="ctr"/>
          <a:lstStyle/>
          <a:p>
            <a:pPr indent="0" marL="0">
              <a:buNone/>
            </a:pPr>
            <a:r>
              <a:rPr lang="en-US" sz="1350" b="1" dirty="0">
                <a:solidFill>
                  <a:srgbClr val="262420"/>
                </a:solidFill>
                <a:latin typeface="Cambria" pitchFamily="34" charset="0"/>
                <a:ea typeface="Cambria" pitchFamily="34" charset="-122"/>
                <a:cs typeface="Cambria" pitchFamily="34" charset="-120"/>
              </a:rPr>
              <a:t>Policy Vulnerability Testing (PVT)</a:t>
            </a:r>
            <a:endParaRPr lang="en-US" sz="1350" dirty="0"/>
          </a:p>
        </p:txBody>
      </p:sp>
      <p:sp>
        <p:nvSpPr>
          <p:cNvPr id="25" name="Text 19"/>
          <p:cNvSpPr/>
          <p:nvPr/>
        </p:nvSpPr>
        <p:spPr>
          <a:xfrm>
            <a:off x="4846320" y="4453128"/>
            <a:ext cx="6080760" cy="594360"/>
          </a:xfrm>
          <a:prstGeom prst="rect">
            <a:avLst/>
          </a:prstGeom>
          <a:noFill/>
          <a:ln/>
        </p:spPr>
        <p:txBody>
          <a:bodyPr wrap="square" lIns="0" tIns="0" rIns="0" bIns="0" rtlCol="0" anchor="ctr"/>
          <a:lstStyle/>
          <a:p>
            <a:pPr indent="0" marL="0">
              <a:lnSpc>
                <a:spcPct val="110000"/>
              </a:lnSpc>
              <a:buNone/>
            </a:pPr>
            <a:r>
              <a:rPr lang="en-US" sz="1100" dirty="0">
                <a:solidFill>
                  <a:srgbClr val="6B6459"/>
                </a:solidFill>
                <a:latin typeface="Calibri" pitchFamily="34" charset="0"/>
                <a:ea typeface="Calibri" pitchFamily="34" charset="-122"/>
                <a:cs typeface="Calibri" pitchFamily="34" charset="-120"/>
              </a:rPr>
              <a:t>联合外部专家测试选举、虚假信息等政策相关滥用风险</a:t>
            </a:r>
            <a:endParaRPr lang="en-US" sz="1100" dirty="0"/>
          </a:p>
        </p:txBody>
      </p:sp>
      <p:sp>
        <p:nvSpPr>
          <p:cNvPr id="26" name="Shape 20"/>
          <p:cNvSpPr/>
          <p:nvPr/>
        </p:nvSpPr>
        <p:spPr>
          <a:xfrm>
            <a:off x="502920" y="5239512"/>
            <a:ext cx="10607040" cy="731520"/>
          </a:xfrm>
          <a:prstGeom prst="roundRect">
            <a:avLst>
              <a:gd name="adj" fmla="val 10000"/>
            </a:avLst>
          </a:prstGeom>
          <a:solidFill>
            <a:srgbClr val="FBF8F4"/>
          </a:solidFill>
          <a:ln w="9525">
            <a:solidFill>
              <a:srgbClr val="E4DCD0"/>
            </a:solidFill>
            <a:prstDash val="solid"/>
          </a:ln>
        </p:spPr>
      </p:sp>
      <p:sp>
        <p:nvSpPr>
          <p:cNvPr id="27" name="Shape 21"/>
          <p:cNvSpPr/>
          <p:nvPr/>
        </p:nvSpPr>
        <p:spPr>
          <a:xfrm>
            <a:off x="713232" y="5367528"/>
            <a:ext cx="475488" cy="475488"/>
          </a:xfrm>
          <a:prstGeom prst="ellipse">
            <a:avLst/>
          </a:prstGeom>
          <a:solidFill>
            <a:srgbClr val="1A1A19"/>
          </a:solidFill>
          <a:ln/>
        </p:spPr>
      </p:sp>
      <p:pic>
        <p:nvPicPr>
          <p:cNvPr id="28" name="Image 4" descr="/home/claude/anthropic_safety_deck/icons/gavel_white.png">    </p:cNvPr>
          <p:cNvPicPr>
            <a:picLocks noChangeAspect="1"/>
          </p:cNvPicPr>
          <p:nvPr/>
        </p:nvPicPr>
        <p:blipFill>
          <a:blip r:embed="rId5"/>
          <a:stretch>
            <a:fillRect/>
          </a:stretch>
        </p:blipFill>
        <p:spPr>
          <a:xfrm>
            <a:off x="841248" y="5495544"/>
            <a:ext cx="219456" cy="219456"/>
          </a:xfrm>
          <a:prstGeom prst="rect">
            <a:avLst/>
          </a:prstGeom>
        </p:spPr>
      </p:pic>
      <p:sp>
        <p:nvSpPr>
          <p:cNvPr id="29" name="Text 22"/>
          <p:cNvSpPr/>
          <p:nvPr/>
        </p:nvSpPr>
        <p:spPr>
          <a:xfrm>
            <a:off x="1371600" y="5294376"/>
            <a:ext cx="3383280" cy="594360"/>
          </a:xfrm>
          <a:prstGeom prst="rect">
            <a:avLst/>
          </a:prstGeom>
          <a:noFill/>
          <a:ln/>
        </p:spPr>
        <p:txBody>
          <a:bodyPr wrap="square" lIns="0" tIns="0" rIns="0" bIns="0" rtlCol="0" anchor="ctr"/>
          <a:lstStyle/>
          <a:p>
            <a:pPr indent="0" marL="0">
              <a:buNone/>
            </a:pPr>
            <a:r>
              <a:rPr lang="en-US" sz="1350" b="1" dirty="0">
                <a:solidFill>
                  <a:srgbClr val="262420"/>
                </a:solidFill>
                <a:latin typeface="Cambria" pitchFamily="34" charset="0"/>
                <a:ea typeface="Cambria" pitchFamily="34" charset="-122"/>
                <a:cs typeface="Cambria" pitchFamily="34" charset="-120"/>
              </a:rPr>
              <a:t>RSP 违规上报与反报复政策</a:t>
            </a:r>
            <a:endParaRPr lang="en-US" sz="1350" dirty="0"/>
          </a:p>
        </p:txBody>
      </p:sp>
      <p:sp>
        <p:nvSpPr>
          <p:cNvPr id="30" name="Text 23"/>
          <p:cNvSpPr/>
          <p:nvPr/>
        </p:nvSpPr>
        <p:spPr>
          <a:xfrm>
            <a:off x="4846320" y="5294376"/>
            <a:ext cx="6080760" cy="594360"/>
          </a:xfrm>
          <a:prstGeom prst="rect">
            <a:avLst/>
          </a:prstGeom>
          <a:noFill/>
          <a:ln/>
        </p:spPr>
        <p:txBody>
          <a:bodyPr wrap="square" lIns="0" tIns="0" rIns="0" bIns="0" rtlCol="0" anchor="ctr"/>
          <a:lstStyle/>
          <a:p>
            <a:pPr indent="0" marL="0">
              <a:lnSpc>
                <a:spcPct val="110000"/>
              </a:lnSpc>
              <a:buNone/>
            </a:pPr>
            <a:r>
              <a:rPr lang="en-US" sz="1100" dirty="0">
                <a:solidFill>
                  <a:srgbClr val="6B6459"/>
                </a:solidFill>
                <a:latin typeface="Calibri" pitchFamily="34" charset="0"/>
                <a:ea typeface="Calibri" pitchFamily="34" charset="-122"/>
                <a:cs typeface="Calibri" pitchFamily="34" charset="-120"/>
              </a:rPr>
              <a:t>2026年2月内部发布，为员工提供非正式问询与举报通道</a:t>
            </a:r>
            <a:endParaRPr lang="en-US" sz="1100" dirty="0"/>
          </a:p>
        </p:txBody>
      </p:sp>
      <p:sp>
        <p:nvSpPr>
          <p:cNvPr id="31" name="Text 24"/>
          <p:cNvSpPr/>
          <p:nvPr/>
        </p:nvSpPr>
        <p:spPr>
          <a:xfrm>
            <a:off x="457200" y="6547104"/>
            <a:ext cx="5486400" cy="256032"/>
          </a:xfrm>
          <a:prstGeom prst="rect">
            <a:avLst/>
          </a:prstGeom>
          <a:noFill/>
          <a:ln/>
        </p:spPr>
        <p:txBody>
          <a:bodyPr wrap="square" lIns="0" tIns="0" rIns="0" bIns="0" rtlCol="0" anchor="ctr"/>
          <a:lstStyle/>
          <a:p>
            <a:pPr algn="l" indent="0" marL="0">
              <a:buNone/>
            </a:pPr>
            <a:r>
              <a:rPr lang="en-US" sz="900" dirty="0">
                <a:solidFill>
                  <a:srgbClr val="6B6459"/>
                </a:solidFill>
                <a:latin typeface="Calibri" pitchFamily="34" charset="0"/>
                <a:ea typeface="Calibri" pitchFamily="34" charset="-122"/>
                <a:cs typeface="Calibri" pitchFamily="34" charset="-120"/>
              </a:rPr>
              <a:t>Anthropic 安全治理 · 透明度机制</a:t>
            </a:r>
            <a:endParaRPr lang="en-US" sz="900" dirty="0"/>
          </a:p>
        </p:txBody>
      </p:sp>
      <p:sp>
        <p:nvSpPr>
          <p:cNvPr id="32" name="Text 25"/>
          <p:cNvSpPr/>
          <p:nvPr/>
        </p:nvSpPr>
        <p:spPr>
          <a:xfrm>
            <a:off x="11338560" y="6547104"/>
            <a:ext cx="411480" cy="256032"/>
          </a:xfrm>
          <a:prstGeom prst="rect">
            <a:avLst/>
          </a:prstGeom>
          <a:noFill/>
          <a:ln/>
        </p:spPr>
        <p:txBody>
          <a:bodyPr wrap="square" lIns="0" tIns="0" rIns="0" bIns="0" rtlCol="0" anchor="ctr"/>
          <a:lstStyle/>
          <a:p>
            <a:pPr algn="r" indent="0" marL="0">
              <a:buNone/>
            </a:pPr>
            <a:r>
              <a:rPr lang="en-US" sz="900" dirty="0">
                <a:solidFill>
                  <a:srgbClr val="6B645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19"/>
        </a:solidFill>
      </p:bgPr>
    </p:bg>
    <p:spTree>
      <p:nvGrpSpPr>
        <p:cNvPr id="1" name=""/>
        <p:cNvGrpSpPr/>
        <p:nvPr/>
      </p:nvGrpSpPr>
      <p:grpSpPr>
        <a:xfrm>
          <a:off x="0" y="0"/>
          <a:ext cx="0" cy="0"/>
          <a:chOff x="0" y="0"/>
          <a:chExt cx="0" cy="0"/>
        </a:xfrm>
      </p:grpSpPr>
      <p:sp>
        <p:nvSpPr>
          <p:cNvPr id="2" name="Shape 0"/>
          <p:cNvSpPr/>
          <p:nvPr/>
        </p:nvSpPr>
        <p:spPr>
          <a:xfrm>
            <a:off x="502920" y="411480"/>
            <a:ext cx="1737360" cy="310896"/>
          </a:xfrm>
          <a:prstGeom prst="roundRect">
            <a:avLst>
              <a:gd name="adj" fmla="val 20588"/>
            </a:avLst>
          </a:prstGeom>
          <a:solidFill>
            <a:srgbClr val="B5562F"/>
          </a:solidFill>
          <a:ln/>
        </p:spPr>
      </p:sp>
      <p:sp>
        <p:nvSpPr>
          <p:cNvPr id="3" name="Text 1"/>
          <p:cNvSpPr/>
          <p:nvPr/>
        </p:nvSpPr>
        <p:spPr>
          <a:xfrm>
            <a:off x="502920" y="411480"/>
            <a:ext cx="173736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诚实评估</a:t>
            </a:r>
            <a:endParaRPr lang="en-US" sz="1100" dirty="0"/>
          </a:p>
        </p:txBody>
      </p:sp>
      <p:sp>
        <p:nvSpPr>
          <p:cNvPr id="4" name="Text 2"/>
          <p:cNvSpPr/>
          <p:nvPr/>
        </p:nvSpPr>
        <p:spPr>
          <a:xfrm>
            <a:off x="502920" y="841248"/>
            <a:ext cx="10332720" cy="54864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治理承诺也面临真实的压力测试</a:t>
            </a:r>
            <a:endParaRPr lang="en-US" sz="2500" dirty="0"/>
          </a:p>
        </p:txBody>
      </p:sp>
      <p:sp>
        <p:nvSpPr>
          <p:cNvPr id="5" name="Text 3"/>
          <p:cNvSpPr/>
          <p:nvPr/>
        </p:nvSpPr>
        <p:spPr>
          <a:xfrm>
            <a:off x="502920" y="1371600"/>
            <a:ext cx="10332720" cy="365760"/>
          </a:xfrm>
          <a:prstGeom prst="rect">
            <a:avLst/>
          </a:prstGeom>
          <a:noFill/>
          <a:ln/>
        </p:spPr>
        <p:txBody>
          <a:bodyPr wrap="square" lIns="0" tIns="0" rIns="0" bIns="0" rtlCol="0" anchor="ctr"/>
          <a:lstStyle/>
          <a:p>
            <a:pPr indent="0" marL="0">
              <a:buNone/>
            </a:pPr>
            <a:r>
              <a:rPr lang="en-US" sz="1250" dirty="0">
                <a:solidFill>
                  <a:srgbClr val="B8B2A6"/>
                </a:solidFill>
                <a:latin typeface="Calibri" pitchFamily="34" charset="0"/>
                <a:ea typeface="Calibri" pitchFamily="34" charset="-122"/>
                <a:cs typeface="Calibri" pitchFamily="34" charset="-120"/>
              </a:rPr>
              <a:t>一份完整的安全治理分析，也应包含其在商业压力下被削弱或受到质疑的部分</a:t>
            </a:r>
            <a:endParaRPr lang="en-US" sz="1250" dirty="0"/>
          </a:p>
        </p:txBody>
      </p:sp>
      <p:sp>
        <p:nvSpPr>
          <p:cNvPr id="6" name="Shape 4"/>
          <p:cNvSpPr/>
          <p:nvPr/>
        </p:nvSpPr>
        <p:spPr>
          <a:xfrm>
            <a:off x="502920" y="1920240"/>
            <a:ext cx="10607040" cy="1234440"/>
          </a:xfrm>
          <a:prstGeom prst="roundRect">
            <a:avLst>
              <a:gd name="adj" fmla="val 7407"/>
            </a:avLst>
          </a:prstGeom>
          <a:solidFill>
            <a:srgbClr val="242422"/>
          </a:solidFill>
          <a:ln w="12700">
            <a:solidFill>
              <a:srgbClr val="B5562F"/>
            </a:solidFill>
            <a:prstDash val="solid"/>
          </a:ln>
        </p:spPr>
      </p:sp>
      <p:sp>
        <p:nvSpPr>
          <p:cNvPr id="7" name="Shape 5"/>
          <p:cNvSpPr/>
          <p:nvPr/>
        </p:nvSpPr>
        <p:spPr>
          <a:xfrm>
            <a:off x="731520" y="2121408"/>
            <a:ext cx="457200" cy="457200"/>
          </a:xfrm>
          <a:prstGeom prst="ellipse">
            <a:avLst/>
          </a:prstGeom>
          <a:solidFill>
            <a:srgbClr val="B5562F"/>
          </a:solidFill>
          <a:ln/>
        </p:spPr>
      </p:sp>
      <p:pic>
        <p:nvPicPr>
          <p:cNvPr id="8" name="Image 0" descr="/home/claude/anthropic_safety_deck/icons/exclamation_white.png">    </p:cNvPr>
          <p:cNvPicPr>
            <a:picLocks noChangeAspect="1"/>
          </p:cNvPicPr>
          <p:nvPr/>
        </p:nvPicPr>
        <p:blipFill>
          <a:blip r:embed="rId1"/>
          <a:stretch>
            <a:fillRect/>
          </a:stretch>
        </p:blipFill>
        <p:spPr>
          <a:xfrm>
            <a:off x="841248" y="2231136"/>
            <a:ext cx="237744" cy="237744"/>
          </a:xfrm>
          <a:prstGeom prst="rect">
            <a:avLst/>
          </a:prstGeom>
        </p:spPr>
      </p:pic>
      <p:sp>
        <p:nvSpPr>
          <p:cNvPr id="9" name="Text 6"/>
          <p:cNvSpPr/>
          <p:nvPr/>
        </p:nvSpPr>
        <p:spPr>
          <a:xfrm>
            <a:off x="1371600" y="2029968"/>
            <a:ext cx="9418320" cy="320040"/>
          </a:xfrm>
          <a:prstGeom prst="rect">
            <a:avLst/>
          </a:prstGeom>
          <a:noFill/>
          <a:ln/>
        </p:spPr>
        <p:txBody>
          <a:bodyPr wrap="square" lIns="0" tIns="0" rIns="0" bIns="0" rtlCol="0" anchor="ctr"/>
          <a:lstStyle/>
          <a:p>
            <a:pPr indent="0" marL="0">
              <a:buNone/>
            </a:pPr>
            <a:r>
              <a:rPr lang="en-US" sz="1350" b="1" dirty="0">
                <a:solidFill>
                  <a:srgbClr val="F0B89A"/>
                </a:solidFill>
                <a:latin typeface="Cambria" pitchFamily="34" charset="0"/>
                <a:ea typeface="Cambria" pitchFamily="34" charset="-122"/>
                <a:cs typeface="Cambria" pitchFamily="34" charset="-120"/>
              </a:rPr>
              <a:t>“可中止”承诺的弱化</a:t>
            </a:r>
            <a:endParaRPr lang="en-US" sz="1350" dirty="0"/>
          </a:p>
        </p:txBody>
      </p:sp>
      <p:sp>
        <p:nvSpPr>
          <p:cNvPr id="10" name="Text 7"/>
          <p:cNvSpPr/>
          <p:nvPr/>
        </p:nvSpPr>
        <p:spPr>
          <a:xfrm>
            <a:off x="1371600" y="2359152"/>
            <a:ext cx="9509760" cy="749808"/>
          </a:xfrm>
          <a:prstGeom prst="rect">
            <a:avLst/>
          </a:prstGeom>
          <a:noFill/>
          <a:ln/>
        </p:spPr>
        <p:txBody>
          <a:bodyPr wrap="square" lIns="0" tIns="0" rIns="0" bIns="0" rtlCol="0" anchor="ctr"/>
          <a:lstStyle/>
          <a:p>
            <a:pPr indent="0" marL="0">
              <a:lnSpc>
                <a:spcPct val="122000"/>
              </a:lnSpc>
              <a:buNone/>
            </a:pPr>
            <a:r>
              <a:rPr lang="en-US" sz="1050" dirty="0">
                <a:solidFill>
                  <a:srgbClr val="D8D4CB"/>
                </a:solidFill>
                <a:latin typeface="Calibri" pitchFamily="34" charset="0"/>
                <a:ea typeface="Calibri" pitchFamily="34" charset="-122"/>
                <a:cs typeface="Calibri" pitchFamily="34" charset="-120"/>
              </a:rPr>
              <a:t>2026年2月RSP v3.0修订移除了“安全措施跟不上能力时即刻暂停训练”的绝对化承诺；新版本仅承诺在Anthropic自认为是行业领先者、且判断灾难性风险显著时才“延迟”——执行机制的约束力较此前减弱</a:t>
            </a:r>
            <a:endParaRPr lang="en-US" sz="1050" dirty="0"/>
          </a:p>
        </p:txBody>
      </p:sp>
      <p:sp>
        <p:nvSpPr>
          <p:cNvPr id="11" name="Shape 8"/>
          <p:cNvSpPr/>
          <p:nvPr/>
        </p:nvSpPr>
        <p:spPr>
          <a:xfrm>
            <a:off x="502920" y="3319272"/>
            <a:ext cx="10607040" cy="1234440"/>
          </a:xfrm>
          <a:prstGeom prst="roundRect">
            <a:avLst>
              <a:gd name="adj" fmla="val 7407"/>
            </a:avLst>
          </a:prstGeom>
          <a:solidFill>
            <a:srgbClr val="242422"/>
          </a:solidFill>
          <a:ln w="12700">
            <a:solidFill>
              <a:srgbClr val="B5562F"/>
            </a:solidFill>
            <a:prstDash val="solid"/>
          </a:ln>
        </p:spPr>
      </p:sp>
      <p:sp>
        <p:nvSpPr>
          <p:cNvPr id="12" name="Shape 9"/>
          <p:cNvSpPr/>
          <p:nvPr/>
        </p:nvSpPr>
        <p:spPr>
          <a:xfrm>
            <a:off x="731520" y="3520440"/>
            <a:ext cx="457200" cy="457200"/>
          </a:xfrm>
          <a:prstGeom prst="ellipse">
            <a:avLst/>
          </a:prstGeom>
          <a:solidFill>
            <a:srgbClr val="B5562F"/>
          </a:solidFill>
          <a:ln/>
        </p:spPr>
      </p:sp>
      <p:pic>
        <p:nvPicPr>
          <p:cNvPr id="13" name="Image 1" descr="/home/claude/anthropic_safety_deck/icons/exclamation_white.png">    </p:cNvPr>
          <p:cNvPicPr>
            <a:picLocks noChangeAspect="1"/>
          </p:cNvPicPr>
          <p:nvPr/>
        </p:nvPicPr>
        <p:blipFill>
          <a:blip r:embed="rId2"/>
          <a:stretch>
            <a:fillRect/>
          </a:stretch>
        </p:blipFill>
        <p:spPr>
          <a:xfrm>
            <a:off x="841248" y="3630168"/>
            <a:ext cx="237744" cy="237744"/>
          </a:xfrm>
          <a:prstGeom prst="rect">
            <a:avLst/>
          </a:prstGeom>
        </p:spPr>
      </p:pic>
      <p:sp>
        <p:nvSpPr>
          <p:cNvPr id="14" name="Text 10"/>
          <p:cNvSpPr/>
          <p:nvPr/>
        </p:nvSpPr>
        <p:spPr>
          <a:xfrm>
            <a:off x="1371600" y="3429000"/>
            <a:ext cx="9418320" cy="320040"/>
          </a:xfrm>
          <a:prstGeom prst="rect">
            <a:avLst/>
          </a:prstGeom>
          <a:noFill/>
          <a:ln/>
        </p:spPr>
        <p:txBody>
          <a:bodyPr wrap="square" lIns="0" tIns="0" rIns="0" bIns="0" rtlCol="0" anchor="ctr"/>
          <a:lstStyle/>
          <a:p>
            <a:pPr indent="0" marL="0">
              <a:buNone/>
            </a:pPr>
            <a:r>
              <a:rPr lang="en-US" sz="1350" b="1" dirty="0">
                <a:solidFill>
                  <a:srgbClr val="F0B89A"/>
                </a:solidFill>
                <a:latin typeface="Cambria" pitchFamily="34" charset="0"/>
                <a:ea typeface="Cambria" pitchFamily="34" charset="-122"/>
                <a:cs typeface="Cambria" pitchFamily="34" charset="-120"/>
              </a:rPr>
              <a:t>ASL-3权重保护的真实门槛</a:t>
            </a:r>
            <a:endParaRPr lang="en-US" sz="1350" dirty="0"/>
          </a:p>
        </p:txBody>
      </p:sp>
      <p:sp>
        <p:nvSpPr>
          <p:cNvPr id="15" name="Text 11"/>
          <p:cNvSpPr/>
          <p:nvPr/>
        </p:nvSpPr>
        <p:spPr>
          <a:xfrm>
            <a:off x="1371600" y="3758184"/>
            <a:ext cx="9509760" cy="749808"/>
          </a:xfrm>
          <a:prstGeom prst="rect">
            <a:avLst/>
          </a:prstGeom>
          <a:noFill/>
          <a:ln/>
        </p:spPr>
        <p:txBody>
          <a:bodyPr wrap="square" lIns="0" tIns="0" rIns="0" bIns="0" rtlCol="0" anchor="ctr"/>
          <a:lstStyle/>
          <a:p>
            <a:pPr indent="0" marL="0">
              <a:lnSpc>
                <a:spcPct val="122000"/>
              </a:lnSpc>
              <a:buNone/>
            </a:pPr>
            <a:r>
              <a:rPr lang="en-US" sz="1050" dirty="0">
                <a:solidFill>
                  <a:srgbClr val="D8D4CB"/>
                </a:solidFill>
                <a:latin typeface="Calibri" pitchFamily="34" charset="0"/>
                <a:ea typeface="Calibri" pitchFamily="34" charset="-122"/>
                <a:cs typeface="Calibri" pitchFamily="34" charset="-120"/>
              </a:rPr>
              <a:t>Anthropic 内部人士承认，相较于“即使是被授权员工也无法窃取权重”的理想目标，目前更现实的成果是对“老练的内部人员”的较低门槛防护，而非应对国家级攻击者的完整方案</a:t>
            </a:r>
            <a:endParaRPr lang="en-US" sz="1050" dirty="0"/>
          </a:p>
        </p:txBody>
      </p:sp>
      <p:sp>
        <p:nvSpPr>
          <p:cNvPr id="16" name="Shape 12"/>
          <p:cNvSpPr/>
          <p:nvPr/>
        </p:nvSpPr>
        <p:spPr>
          <a:xfrm>
            <a:off x="502920" y="4718304"/>
            <a:ext cx="10607040" cy="1234440"/>
          </a:xfrm>
          <a:prstGeom prst="roundRect">
            <a:avLst>
              <a:gd name="adj" fmla="val 7407"/>
            </a:avLst>
          </a:prstGeom>
          <a:solidFill>
            <a:srgbClr val="242422"/>
          </a:solidFill>
          <a:ln w="12700">
            <a:solidFill>
              <a:srgbClr val="B5562F"/>
            </a:solidFill>
            <a:prstDash val="solid"/>
          </a:ln>
        </p:spPr>
      </p:sp>
      <p:sp>
        <p:nvSpPr>
          <p:cNvPr id="17" name="Shape 13"/>
          <p:cNvSpPr/>
          <p:nvPr/>
        </p:nvSpPr>
        <p:spPr>
          <a:xfrm>
            <a:off x="731520" y="4919472"/>
            <a:ext cx="457200" cy="457200"/>
          </a:xfrm>
          <a:prstGeom prst="ellipse">
            <a:avLst/>
          </a:prstGeom>
          <a:solidFill>
            <a:srgbClr val="B5562F"/>
          </a:solidFill>
          <a:ln/>
        </p:spPr>
      </p:sp>
      <p:pic>
        <p:nvPicPr>
          <p:cNvPr id="18" name="Image 2" descr="/home/claude/anthropic_safety_deck/icons/exclamation_white.png">    </p:cNvPr>
          <p:cNvPicPr>
            <a:picLocks noChangeAspect="1"/>
          </p:cNvPicPr>
          <p:nvPr/>
        </p:nvPicPr>
        <p:blipFill>
          <a:blip r:embed="rId3"/>
          <a:stretch>
            <a:fillRect/>
          </a:stretch>
        </p:blipFill>
        <p:spPr>
          <a:xfrm>
            <a:off x="841248" y="5029200"/>
            <a:ext cx="237744" cy="237744"/>
          </a:xfrm>
          <a:prstGeom prst="rect">
            <a:avLst/>
          </a:prstGeom>
        </p:spPr>
      </p:pic>
      <p:sp>
        <p:nvSpPr>
          <p:cNvPr id="19" name="Text 14"/>
          <p:cNvSpPr/>
          <p:nvPr/>
        </p:nvSpPr>
        <p:spPr>
          <a:xfrm>
            <a:off x="1371600" y="4828032"/>
            <a:ext cx="9418320" cy="320040"/>
          </a:xfrm>
          <a:prstGeom prst="rect">
            <a:avLst/>
          </a:prstGeom>
          <a:noFill/>
          <a:ln/>
        </p:spPr>
        <p:txBody>
          <a:bodyPr wrap="square" lIns="0" tIns="0" rIns="0" bIns="0" rtlCol="0" anchor="ctr"/>
          <a:lstStyle/>
          <a:p>
            <a:pPr indent="0" marL="0">
              <a:buNone/>
            </a:pPr>
            <a:r>
              <a:rPr lang="en-US" sz="1350" b="1" dirty="0">
                <a:solidFill>
                  <a:srgbClr val="F0B89A"/>
                </a:solidFill>
                <a:latin typeface="Cambria" pitchFamily="34" charset="0"/>
                <a:ea typeface="Cambria" pitchFamily="34" charset="-122"/>
                <a:cs typeface="Cambria" pitchFamily="34" charset="-120"/>
              </a:rPr>
              <a:t>独立测试发现的真实差距</a:t>
            </a:r>
            <a:endParaRPr lang="en-US" sz="1350" dirty="0"/>
          </a:p>
        </p:txBody>
      </p:sp>
      <p:sp>
        <p:nvSpPr>
          <p:cNvPr id="20" name="Text 15"/>
          <p:cNvSpPr/>
          <p:nvPr/>
        </p:nvSpPr>
        <p:spPr>
          <a:xfrm>
            <a:off x="1371600" y="5157216"/>
            <a:ext cx="9509760" cy="749808"/>
          </a:xfrm>
          <a:prstGeom prst="rect">
            <a:avLst/>
          </a:prstGeom>
          <a:noFill/>
          <a:ln/>
        </p:spPr>
        <p:txBody>
          <a:bodyPr wrap="square" lIns="0" tIns="0" rIns="0" bIns="0" rtlCol="0" anchor="ctr"/>
          <a:lstStyle/>
          <a:p>
            <a:pPr indent="0" marL="0">
              <a:lnSpc>
                <a:spcPct val="122000"/>
              </a:lnSpc>
              <a:buNone/>
            </a:pPr>
            <a:r>
              <a:rPr lang="en-US" sz="1050" dirty="0">
                <a:solidFill>
                  <a:srgbClr val="D8D4CB"/>
                </a:solidFill>
                <a:latin typeface="Calibri" pitchFamily="34" charset="0"/>
                <a:ea typeface="Calibri" pitchFamily="34" charset="-122"/>
                <a:cs typeface="Calibri" pitchFamily="34" charset="-120"/>
              </a:rPr>
              <a:t>UK AISI 等外部红队在每一个被测试的前沿模型（包括Claude）中都发现了重大安全缺口，说明实验室自我评估与独立验证之间仍存在差距</a:t>
            </a:r>
            <a:endParaRPr lang="en-US" sz="1050" dirty="0"/>
          </a:p>
        </p:txBody>
      </p:sp>
      <p:sp>
        <p:nvSpPr>
          <p:cNvPr id="21" name="Text 16"/>
          <p:cNvSpPr/>
          <p:nvPr/>
        </p:nvSpPr>
        <p:spPr>
          <a:xfrm>
            <a:off x="457200" y="6547104"/>
            <a:ext cx="5486400" cy="256032"/>
          </a:xfrm>
          <a:prstGeom prst="rect">
            <a:avLst/>
          </a:prstGeom>
          <a:noFill/>
          <a:ln/>
        </p:spPr>
        <p:txBody>
          <a:bodyPr wrap="square" lIns="0" tIns="0" rIns="0" bIns="0" rtlCol="0" anchor="ctr"/>
          <a:lstStyle/>
          <a:p>
            <a:pPr algn="l" indent="0" marL="0">
              <a:buNone/>
            </a:pPr>
            <a:r>
              <a:rPr lang="en-US" sz="900" dirty="0">
                <a:solidFill>
                  <a:srgbClr val="6B6459"/>
                </a:solidFill>
                <a:latin typeface="Calibri" pitchFamily="34" charset="0"/>
                <a:ea typeface="Calibri" pitchFamily="34" charset="-122"/>
                <a:cs typeface="Calibri" pitchFamily="34" charset="-120"/>
              </a:rPr>
              <a:t>Anthropic 安全治理 · 诚实评估</a:t>
            </a:r>
            <a:endParaRPr lang="en-US" sz="900" dirty="0"/>
          </a:p>
        </p:txBody>
      </p:sp>
      <p:sp>
        <p:nvSpPr>
          <p:cNvPr id="22" name="Text 17"/>
          <p:cNvSpPr/>
          <p:nvPr/>
        </p:nvSpPr>
        <p:spPr>
          <a:xfrm>
            <a:off x="11338560" y="6547104"/>
            <a:ext cx="411480" cy="256032"/>
          </a:xfrm>
          <a:prstGeom prst="rect">
            <a:avLst/>
          </a:prstGeom>
          <a:noFill/>
          <a:ln/>
        </p:spPr>
        <p:txBody>
          <a:bodyPr wrap="square" lIns="0" tIns="0" rIns="0" bIns="0" rtlCol="0" anchor="ctr"/>
          <a:lstStyle/>
          <a:p>
            <a:pPr algn="r" indent="0" marL="0">
              <a:buNone/>
            </a:pPr>
            <a:r>
              <a:rPr lang="en-US" sz="900" dirty="0">
                <a:solidFill>
                  <a:srgbClr val="6B645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19"/>
        </a:solidFill>
      </p:bgPr>
    </p:bg>
    <p:spTree>
      <p:nvGrpSpPr>
        <p:cNvPr id="1" name=""/>
        <p:cNvGrpSpPr/>
        <p:nvPr/>
      </p:nvGrpSpPr>
      <p:grpSpPr>
        <a:xfrm>
          <a:off x="0" y="0"/>
          <a:ext cx="0" cy="0"/>
          <a:chOff x="0" y="0"/>
          <a:chExt cx="0" cy="0"/>
        </a:xfrm>
      </p:grpSpPr>
      <p:sp>
        <p:nvSpPr>
          <p:cNvPr id="2" name="Shape 0"/>
          <p:cNvSpPr/>
          <p:nvPr/>
        </p:nvSpPr>
        <p:spPr>
          <a:xfrm>
            <a:off x="8778240" y="-914400"/>
            <a:ext cx="3657600" cy="3657600"/>
          </a:xfrm>
          <a:prstGeom prst="ellipse">
            <a:avLst/>
          </a:prstGeom>
          <a:ln w="12700">
            <a:solidFill>
              <a:srgbClr val="C2693F">
                <a:alpha val="20000"/>
              </a:srgbClr>
            </a:solidFill>
            <a:prstDash val="solid"/>
          </a:ln>
        </p:spPr>
      </p:sp>
      <p:sp>
        <p:nvSpPr>
          <p:cNvPr id="3" name="Shape 1"/>
          <p:cNvSpPr/>
          <p:nvPr/>
        </p:nvSpPr>
        <p:spPr>
          <a:xfrm>
            <a:off x="7909560" y="-1783080"/>
            <a:ext cx="5394960" cy="5394960"/>
          </a:xfrm>
          <a:prstGeom prst="ellipse">
            <a:avLst/>
          </a:prstGeom>
          <a:ln w="12700">
            <a:solidFill>
              <a:srgbClr val="C2693F">
                <a:alpha val="24000"/>
              </a:srgbClr>
            </a:solidFill>
            <a:prstDash val="solid"/>
          </a:ln>
        </p:spPr>
      </p:sp>
      <p:sp>
        <p:nvSpPr>
          <p:cNvPr id="4" name="Shape 2"/>
          <p:cNvSpPr/>
          <p:nvPr/>
        </p:nvSpPr>
        <p:spPr>
          <a:xfrm>
            <a:off x="7040880" y="-2651760"/>
            <a:ext cx="7132320" cy="7132320"/>
          </a:xfrm>
          <a:prstGeom prst="ellipse">
            <a:avLst/>
          </a:prstGeom>
          <a:ln w="12700">
            <a:solidFill>
              <a:srgbClr val="C2693F">
                <a:alpha val="28000"/>
              </a:srgbClr>
            </a:solidFill>
            <a:prstDash val="solid"/>
          </a:ln>
        </p:spPr>
      </p:sp>
      <p:sp>
        <p:nvSpPr>
          <p:cNvPr id="5" name="Shape 3"/>
          <p:cNvSpPr/>
          <p:nvPr/>
        </p:nvSpPr>
        <p:spPr>
          <a:xfrm>
            <a:off x="6172200" y="-3520440"/>
            <a:ext cx="8869680" cy="8869680"/>
          </a:xfrm>
          <a:prstGeom prst="ellipse">
            <a:avLst/>
          </a:prstGeom>
          <a:ln w="12700">
            <a:solidFill>
              <a:srgbClr val="C2693F">
                <a:alpha val="32000"/>
              </a:srgbClr>
            </a:solidFill>
            <a:prstDash val="solid"/>
          </a:ln>
        </p:spPr>
      </p:sp>
      <p:sp>
        <p:nvSpPr>
          <p:cNvPr id="6" name="Shape 4"/>
          <p:cNvSpPr/>
          <p:nvPr/>
        </p:nvSpPr>
        <p:spPr>
          <a:xfrm>
            <a:off x="502920" y="411480"/>
            <a:ext cx="1737360" cy="310896"/>
          </a:xfrm>
          <a:prstGeom prst="roundRect">
            <a:avLst>
              <a:gd name="adj" fmla="val 20588"/>
            </a:avLst>
          </a:prstGeom>
          <a:solidFill>
            <a:srgbClr val="C2693F"/>
          </a:solidFill>
          <a:ln/>
        </p:spPr>
      </p:sp>
      <p:sp>
        <p:nvSpPr>
          <p:cNvPr id="7" name="Text 5"/>
          <p:cNvSpPr/>
          <p:nvPr/>
        </p:nvSpPr>
        <p:spPr>
          <a:xfrm>
            <a:off x="502920" y="411480"/>
            <a:ext cx="173736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结论</a:t>
            </a:r>
            <a:endParaRPr lang="en-US" sz="1100" dirty="0"/>
          </a:p>
        </p:txBody>
      </p:sp>
      <p:sp>
        <p:nvSpPr>
          <p:cNvPr id="8" name="Text 6"/>
          <p:cNvSpPr/>
          <p:nvPr/>
        </p:nvSpPr>
        <p:spPr>
          <a:xfrm>
            <a:off x="502920" y="914400"/>
            <a:ext cx="10515600" cy="64008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结论：纵深防御体系，而非单一安全特性</a:t>
            </a:r>
            <a:endParaRPr lang="en-US" sz="2700" dirty="0"/>
          </a:p>
        </p:txBody>
      </p:sp>
      <p:sp>
        <p:nvSpPr>
          <p:cNvPr id="9" name="Shape 7"/>
          <p:cNvSpPr/>
          <p:nvPr/>
        </p:nvSpPr>
        <p:spPr>
          <a:xfrm>
            <a:off x="502920" y="1828800"/>
            <a:ext cx="10607040" cy="960120"/>
          </a:xfrm>
          <a:prstGeom prst="roundRect">
            <a:avLst>
              <a:gd name="adj" fmla="val 7619"/>
            </a:avLst>
          </a:prstGeom>
          <a:solidFill>
            <a:srgbClr val="242422"/>
          </a:solidFill>
          <a:ln w="9525">
            <a:solidFill>
              <a:srgbClr val="3A3935"/>
            </a:solidFill>
            <a:prstDash val="solid"/>
          </a:ln>
        </p:spPr>
      </p:sp>
      <p:sp>
        <p:nvSpPr>
          <p:cNvPr id="10" name="Shape 8"/>
          <p:cNvSpPr/>
          <p:nvPr/>
        </p:nvSpPr>
        <p:spPr>
          <a:xfrm>
            <a:off x="731520" y="2084832"/>
            <a:ext cx="457200" cy="457200"/>
          </a:xfrm>
          <a:prstGeom prst="ellipse">
            <a:avLst/>
          </a:prstGeom>
          <a:solidFill>
            <a:srgbClr val="C2693F"/>
          </a:solidFill>
          <a:ln/>
        </p:spPr>
      </p:sp>
      <p:sp>
        <p:nvSpPr>
          <p:cNvPr id="11" name="Text 9"/>
          <p:cNvSpPr/>
          <p:nvPr/>
        </p:nvSpPr>
        <p:spPr>
          <a:xfrm>
            <a:off x="731520" y="20848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2" name="Text 10"/>
          <p:cNvSpPr/>
          <p:nvPr/>
        </p:nvSpPr>
        <p:spPr>
          <a:xfrm>
            <a:off x="1417320" y="1901952"/>
            <a:ext cx="9509760" cy="822960"/>
          </a:xfrm>
          <a:prstGeom prst="rect">
            <a:avLst/>
          </a:prstGeom>
          <a:noFill/>
          <a:ln/>
        </p:spPr>
        <p:txBody>
          <a:bodyPr wrap="square" lIns="0" tIns="0" rIns="0" bIns="0" rtlCol="0" anchor="ctr"/>
          <a:lstStyle/>
          <a:p>
            <a:pPr indent="0" marL="0">
              <a:lnSpc>
                <a:spcPct val="118000"/>
              </a:lnSpc>
              <a:buNone/>
            </a:pPr>
            <a:r>
              <a:rPr lang="en-US" sz="1100" dirty="0">
                <a:solidFill>
                  <a:srgbClr val="D8D4CB"/>
                </a:solidFill>
                <a:latin typeface="Calibri" pitchFamily="34" charset="0"/>
                <a:ea typeface="Calibri" pitchFamily="34" charset="-122"/>
                <a:cs typeface="Calibri" pitchFamily="34" charset="-120"/>
              </a:rPr>
              <a:t>六大能力覆盖模型生命周期全链路：训练阶段（宪法式AI）→ 部署阶段（分类器防御）→ 验证阶段（可解释性+外部红队）→ 制度阶段（RSP分级）</a:t>
            </a:r>
            <a:endParaRPr lang="en-US" sz="1100" dirty="0"/>
          </a:p>
        </p:txBody>
      </p:sp>
      <p:sp>
        <p:nvSpPr>
          <p:cNvPr id="13" name="Shape 11"/>
          <p:cNvSpPr/>
          <p:nvPr/>
        </p:nvSpPr>
        <p:spPr>
          <a:xfrm>
            <a:off x="502920" y="2944368"/>
            <a:ext cx="10607040" cy="960120"/>
          </a:xfrm>
          <a:prstGeom prst="roundRect">
            <a:avLst>
              <a:gd name="adj" fmla="val 7619"/>
            </a:avLst>
          </a:prstGeom>
          <a:solidFill>
            <a:srgbClr val="242422"/>
          </a:solidFill>
          <a:ln w="9525">
            <a:solidFill>
              <a:srgbClr val="3A3935"/>
            </a:solidFill>
            <a:prstDash val="solid"/>
          </a:ln>
        </p:spPr>
      </p:sp>
      <p:sp>
        <p:nvSpPr>
          <p:cNvPr id="14" name="Shape 12"/>
          <p:cNvSpPr/>
          <p:nvPr/>
        </p:nvSpPr>
        <p:spPr>
          <a:xfrm>
            <a:off x="731520" y="3200400"/>
            <a:ext cx="457200" cy="457200"/>
          </a:xfrm>
          <a:prstGeom prst="ellipse">
            <a:avLst/>
          </a:prstGeom>
          <a:solidFill>
            <a:srgbClr val="C2693F"/>
          </a:solidFill>
          <a:ln/>
        </p:spPr>
      </p:sp>
      <p:sp>
        <p:nvSpPr>
          <p:cNvPr id="15" name="Text 13"/>
          <p:cNvSpPr/>
          <p:nvPr/>
        </p:nvSpPr>
        <p:spPr>
          <a:xfrm>
            <a:off x="731520" y="3200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6" name="Text 14"/>
          <p:cNvSpPr/>
          <p:nvPr/>
        </p:nvSpPr>
        <p:spPr>
          <a:xfrm>
            <a:off x="1417320" y="3017520"/>
            <a:ext cx="9509760" cy="822960"/>
          </a:xfrm>
          <a:prstGeom prst="rect">
            <a:avLst/>
          </a:prstGeom>
          <a:noFill/>
          <a:ln/>
        </p:spPr>
        <p:txBody>
          <a:bodyPr wrap="square" lIns="0" tIns="0" rIns="0" bIns="0" rtlCol="0" anchor="ctr"/>
          <a:lstStyle/>
          <a:p>
            <a:pPr indent="0" marL="0">
              <a:lnSpc>
                <a:spcPct val="118000"/>
              </a:lnSpc>
              <a:buNone/>
            </a:pPr>
            <a:r>
              <a:rPr lang="en-US" sz="1100" dirty="0">
                <a:solidFill>
                  <a:srgbClr val="D8D4CB"/>
                </a:solidFill>
                <a:latin typeface="Calibri" pitchFamily="34" charset="0"/>
                <a:ea typeface="Calibri" pitchFamily="34" charset="-122"/>
                <a:cs typeface="Calibri" pitchFamily="34" charset="-120"/>
              </a:rPr>
              <a:t>“瑞士奶酪”哲学贯穿始终：不依赖单一防线的完美无缺，而是通过多层不完美的防护叠加降低整体风险</a:t>
            </a:r>
            <a:endParaRPr lang="en-US" sz="1100" dirty="0"/>
          </a:p>
        </p:txBody>
      </p:sp>
      <p:sp>
        <p:nvSpPr>
          <p:cNvPr id="17" name="Shape 15"/>
          <p:cNvSpPr/>
          <p:nvPr/>
        </p:nvSpPr>
        <p:spPr>
          <a:xfrm>
            <a:off x="502920" y="4059936"/>
            <a:ext cx="10607040" cy="960120"/>
          </a:xfrm>
          <a:prstGeom prst="roundRect">
            <a:avLst>
              <a:gd name="adj" fmla="val 7619"/>
            </a:avLst>
          </a:prstGeom>
          <a:solidFill>
            <a:srgbClr val="242422"/>
          </a:solidFill>
          <a:ln w="9525">
            <a:solidFill>
              <a:srgbClr val="3A3935"/>
            </a:solidFill>
            <a:prstDash val="solid"/>
          </a:ln>
        </p:spPr>
      </p:sp>
      <p:sp>
        <p:nvSpPr>
          <p:cNvPr id="18" name="Shape 16"/>
          <p:cNvSpPr/>
          <p:nvPr/>
        </p:nvSpPr>
        <p:spPr>
          <a:xfrm>
            <a:off x="731520" y="4315968"/>
            <a:ext cx="457200" cy="457200"/>
          </a:xfrm>
          <a:prstGeom prst="ellipse">
            <a:avLst/>
          </a:prstGeom>
          <a:solidFill>
            <a:srgbClr val="C2693F"/>
          </a:solidFill>
          <a:ln/>
        </p:spPr>
      </p:sp>
      <p:sp>
        <p:nvSpPr>
          <p:cNvPr id="19" name="Text 17"/>
          <p:cNvSpPr/>
          <p:nvPr/>
        </p:nvSpPr>
        <p:spPr>
          <a:xfrm>
            <a:off x="731520" y="4315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0" name="Text 18"/>
          <p:cNvSpPr/>
          <p:nvPr/>
        </p:nvSpPr>
        <p:spPr>
          <a:xfrm>
            <a:off x="1417320" y="4133088"/>
            <a:ext cx="9509760" cy="822960"/>
          </a:xfrm>
          <a:prstGeom prst="rect">
            <a:avLst/>
          </a:prstGeom>
          <a:noFill/>
          <a:ln/>
        </p:spPr>
        <p:txBody>
          <a:bodyPr wrap="square" lIns="0" tIns="0" rIns="0" bIns="0" rtlCol="0" anchor="ctr"/>
          <a:lstStyle/>
          <a:p>
            <a:pPr indent="0" marL="0">
              <a:lnSpc>
                <a:spcPct val="118000"/>
              </a:lnSpc>
              <a:buNone/>
            </a:pPr>
            <a:r>
              <a:rPr lang="en-US" sz="1100" dirty="0">
                <a:solidFill>
                  <a:srgbClr val="D8D4CB"/>
                </a:solidFill>
                <a:latin typeface="Calibri" pitchFamily="34" charset="0"/>
                <a:ea typeface="Calibri" pitchFamily="34" charset="-122"/>
                <a:cs typeface="Calibri" pitchFamily="34" charset="-120"/>
              </a:rPr>
              <a:t>外部独立验证是治理可信度的关键支柱：政府红队持续发现实验室自评未能覆盖的真实漏洞</a:t>
            </a:r>
            <a:endParaRPr lang="en-US" sz="1100" dirty="0"/>
          </a:p>
        </p:txBody>
      </p:sp>
      <p:sp>
        <p:nvSpPr>
          <p:cNvPr id="21" name="Shape 19"/>
          <p:cNvSpPr/>
          <p:nvPr/>
        </p:nvSpPr>
        <p:spPr>
          <a:xfrm>
            <a:off x="502920" y="5175504"/>
            <a:ext cx="10607040" cy="960120"/>
          </a:xfrm>
          <a:prstGeom prst="roundRect">
            <a:avLst>
              <a:gd name="adj" fmla="val 7619"/>
            </a:avLst>
          </a:prstGeom>
          <a:solidFill>
            <a:srgbClr val="242422"/>
          </a:solidFill>
          <a:ln w="9525">
            <a:solidFill>
              <a:srgbClr val="3A3935"/>
            </a:solidFill>
            <a:prstDash val="solid"/>
          </a:ln>
        </p:spPr>
      </p:sp>
      <p:sp>
        <p:nvSpPr>
          <p:cNvPr id="22" name="Shape 20"/>
          <p:cNvSpPr/>
          <p:nvPr/>
        </p:nvSpPr>
        <p:spPr>
          <a:xfrm>
            <a:off x="731520" y="5431536"/>
            <a:ext cx="457200" cy="457200"/>
          </a:xfrm>
          <a:prstGeom prst="ellipse">
            <a:avLst/>
          </a:prstGeom>
          <a:solidFill>
            <a:srgbClr val="C2693F"/>
          </a:solidFill>
          <a:ln/>
        </p:spPr>
      </p:sp>
      <p:sp>
        <p:nvSpPr>
          <p:cNvPr id="23" name="Text 21"/>
          <p:cNvSpPr/>
          <p:nvPr/>
        </p:nvSpPr>
        <p:spPr>
          <a:xfrm>
            <a:off x="731520" y="54315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2"/>
          <p:cNvSpPr/>
          <p:nvPr/>
        </p:nvSpPr>
        <p:spPr>
          <a:xfrm>
            <a:off x="1417320" y="5248656"/>
            <a:ext cx="9509760" cy="822960"/>
          </a:xfrm>
          <a:prstGeom prst="rect">
            <a:avLst/>
          </a:prstGeom>
          <a:noFill/>
          <a:ln/>
        </p:spPr>
        <p:txBody>
          <a:bodyPr wrap="square" lIns="0" tIns="0" rIns="0" bIns="0" rtlCol="0" anchor="ctr"/>
          <a:lstStyle/>
          <a:p>
            <a:pPr indent="0" marL="0">
              <a:lnSpc>
                <a:spcPct val="118000"/>
              </a:lnSpc>
              <a:buNone/>
            </a:pPr>
            <a:r>
              <a:rPr lang="en-US" sz="1100" dirty="0">
                <a:solidFill>
                  <a:srgbClr val="D8D4CB"/>
                </a:solidFill>
                <a:latin typeface="Calibri" pitchFamily="34" charset="0"/>
                <a:ea typeface="Calibri" pitchFamily="34" charset="-122"/>
                <a:cs typeface="Calibri" pitchFamily="34" charset="-120"/>
              </a:rPr>
              <a:t>治理体系本身也在动态演化——RSP v3.0对“可中止”条款的弱化提醒我们：安全承诺的强度会随商业与竞争压力波动，需持续追踪而非一次性评判</a:t>
            </a:r>
            <a:endParaRPr lang="en-US" sz="1100" dirty="0"/>
          </a:p>
        </p:txBody>
      </p:sp>
      <p:sp>
        <p:nvSpPr>
          <p:cNvPr id="25" name="Text 23"/>
          <p:cNvSpPr/>
          <p:nvPr/>
        </p:nvSpPr>
        <p:spPr>
          <a:xfrm>
            <a:off x="457200" y="6547104"/>
            <a:ext cx="5486400" cy="256032"/>
          </a:xfrm>
          <a:prstGeom prst="rect">
            <a:avLst/>
          </a:prstGeom>
          <a:noFill/>
          <a:ln/>
        </p:spPr>
        <p:txBody>
          <a:bodyPr wrap="square" lIns="0" tIns="0" rIns="0" bIns="0" rtlCol="0" anchor="ctr"/>
          <a:lstStyle/>
          <a:p>
            <a:pPr algn="l" indent="0" marL="0">
              <a:buNone/>
            </a:pPr>
            <a:r>
              <a:rPr lang="en-US" sz="900" dirty="0">
                <a:solidFill>
                  <a:srgbClr val="6B6459"/>
                </a:solidFill>
                <a:latin typeface="Calibri" pitchFamily="34" charset="0"/>
                <a:ea typeface="Calibri" pitchFamily="34" charset="-122"/>
                <a:cs typeface="Calibri" pitchFamily="34" charset="-120"/>
              </a:rPr>
              <a:t>Anthropic 安全治理 · 结论</a:t>
            </a:r>
            <a:endParaRPr lang="en-US" sz="900" dirty="0"/>
          </a:p>
        </p:txBody>
      </p:sp>
      <p:sp>
        <p:nvSpPr>
          <p:cNvPr id="26" name="Text 24"/>
          <p:cNvSpPr/>
          <p:nvPr/>
        </p:nvSpPr>
        <p:spPr>
          <a:xfrm>
            <a:off x="11338560" y="6547104"/>
            <a:ext cx="411480" cy="256032"/>
          </a:xfrm>
          <a:prstGeom prst="rect">
            <a:avLst/>
          </a:prstGeom>
          <a:noFill/>
          <a:ln/>
        </p:spPr>
        <p:txBody>
          <a:bodyPr wrap="square" lIns="0" tIns="0" rIns="0" bIns="0" rtlCol="0" anchor="ctr"/>
          <a:lstStyle/>
          <a:p>
            <a:pPr algn="r" indent="0" marL="0">
              <a:buNone/>
            </a:pPr>
            <a:r>
              <a:rPr lang="en-US" sz="900" dirty="0">
                <a:solidFill>
                  <a:srgbClr val="6B645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Anthropic 安全治理</dc:title>
  <dc:subject>PptxGenJS Presentation</dc:subject>
  <dc:creator>Claude</dc:creator>
  <cp:lastModifiedBy>Claude</cp:lastModifiedBy>
  <cp:revision>1</cp:revision>
  <dcterms:created xsi:type="dcterms:W3CDTF">2026-06-19T10:01:03Z</dcterms:created>
  <dcterms:modified xsi:type="dcterms:W3CDTF">2026-06-19T10:01:03Z</dcterms:modified>
</cp:coreProperties>
</file>