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Rectangle 1"/>
          <p:cNvSpPr/>
          <p:nvPr/>
        </p:nvSpPr>
        <p:spPr>
          <a:xfrm>
            <a:off x="0" y="4389120"/>
            <a:ext cx="12188952" cy="7315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515600" cy="548640"/>
          </a:xfrm>
          <a:prstGeom prst="rect">
            <a:avLst/>
          </a:prstGeom>
          <a:noFill/>
        </p:spPr>
        <p:txBody>
          <a:bodyPr wrap="square">
            <a:spAutoFit/>
          </a:bodyPr>
          <a:lstStyle/>
          <a:p>
            <a:pPr algn="l"/>
            <a:r>
              <a:rPr sz="1400" b="1" i="0">
                <a:solidFill>
                  <a:srgbClr val="FFD700"/>
                </a:solidFill>
              </a:rPr>
              <a:t>U.S. ENTERPRISE AI DEPLOYMENT</a:t>
            </a:r>
          </a:p>
        </p:txBody>
      </p:sp>
      <p:sp>
        <p:nvSpPr>
          <p:cNvPr id="4" name="TextBox 3"/>
          <p:cNvSpPr txBox="1"/>
          <p:nvPr/>
        </p:nvSpPr>
        <p:spPr>
          <a:xfrm>
            <a:off x="731520" y="1234440"/>
            <a:ext cx="10515600" cy="1371600"/>
          </a:xfrm>
          <a:prstGeom prst="rect">
            <a:avLst/>
          </a:prstGeom>
          <a:noFill/>
        </p:spPr>
        <p:txBody>
          <a:bodyPr wrap="square">
            <a:spAutoFit/>
          </a:bodyPr>
          <a:lstStyle/>
          <a:p>
            <a:pPr algn="l"/>
            <a:r>
              <a:rPr sz="5200" b="1" i="0">
                <a:solidFill>
                  <a:srgbClr val="FFFFFF"/>
                </a:solidFill>
              </a:rPr>
              <a:t>行业智能化落地挑战</a:t>
            </a:r>
          </a:p>
        </p:txBody>
      </p:sp>
      <p:sp>
        <p:nvSpPr>
          <p:cNvPr id="5" name="TextBox 4"/>
          <p:cNvSpPr txBox="1"/>
          <p:nvPr/>
        </p:nvSpPr>
        <p:spPr>
          <a:xfrm>
            <a:off x="731520" y="2651760"/>
            <a:ext cx="10515600" cy="731520"/>
          </a:xfrm>
          <a:prstGeom prst="rect">
            <a:avLst/>
          </a:prstGeom>
          <a:noFill/>
        </p:spPr>
        <p:txBody>
          <a:bodyPr wrap="square">
            <a:spAutoFit/>
          </a:bodyPr>
          <a:lstStyle/>
          <a:p>
            <a:pPr algn="l"/>
            <a:r>
              <a:rPr sz="2800" b="0" i="0">
                <a:solidFill>
                  <a:srgbClr val="AACCFF"/>
                </a:solidFill>
              </a:rPr>
              <a:t>Industry AI Deployment Challenges</a:t>
            </a:r>
          </a:p>
        </p:txBody>
      </p:sp>
      <p:sp>
        <p:nvSpPr>
          <p:cNvPr id="6" name="TextBox 5"/>
          <p:cNvSpPr txBox="1"/>
          <p:nvPr/>
        </p:nvSpPr>
        <p:spPr>
          <a:xfrm>
            <a:off x="731520" y="3429000"/>
            <a:ext cx="10515600" cy="548640"/>
          </a:xfrm>
          <a:prstGeom prst="rect">
            <a:avLst/>
          </a:prstGeom>
          <a:noFill/>
        </p:spPr>
        <p:txBody>
          <a:bodyPr wrap="square">
            <a:spAutoFit/>
          </a:bodyPr>
          <a:lstStyle/>
          <a:p>
            <a:pPr algn="l"/>
            <a:r>
              <a:rPr sz="1200" b="0" i="0">
                <a:solidFill>
                  <a:srgbClr val="88AACC"/>
                </a:solidFill>
              </a:rPr>
              <a:t>Based on McKinsey · Gartner · MIT · S&amp;P Global · Deloitte · PwC Research  |  2024–2026</a:t>
            </a:r>
          </a:p>
        </p:txBody>
      </p:sp>
      <p:sp>
        <p:nvSpPr>
          <p:cNvPr id="7" name="TextBox 6"/>
          <p:cNvSpPr txBox="1"/>
          <p:nvPr/>
        </p:nvSpPr>
        <p:spPr>
          <a:xfrm>
            <a:off x="731520" y="4663440"/>
            <a:ext cx="5486400" cy="457200"/>
          </a:xfrm>
          <a:prstGeom prst="rect">
            <a:avLst/>
          </a:prstGeom>
          <a:noFill/>
        </p:spPr>
        <p:txBody>
          <a:bodyPr wrap="square">
            <a:spAutoFit/>
          </a:bodyPr>
          <a:lstStyle/>
          <a:p>
            <a:pPr algn="l"/>
            <a:r>
              <a:rPr sz="1300" b="0" i="0">
                <a:solidFill>
                  <a:srgbClr val="CCDDFF"/>
                </a:solidFill>
              </a:rPr>
              <a:t>Real-world data from 3,000+ US enterprise AI projects</a:t>
            </a:r>
          </a:p>
        </p:txBody>
      </p:sp>
      <p:sp>
        <p:nvSpPr>
          <p:cNvPr id="8" name="TextBox 7"/>
          <p:cNvSpPr txBox="1"/>
          <p:nvPr/>
        </p:nvSpPr>
        <p:spPr>
          <a:xfrm>
            <a:off x="731520" y="5120640"/>
            <a:ext cx="3657600" cy="365760"/>
          </a:xfrm>
          <a:prstGeom prst="rect">
            <a:avLst/>
          </a:prstGeom>
          <a:noFill/>
        </p:spPr>
        <p:txBody>
          <a:bodyPr wrap="square">
            <a:spAutoFit/>
          </a:bodyPr>
          <a:lstStyle/>
          <a:p>
            <a:pPr algn="l"/>
            <a:r>
              <a:rPr sz="1200" b="0" i="0">
                <a:solidFill>
                  <a:srgbClr val="888899"/>
                </a:solidFill>
              </a:rPr>
              <a:t>April 2026</a:t>
            </a:r>
          </a:p>
        </p:txBody>
      </p:sp>
      <p:sp>
        <p:nvSpPr>
          <p:cNvPr id="9" name="Rectangle 8"/>
          <p:cNvSpPr/>
          <p:nvPr/>
        </p:nvSpPr>
        <p:spPr>
          <a:xfrm>
            <a:off x="8961120" y="1097280"/>
            <a:ext cx="2743200" cy="2926080"/>
          </a:xfrm>
          <a:prstGeom prst="rect">
            <a:avLst/>
          </a:prstGeom>
          <a:solidFill>
            <a:srgbClr val="15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06840" y="1371600"/>
            <a:ext cx="2651760" cy="548640"/>
          </a:xfrm>
          <a:prstGeom prst="rect">
            <a:avLst/>
          </a:prstGeom>
          <a:noFill/>
        </p:spPr>
        <p:txBody>
          <a:bodyPr wrap="square">
            <a:spAutoFit/>
          </a:bodyPr>
          <a:lstStyle/>
          <a:p>
            <a:pPr algn="ctr"/>
            <a:r>
              <a:rPr sz="4400" b="1" i="0">
                <a:solidFill>
                  <a:srgbClr val="FFD700"/>
                </a:solidFill>
              </a:rPr>
              <a:t>42%</a:t>
            </a:r>
          </a:p>
        </p:txBody>
      </p:sp>
      <p:sp>
        <p:nvSpPr>
          <p:cNvPr id="11" name="TextBox 10"/>
          <p:cNvSpPr txBox="1"/>
          <p:nvPr/>
        </p:nvSpPr>
        <p:spPr>
          <a:xfrm>
            <a:off x="9006840" y="1965960"/>
            <a:ext cx="2651760" cy="457200"/>
          </a:xfrm>
          <a:prstGeom prst="rect">
            <a:avLst/>
          </a:prstGeom>
          <a:noFill/>
        </p:spPr>
        <p:txBody>
          <a:bodyPr wrap="square">
            <a:spAutoFit/>
          </a:bodyPr>
          <a:lstStyle/>
          <a:p>
            <a:pPr algn="ctr"/>
            <a:r>
              <a:rPr sz="1100" b="0" i="0">
                <a:solidFill>
                  <a:srgbClr val="FFFFFF"/>
                </a:solidFill>
              </a:rPr>
              <a:t>of companies abandoned</a:t>
            </a:r>
          </a:p>
        </p:txBody>
      </p:sp>
      <p:sp>
        <p:nvSpPr>
          <p:cNvPr id="12" name="TextBox 11"/>
          <p:cNvSpPr txBox="1"/>
          <p:nvPr/>
        </p:nvSpPr>
        <p:spPr>
          <a:xfrm>
            <a:off x="9006840" y="2377440"/>
            <a:ext cx="2651760" cy="411480"/>
          </a:xfrm>
          <a:prstGeom prst="rect">
            <a:avLst/>
          </a:prstGeom>
          <a:noFill/>
        </p:spPr>
        <p:txBody>
          <a:bodyPr wrap="square">
            <a:spAutoFit/>
          </a:bodyPr>
          <a:lstStyle/>
          <a:p>
            <a:pPr algn="ctr"/>
            <a:r>
              <a:rPr sz="1100" b="0" i="0">
                <a:solidFill>
                  <a:srgbClr val="FFFFFF"/>
                </a:solidFill>
              </a:rPr>
              <a:t>most AI initiatives</a:t>
            </a:r>
          </a:p>
        </p:txBody>
      </p:sp>
      <p:sp>
        <p:nvSpPr>
          <p:cNvPr id="13" name="TextBox 12"/>
          <p:cNvSpPr txBox="1"/>
          <p:nvPr/>
        </p:nvSpPr>
        <p:spPr>
          <a:xfrm>
            <a:off x="9006840" y="2834640"/>
            <a:ext cx="2651760" cy="320040"/>
          </a:xfrm>
          <a:prstGeom prst="rect">
            <a:avLst/>
          </a:prstGeom>
          <a:noFill/>
        </p:spPr>
        <p:txBody>
          <a:bodyPr wrap="square">
            <a:spAutoFit/>
          </a:bodyPr>
          <a:lstStyle/>
          <a:p>
            <a:pPr algn="ctr"/>
            <a:r>
              <a:rPr sz="1000" b="0" i="0">
                <a:solidFill>
                  <a:srgbClr val="FFD700"/>
                </a:solidFill>
              </a:rPr>
              <a:t>in 2025</a:t>
            </a:r>
          </a:p>
        </p:txBody>
      </p:sp>
      <p:sp>
        <p:nvSpPr>
          <p:cNvPr id="14" name="TextBox 13"/>
          <p:cNvSpPr txBox="1"/>
          <p:nvPr/>
        </p:nvSpPr>
        <p:spPr>
          <a:xfrm>
            <a:off x="9006840" y="3246120"/>
            <a:ext cx="2651760" cy="320040"/>
          </a:xfrm>
          <a:prstGeom prst="rect">
            <a:avLst/>
          </a:prstGeom>
          <a:noFill/>
        </p:spPr>
        <p:txBody>
          <a:bodyPr wrap="square">
            <a:spAutoFit/>
          </a:bodyPr>
          <a:lstStyle/>
          <a:p>
            <a:pPr algn="ctr"/>
            <a:r>
              <a:rPr sz="850" b="0" i="0">
                <a:solidFill>
                  <a:srgbClr val="88AACC"/>
                </a:solidFill>
              </a:rPr>
              <a:t>— S&amp;P Global,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AI Project Reality Check</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Key Statistics from U.S. Enterprise AI Research  |  2024–2026</a:t>
            </a:r>
          </a:p>
        </p:txBody>
      </p:sp>
      <p:sp>
        <p:nvSpPr>
          <p:cNvPr id="5" name="Rectangle 4"/>
          <p:cNvSpPr/>
          <p:nvPr/>
        </p:nvSpPr>
        <p:spPr>
          <a:xfrm>
            <a:off x="274320" y="1417320"/>
            <a:ext cx="3657600" cy="2103120"/>
          </a:xfrm>
          <a:prstGeom prst="rect">
            <a:avLst/>
          </a:prstGeom>
          <a:solidFill>
            <a:srgbClr val="FFEEE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90472"/>
            <a:ext cx="3474720" cy="502920"/>
          </a:xfrm>
          <a:prstGeom prst="rect">
            <a:avLst/>
          </a:prstGeom>
          <a:noFill/>
        </p:spPr>
        <p:txBody>
          <a:bodyPr wrap="square">
            <a:spAutoFit/>
          </a:bodyPr>
          <a:lstStyle/>
          <a:p>
            <a:pPr algn="ctr"/>
            <a:r>
              <a:rPr sz="2600" b="1" i="0">
                <a:solidFill>
                  <a:srgbClr val="C0392B"/>
                </a:solidFill>
              </a:rPr>
              <a:t>42%</a:t>
            </a:r>
          </a:p>
        </p:txBody>
      </p:sp>
      <p:sp>
        <p:nvSpPr>
          <p:cNvPr id="7" name="TextBox 6"/>
          <p:cNvSpPr txBox="1"/>
          <p:nvPr/>
        </p:nvSpPr>
        <p:spPr>
          <a:xfrm>
            <a:off x="320040" y="1965960"/>
            <a:ext cx="3566160" cy="320040"/>
          </a:xfrm>
          <a:prstGeom prst="rect">
            <a:avLst/>
          </a:prstGeom>
          <a:noFill/>
        </p:spPr>
        <p:txBody>
          <a:bodyPr wrap="square">
            <a:spAutoFit/>
          </a:bodyPr>
          <a:lstStyle/>
          <a:p>
            <a:pPr algn="ctr"/>
            <a:r>
              <a:rPr sz="1000" b="1" i="0">
                <a:solidFill>
                  <a:srgbClr val="0D1B3E"/>
                </a:solidFill>
              </a:rPr>
              <a:t>Abandoned Most AI
Initiatives (2025)</a:t>
            </a:r>
          </a:p>
        </p:txBody>
      </p:sp>
      <p:sp>
        <p:nvSpPr>
          <p:cNvPr id="8" name="TextBox 7"/>
          <p:cNvSpPr txBox="1"/>
          <p:nvPr/>
        </p:nvSpPr>
        <p:spPr>
          <a:xfrm>
            <a:off x="320040" y="2276856"/>
            <a:ext cx="3566160" cy="274320"/>
          </a:xfrm>
          <a:prstGeom prst="rect">
            <a:avLst/>
          </a:prstGeom>
          <a:noFill/>
        </p:spPr>
        <p:txBody>
          <a:bodyPr wrap="square">
            <a:spAutoFit/>
          </a:bodyPr>
          <a:lstStyle/>
          <a:p>
            <a:pPr algn="ctr"/>
            <a:r>
              <a:rPr sz="850" b="0" i="0">
                <a:solidFill>
                  <a:srgbClr val="888899"/>
                </a:solidFill>
              </a:rPr>
              <a:t>↑ from 17% in 2024
— S&amp;P Global</a:t>
            </a:r>
          </a:p>
        </p:txBody>
      </p:sp>
      <p:sp>
        <p:nvSpPr>
          <p:cNvPr id="9" name="Rectangle 8"/>
          <p:cNvSpPr/>
          <p:nvPr/>
        </p:nvSpPr>
        <p:spPr>
          <a:xfrm>
            <a:off x="4251960" y="1417320"/>
            <a:ext cx="3657600" cy="2103120"/>
          </a:xfrm>
          <a:prstGeom prst="rect">
            <a:avLst/>
          </a:prstGeom>
          <a:solidFill>
            <a:srgbClr val="FFEEE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490472"/>
            <a:ext cx="3474720" cy="502920"/>
          </a:xfrm>
          <a:prstGeom prst="rect">
            <a:avLst/>
          </a:prstGeom>
          <a:noFill/>
        </p:spPr>
        <p:txBody>
          <a:bodyPr wrap="square">
            <a:spAutoFit/>
          </a:bodyPr>
          <a:lstStyle/>
          <a:p>
            <a:pPr algn="ctr"/>
            <a:r>
              <a:rPr sz="2600" b="1" i="0">
                <a:solidFill>
                  <a:srgbClr val="C0392B"/>
                </a:solidFill>
              </a:rPr>
              <a:t>5%</a:t>
            </a:r>
          </a:p>
        </p:txBody>
      </p:sp>
      <p:sp>
        <p:nvSpPr>
          <p:cNvPr id="11" name="TextBox 10"/>
          <p:cNvSpPr txBox="1"/>
          <p:nvPr/>
        </p:nvSpPr>
        <p:spPr>
          <a:xfrm>
            <a:off x="4297680" y="1965960"/>
            <a:ext cx="3566160" cy="320040"/>
          </a:xfrm>
          <a:prstGeom prst="rect">
            <a:avLst/>
          </a:prstGeom>
          <a:noFill/>
        </p:spPr>
        <p:txBody>
          <a:bodyPr wrap="square">
            <a:spAutoFit/>
          </a:bodyPr>
          <a:lstStyle/>
          <a:p>
            <a:pPr algn="ctr"/>
            <a:r>
              <a:rPr sz="1000" b="1" i="0">
                <a:solidFill>
                  <a:srgbClr val="0D1B3E"/>
                </a:solidFill>
              </a:rPr>
              <a:t>Pilots Reach
Production w/ ROI</a:t>
            </a:r>
          </a:p>
        </p:txBody>
      </p:sp>
      <p:sp>
        <p:nvSpPr>
          <p:cNvPr id="12" name="TextBox 11"/>
          <p:cNvSpPr txBox="1"/>
          <p:nvPr/>
        </p:nvSpPr>
        <p:spPr>
          <a:xfrm>
            <a:off x="4297680" y="2276856"/>
            <a:ext cx="3566160" cy="274320"/>
          </a:xfrm>
          <a:prstGeom prst="rect">
            <a:avLst/>
          </a:prstGeom>
          <a:noFill/>
        </p:spPr>
        <p:txBody>
          <a:bodyPr wrap="square">
            <a:spAutoFit/>
          </a:bodyPr>
          <a:lstStyle/>
          <a:p>
            <a:pPr algn="ctr"/>
            <a:r>
              <a:rPr sz="850" b="0" i="0">
                <a:solidFill>
                  <a:srgbClr val="888899"/>
                </a:solidFill>
              </a:rPr>
              <a:t>Only 1 in 20
— MIT NANDA 2025</a:t>
            </a:r>
          </a:p>
        </p:txBody>
      </p:sp>
      <p:sp>
        <p:nvSpPr>
          <p:cNvPr id="13" name="Rectangle 12"/>
          <p:cNvSpPr/>
          <p:nvPr/>
        </p:nvSpPr>
        <p:spPr>
          <a:xfrm>
            <a:off x="8229600" y="1417320"/>
            <a:ext cx="3657600" cy="2103120"/>
          </a:xfrm>
          <a:prstGeom prst="rect">
            <a:avLst/>
          </a:prstGeom>
          <a:solidFill>
            <a:srgbClr val="FFF5E6"/>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490472"/>
            <a:ext cx="3474720" cy="502920"/>
          </a:xfrm>
          <a:prstGeom prst="rect">
            <a:avLst/>
          </a:prstGeom>
          <a:noFill/>
        </p:spPr>
        <p:txBody>
          <a:bodyPr wrap="square">
            <a:spAutoFit/>
          </a:bodyPr>
          <a:lstStyle/>
          <a:p>
            <a:pPr algn="ctr"/>
            <a:r>
              <a:rPr sz="2600" b="1" i="0">
                <a:solidFill>
                  <a:srgbClr val="E67E22"/>
                </a:solidFill>
              </a:rPr>
              <a:t>95%</a:t>
            </a:r>
          </a:p>
        </p:txBody>
      </p:sp>
      <p:sp>
        <p:nvSpPr>
          <p:cNvPr id="15" name="TextBox 14"/>
          <p:cNvSpPr txBox="1"/>
          <p:nvPr/>
        </p:nvSpPr>
        <p:spPr>
          <a:xfrm>
            <a:off x="8275320" y="1965960"/>
            <a:ext cx="3566160" cy="320040"/>
          </a:xfrm>
          <a:prstGeom prst="rect">
            <a:avLst/>
          </a:prstGeom>
          <a:noFill/>
        </p:spPr>
        <p:txBody>
          <a:bodyPr wrap="square">
            <a:spAutoFit/>
          </a:bodyPr>
          <a:lstStyle/>
          <a:p>
            <a:pPr algn="ctr"/>
            <a:r>
              <a:rPr sz="1000" b="1" i="0">
                <a:solidFill>
                  <a:srgbClr val="0D1B3E"/>
                </a:solidFill>
              </a:rPr>
              <a:t>of Enterprises
No Measurable ROI</a:t>
            </a:r>
          </a:p>
        </p:txBody>
      </p:sp>
      <p:sp>
        <p:nvSpPr>
          <p:cNvPr id="16" name="TextBox 15"/>
          <p:cNvSpPr txBox="1"/>
          <p:nvPr/>
        </p:nvSpPr>
        <p:spPr>
          <a:xfrm>
            <a:off x="8275320" y="2276856"/>
            <a:ext cx="3566160" cy="274320"/>
          </a:xfrm>
          <a:prstGeom prst="rect">
            <a:avLst/>
          </a:prstGeom>
          <a:noFill/>
        </p:spPr>
        <p:txBody>
          <a:bodyPr wrap="square">
            <a:spAutoFit/>
          </a:bodyPr>
          <a:lstStyle/>
          <a:p>
            <a:pPr algn="ctr"/>
            <a:r>
              <a:rPr sz="850" b="0" i="0">
                <a:solidFill>
                  <a:srgbClr val="888899"/>
                </a:solidFill>
              </a:rPr>
              <a:t>$30-40B invested
— MIT/Fortune 2025</a:t>
            </a:r>
          </a:p>
        </p:txBody>
      </p:sp>
      <p:sp>
        <p:nvSpPr>
          <p:cNvPr id="17" name="Rectangle 16"/>
          <p:cNvSpPr/>
          <p:nvPr/>
        </p:nvSpPr>
        <p:spPr>
          <a:xfrm>
            <a:off x="274320" y="3703320"/>
            <a:ext cx="3657600" cy="2103120"/>
          </a:xfrm>
          <a:prstGeom prst="rect">
            <a:avLst/>
          </a:prstGeom>
          <a:solidFill>
            <a:srgbClr val="E8F0F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776472"/>
            <a:ext cx="3474720" cy="502920"/>
          </a:xfrm>
          <a:prstGeom prst="rect">
            <a:avLst/>
          </a:prstGeom>
          <a:noFill/>
        </p:spPr>
        <p:txBody>
          <a:bodyPr wrap="square">
            <a:spAutoFit/>
          </a:bodyPr>
          <a:lstStyle/>
          <a:p>
            <a:pPr algn="ctr"/>
            <a:r>
              <a:rPr sz="2600" b="1" i="0">
                <a:solidFill>
                  <a:srgbClr val="1A56CC"/>
                </a:solidFill>
              </a:rPr>
              <a:t>73%</a:t>
            </a:r>
          </a:p>
        </p:txBody>
      </p:sp>
      <p:sp>
        <p:nvSpPr>
          <p:cNvPr id="19" name="TextBox 18"/>
          <p:cNvSpPr txBox="1"/>
          <p:nvPr/>
        </p:nvSpPr>
        <p:spPr>
          <a:xfrm>
            <a:off x="320040" y="4251959"/>
            <a:ext cx="3566160" cy="320040"/>
          </a:xfrm>
          <a:prstGeom prst="rect">
            <a:avLst/>
          </a:prstGeom>
          <a:noFill/>
        </p:spPr>
        <p:txBody>
          <a:bodyPr wrap="square">
            <a:spAutoFit/>
          </a:bodyPr>
          <a:lstStyle/>
          <a:p>
            <a:pPr algn="ctr"/>
            <a:r>
              <a:rPr sz="1000" b="1" i="0">
                <a:solidFill>
                  <a:srgbClr val="0D1B3E"/>
                </a:solidFill>
              </a:rPr>
              <a:t>Cite Data Quality
as #1 Barrier</a:t>
            </a:r>
          </a:p>
        </p:txBody>
      </p:sp>
      <p:sp>
        <p:nvSpPr>
          <p:cNvPr id="20" name="TextBox 19"/>
          <p:cNvSpPr txBox="1"/>
          <p:nvPr/>
        </p:nvSpPr>
        <p:spPr>
          <a:xfrm>
            <a:off x="320040" y="4562856"/>
            <a:ext cx="3566160" cy="274320"/>
          </a:xfrm>
          <a:prstGeom prst="rect">
            <a:avLst/>
          </a:prstGeom>
          <a:noFill/>
        </p:spPr>
        <p:txBody>
          <a:bodyPr wrap="square">
            <a:spAutoFit/>
          </a:bodyPr>
          <a:lstStyle/>
          <a:p>
            <a:pPr algn="ctr"/>
            <a:r>
              <a:rPr sz="850" b="0" i="0">
                <a:solidFill>
                  <a:srgbClr val="888899"/>
                </a:solidFill>
              </a:rPr>
              <a:t>— Forrester, 500 leaders</a:t>
            </a:r>
          </a:p>
        </p:txBody>
      </p:sp>
      <p:sp>
        <p:nvSpPr>
          <p:cNvPr id="21" name="Rectangle 20"/>
          <p:cNvSpPr/>
          <p:nvPr/>
        </p:nvSpPr>
        <p:spPr>
          <a:xfrm>
            <a:off x="4251960" y="3703320"/>
            <a:ext cx="3657600" cy="2103120"/>
          </a:xfrm>
          <a:prstGeom prst="rect">
            <a:avLst/>
          </a:prstGeom>
          <a:solidFill>
            <a:srgbClr val="E8F0F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3400" y="3776472"/>
            <a:ext cx="3474720" cy="502920"/>
          </a:xfrm>
          <a:prstGeom prst="rect">
            <a:avLst/>
          </a:prstGeom>
          <a:noFill/>
        </p:spPr>
        <p:txBody>
          <a:bodyPr wrap="square">
            <a:spAutoFit/>
          </a:bodyPr>
          <a:lstStyle/>
          <a:p>
            <a:pPr algn="ctr"/>
            <a:r>
              <a:rPr sz="2600" b="1" i="0">
                <a:solidFill>
                  <a:srgbClr val="1A56CC"/>
                </a:solidFill>
              </a:rPr>
              <a:t>95%</a:t>
            </a:r>
          </a:p>
        </p:txBody>
      </p:sp>
      <p:sp>
        <p:nvSpPr>
          <p:cNvPr id="23" name="TextBox 22"/>
          <p:cNvSpPr txBox="1"/>
          <p:nvPr/>
        </p:nvSpPr>
        <p:spPr>
          <a:xfrm>
            <a:off x="4297680" y="4251959"/>
            <a:ext cx="3566160" cy="320040"/>
          </a:xfrm>
          <a:prstGeom prst="rect">
            <a:avLst/>
          </a:prstGeom>
          <a:noFill/>
        </p:spPr>
        <p:txBody>
          <a:bodyPr wrap="square">
            <a:spAutoFit/>
          </a:bodyPr>
          <a:lstStyle/>
          <a:p>
            <a:pPr algn="ctr"/>
            <a:r>
              <a:rPr sz="1000" b="1" i="0">
                <a:solidFill>
                  <a:srgbClr val="0D1B3E"/>
                </a:solidFill>
              </a:rPr>
              <a:t>IT Leaders Face
Integration Hurdles</a:t>
            </a:r>
          </a:p>
        </p:txBody>
      </p:sp>
      <p:sp>
        <p:nvSpPr>
          <p:cNvPr id="24" name="TextBox 23"/>
          <p:cNvSpPr txBox="1"/>
          <p:nvPr/>
        </p:nvSpPr>
        <p:spPr>
          <a:xfrm>
            <a:off x="4297680" y="4562856"/>
            <a:ext cx="3566160" cy="274320"/>
          </a:xfrm>
          <a:prstGeom prst="rect">
            <a:avLst/>
          </a:prstGeom>
          <a:noFill/>
        </p:spPr>
        <p:txBody>
          <a:bodyPr wrap="square">
            <a:spAutoFit/>
          </a:bodyPr>
          <a:lstStyle/>
          <a:p>
            <a:pPr algn="ctr"/>
            <a:r>
              <a:rPr sz="850" b="0" i="0">
                <a:solidFill>
                  <a:srgbClr val="888899"/>
                </a:solidFill>
              </a:rPr>
              <a:t>— MuleSoft 2025</a:t>
            </a:r>
          </a:p>
        </p:txBody>
      </p:sp>
      <p:sp>
        <p:nvSpPr>
          <p:cNvPr id="25" name="Rectangle 24"/>
          <p:cNvSpPr/>
          <p:nvPr/>
        </p:nvSpPr>
        <p:spPr>
          <a:xfrm>
            <a:off x="8229600" y="3703320"/>
            <a:ext cx="3657600" cy="2103120"/>
          </a:xfrm>
          <a:prstGeom prst="rect">
            <a:avLst/>
          </a:prstGeom>
          <a:solidFill>
            <a:srgbClr val="E8F0F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3776472"/>
            <a:ext cx="3474720" cy="502920"/>
          </a:xfrm>
          <a:prstGeom prst="rect">
            <a:avLst/>
          </a:prstGeom>
          <a:noFill/>
        </p:spPr>
        <p:txBody>
          <a:bodyPr wrap="square">
            <a:spAutoFit/>
          </a:bodyPr>
          <a:lstStyle/>
          <a:p>
            <a:pPr algn="ctr"/>
            <a:r>
              <a:rPr sz="2600" b="1" i="0">
                <a:solidFill>
                  <a:srgbClr val="1A56CC"/>
                </a:solidFill>
              </a:rPr>
              <a:t>94%</a:t>
            </a:r>
          </a:p>
        </p:txBody>
      </p:sp>
      <p:sp>
        <p:nvSpPr>
          <p:cNvPr id="27" name="TextBox 26"/>
          <p:cNvSpPr txBox="1"/>
          <p:nvPr/>
        </p:nvSpPr>
        <p:spPr>
          <a:xfrm>
            <a:off x="8275320" y="4251959"/>
            <a:ext cx="3566160" cy="320040"/>
          </a:xfrm>
          <a:prstGeom prst="rect">
            <a:avLst/>
          </a:prstGeom>
          <a:noFill/>
        </p:spPr>
        <p:txBody>
          <a:bodyPr wrap="square">
            <a:spAutoFit/>
          </a:bodyPr>
          <a:lstStyle/>
          <a:p>
            <a:pPr algn="ctr"/>
            <a:r>
              <a:rPr sz="1000" b="1" i="0">
                <a:solidFill>
                  <a:srgbClr val="0D1B3E"/>
                </a:solidFill>
              </a:rPr>
              <a:t>Leaders Face
AI Skill Shortages</a:t>
            </a:r>
          </a:p>
        </p:txBody>
      </p:sp>
      <p:sp>
        <p:nvSpPr>
          <p:cNvPr id="28" name="TextBox 27"/>
          <p:cNvSpPr txBox="1"/>
          <p:nvPr/>
        </p:nvSpPr>
        <p:spPr>
          <a:xfrm>
            <a:off x="8275320" y="4562856"/>
            <a:ext cx="3566160" cy="274320"/>
          </a:xfrm>
          <a:prstGeom prst="rect">
            <a:avLst/>
          </a:prstGeom>
          <a:noFill/>
        </p:spPr>
        <p:txBody>
          <a:bodyPr wrap="square">
            <a:spAutoFit/>
          </a:bodyPr>
          <a:lstStyle/>
          <a:p>
            <a:pPr algn="ctr"/>
            <a:r>
              <a:rPr sz="850" b="0" i="0">
                <a:solidFill>
                  <a:srgbClr val="888899"/>
                </a:solidFill>
              </a:rPr>
              <a:t>— IBM/Second Talent</a:t>
            </a:r>
          </a:p>
        </p:txBody>
      </p:sp>
      <p:sp>
        <p:nvSpPr>
          <p:cNvPr id="29" name="TextBox 28"/>
          <p:cNvSpPr txBox="1"/>
          <p:nvPr/>
        </p:nvSpPr>
        <p:spPr>
          <a:xfrm>
            <a:off x="274320" y="6400800"/>
            <a:ext cx="11430000" cy="320040"/>
          </a:xfrm>
          <a:prstGeom prst="rect">
            <a:avLst/>
          </a:prstGeom>
          <a:noFill/>
        </p:spPr>
        <p:txBody>
          <a:bodyPr wrap="square">
            <a:spAutoFit/>
          </a:bodyPr>
          <a:lstStyle/>
          <a:p>
            <a:pPr algn="l"/>
            <a:r>
              <a:rPr sz="800" b="0" i="0">
                <a:solidFill>
                  <a:srgbClr val="888899"/>
                </a:solidFill>
              </a:rPr>
              <a:t>Sources: S&amp;P Global (1,006 enterprises) · MIT NANDA (300+ reviews) · Forrester · MuleSoft · IBM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Challenge 1 — Data Quality &amp; Infrastructure</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The #1 root cause of AI project failure across all industries</a:t>
            </a:r>
          </a:p>
        </p:txBody>
      </p:sp>
      <p:sp>
        <p:nvSpPr>
          <p:cNvPr id="5" name="Rectangle 4"/>
          <p:cNvSpPr/>
          <p:nvPr/>
        </p:nvSpPr>
        <p:spPr>
          <a:xfrm>
            <a:off x="274320" y="1417320"/>
            <a:ext cx="3657600" cy="5120640"/>
          </a:xfrm>
          <a:prstGeom prst="rect">
            <a:avLst/>
          </a:prstGeom>
          <a:solidFill>
            <a:srgbClr val="FFFFFF"/>
          </a:solidFill>
          <a:ln w="12700">
            <a:solidFill>
              <a:srgbClr val="CCD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08760"/>
            <a:ext cx="3383280" cy="411480"/>
          </a:xfrm>
          <a:prstGeom prst="rect">
            <a:avLst/>
          </a:prstGeom>
          <a:noFill/>
        </p:spPr>
        <p:txBody>
          <a:bodyPr wrap="square">
            <a:spAutoFit/>
          </a:bodyPr>
          <a:lstStyle/>
          <a:p>
            <a:pPr algn="l"/>
            <a:r>
              <a:rPr sz="1000" b="1" i="0">
                <a:solidFill>
                  <a:srgbClr val="1A56CC"/>
                </a:solidFill>
              </a:rPr>
              <a:t>KEY STATISTICS</a:t>
            </a:r>
          </a:p>
        </p:txBody>
      </p:sp>
      <p:sp>
        <p:nvSpPr>
          <p:cNvPr id="7" name="TextBox 6"/>
          <p:cNvSpPr txBox="1"/>
          <p:nvPr/>
        </p:nvSpPr>
        <p:spPr>
          <a:xfrm>
            <a:off x="411480" y="1920240"/>
            <a:ext cx="1005840" cy="457200"/>
          </a:xfrm>
          <a:prstGeom prst="rect">
            <a:avLst/>
          </a:prstGeom>
          <a:noFill/>
        </p:spPr>
        <p:txBody>
          <a:bodyPr wrap="square">
            <a:spAutoFit/>
          </a:bodyPr>
          <a:lstStyle/>
          <a:p>
            <a:pPr algn="l"/>
            <a:r>
              <a:rPr sz="2200" b="1" i="0">
                <a:solidFill>
                  <a:srgbClr val="C0392B"/>
                </a:solidFill>
              </a:rPr>
              <a:t>73%</a:t>
            </a:r>
          </a:p>
        </p:txBody>
      </p:sp>
      <p:sp>
        <p:nvSpPr>
          <p:cNvPr id="8" name="TextBox 7"/>
          <p:cNvSpPr txBox="1"/>
          <p:nvPr/>
        </p:nvSpPr>
        <p:spPr>
          <a:xfrm>
            <a:off x="1463040" y="1920240"/>
            <a:ext cx="2286000" cy="365760"/>
          </a:xfrm>
          <a:prstGeom prst="rect">
            <a:avLst/>
          </a:prstGeom>
          <a:noFill/>
        </p:spPr>
        <p:txBody>
          <a:bodyPr wrap="square">
            <a:spAutoFit/>
          </a:bodyPr>
          <a:lstStyle/>
          <a:p>
            <a:pPr algn="l"/>
            <a:r>
              <a:rPr sz="1000" b="1" i="0">
                <a:solidFill>
                  <a:srgbClr val="0D1B3E"/>
                </a:solidFill>
              </a:rPr>
              <a:t>cite data quality as
primary AI barrier</a:t>
            </a:r>
          </a:p>
        </p:txBody>
      </p:sp>
      <p:sp>
        <p:nvSpPr>
          <p:cNvPr id="9" name="TextBox 8"/>
          <p:cNvSpPr txBox="1"/>
          <p:nvPr/>
        </p:nvSpPr>
        <p:spPr>
          <a:xfrm>
            <a:off x="1463040" y="2267712"/>
            <a:ext cx="2286000" cy="274320"/>
          </a:xfrm>
          <a:prstGeom prst="rect">
            <a:avLst/>
          </a:prstGeom>
          <a:noFill/>
        </p:spPr>
        <p:txBody>
          <a:bodyPr wrap="square">
            <a:spAutoFit/>
          </a:bodyPr>
          <a:lstStyle/>
          <a:p>
            <a:pPr algn="l"/>
            <a:r>
              <a:rPr sz="800" b="0" i="1">
                <a:solidFill>
                  <a:srgbClr val="888899"/>
                </a:solidFill>
              </a:rPr>
              <a:t>Forrester, 500 leaders</a:t>
            </a:r>
          </a:p>
        </p:txBody>
      </p:sp>
      <p:sp>
        <p:nvSpPr>
          <p:cNvPr id="10" name="TextBox 9"/>
          <p:cNvSpPr txBox="1"/>
          <p:nvPr/>
        </p:nvSpPr>
        <p:spPr>
          <a:xfrm>
            <a:off x="411480" y="2834640"/>
            <a:ext cx="1005840" cy="457200"/>
          </a:xfrm>
          <a:prstGeom prst="rect">
            <a:avLst/>
          </a:prstGeom>
          <a:noFill/>
        </p:spPr>
        <p:txBody>
          <a:bodyPr wrap="square">
            <a:spAutoFit/>
          </a:bodyPr>
          <a:lstStyle/>
          <a:p>
            <a:pPr algn="l"/>
            <a:r>
              <a:rPr sz="2200" b="1" i="0">
                <a:solidFill>
                  <a:srgbClr val="C0392B"/>
                </a:solidFill>
              </a:rPr>
              <a:t>63%</a:t>
            </a:r>
          </a:p>
        </p:txBody>
      </p:sp>
      <p:sp>
        <p:nvSpPr>
          <p:cNvPr id="11" name="TextBox 10"/>
          <p:cNvSpPr txBox="1"/>
          <p:nvPr/>
        </p:nvSpPr>
        <p:spPr>
          <a:xfrm>
            <a:off x="1463040" y="2834640"/>
            <a:ext cx="2286000" cy="365760"/>
          </a:xfrm>
          <a:prstGeom prst="rect">
            <a:avLst/>
          </a:prstGeom>
          <a:noFill/>
        </p:spPr>
        <p:txBody>
          <a:bodyPr wrap="square">
            <a:spAutoFit/>
          </a:bodyPr>
          <a:lstStyle/>
          <a:p>
            <a:pPr algn="l"/>
            <a:r>
              <a:rPr sz="1000" b="1" i="0">
                <a:solidFill>
                  <a:srgbClr val="0D1B3E"/>
                </a:solidFill>
              </a:rPr>
              <a:t>lack proper data
management for AI</a:t>
            </a:r>
          </a:p>
        </p:txBody>
      </p:sp>
      <p:sp>
        <p:nvSpPr>
          <p:cNvPr id="12" name="TextBox 11"/>
          <p:cNvSpPr txBox="1"/>
          <p:nvPr/>
        </p:nvSpPr>
        <p:spPr>
          <a:xfrm>
            <a:off x="1463040" y="3182112"/>
            <a:ext cx="2286000" cy="274320"/>
          </a:xfrm>
          <a:prstGeom prst="rect">
            <a:avLst/>
          </a:prstGeom>
          <a:noFill/>
        </p:spPr>
        <p:txBody>
          <a:bodyPr wrap="square">
            <a:spAutoFit/>
          </a:bodyPr>
          <a:lstStyle/>
          <a:p>
            <a:pPr algn="l"/>
            <a:r>
              <a:rPr sz="800" b="0" i="1">
                <a:solidFill>
                  <a:srgbClr val="888899"/>
                </a:solidFill>
              </a:rPr>
              <a:t>Gartner, 248 leaders</a:t>
            </a:r>
          </a:p>
        </p:txBody>
      </p:sp>
      <p:sp>
        <p:nvSpPr>
          <p:cNvPr id="13" name="TextBox 12"/>
          <p:cNvSpPr txBox="1"/>
          <p:nvPr/>
        </p:nvSpPr>
        <p:spPr>
          <a:xfrm>
            <a:off x="411480" y="3749039"/>
            <a:ext cx="1005840" cy="457200"/>
          </a:xfrm>
          <a:prstGeom prst="rect">
            <a:avLst/>
          </a:prstGeom>
          <a:noFill/>
        </p:spPr>
        <p:txBody>
          <a:bodyPr wrap="square">
            <a:spAutoFit/>
          </a:bodyPr>
          <a:lstStyle/>
          <a:p>
            <a:pPr algn="l"/>
            <a:r>
              <a:rPr sz="2200" b="1" i="0">
                <a:solidFill>
                  <a:srgbClr val="C0392B"/>
                </a:solidFill>
              </a:rPr>
              <a:t>60%</a:t>
            </a:r>
          </a:p>
        </p:txBody>
      </p:sp>
      <p:sp>
        <p:nvSpPr>
          <p:cNvPr id="14" name="TextBox 13"/>
          <p:cNvSpPr txBox="1"/>
          <p:nvPr/>
        </p:nvSpPr>
        <p:spPr>
          <a:xfrm>
            <a:off x="1463040" y="3749039"/>
            <a:ext cx="2286000" cy="365760"/>
          </a:xfrm>
          <a:prstGeom prst="rect">
            <a:avLst/>
          </a:prstGeom>
          <a:noFill/>
        </p:spPr>
        <p:txBody>
          <a:bodyPr wrap="square">
            <a:spAutoFit/>
          </a:bodyPr>
          <a:lstStyle/>
          <a:p>
            <a:pPr algn="l"/>
            <a:r>
              <a:rPr sz="1000" b="1" i="0">
                <a:solidFill>
                  <a:srgbClr val="0D1B3E"/>
                </a:solidFill>
              </a:rPr>
              <a:t>of AI projects will be
abandoned w/o AI-ready data</a:t>
            </a:r>
          </a:p>
        </p:txBody>
      </p:sp>
      <p:sp>
        <p:nvSpPr>
          <p:cNvPr id="15" name="TextBox 14"/>
          <p:cNvSpPr txBox="1"/>
          <p:nvPr/>
        </p:nvSpPr>
        <p:spPr>
          <a:xfrm>
            <a:off x="1463040" y="4096511"/>
            <a:ext cx="2286000" cy="274320"/>
          </a:xfrm>
          <a:prstGeom prst="rect">
            <a:avLst/>
          </a:prstGeom>
          <a:noFill/>
        </p:spPr>
        <p:txBody>
          <a:bodyPr wrap="square">
            <a:spAutoFit/>
          </a:bodyPr>
          <a:lstStyle/>
          <a:p>
            <a:pPr algn="l"/>
            <a:r>
              <a:rPr sz="800" b="0" i="1">
                <a:solidFill>
                  <a:srgbClr val="888899"/>
                </a:solidFill>
              </a:rPr>
              <a:t>Gartner 2025</a:t>
            </a:r>
          </a:p>
        </p:txBody>
      </p:sp>
      <p:sp>
        <p:nvSpPr>
          <p:cNvPr id="16" name="TextBox 15"/>
          <p:cNvSpPr txBox="1"/>
          <p:nvPr/>
        </p:nvSpPr>
        <p:spPr>
          <a:xfrm>
            <a:off x="411480" y="4663440"/>
            <a:ext cx="1005840" cy="457200"/>
          </a:xfrm>
          <a:prstGeom prst="rect">
            <a:avLst/>
          </a:prstGeom>
          <a:noFill/>
        </p:spPr>
        <p:txBody>
          <a:bodyPr wrap="square">
            <a:spAutoFit/>
          </a:bodyPr>
          <a:lstStyle/>
          <a:p>
            <a:pPr algn="l"/>
            <a:r>
              <a:rPr sz="2200" b="1" i="0">
                <a:solidFill>
                  <a:srgbClr val="C0392B"/>
                </a:solidFill>
              </a:rPr>
              <a:t>95%</a:t>
            </a:r>
          </a:p>
        </p:txBody>
      </p:sp>
      <p:sp>
        <p:nvSpPr>
          <p:cNvPr id="17" name="TextBox 16"/>
          <p:cNvSpPr txBox="1"/>
          <p:nvPr/>
        </p:nvSpPr>
        <p:spPr>
          <a:xfrm>
            <a:off x="1463040" y="4663440"/>
            <a:ext cx="2286000" cy="365760"/>
          </a:xfrm>
          <a:prstGeom prst="rect">
            <a:avLst/>
          </a:prstGeom>
          <a:noFill/>
        </p:spPr>
        <p:txBody>
          <a:bodyPr wrap="square">
            <a:spAutoFit/>
          </a:bodyPr>
          <a:lstStyle/>
          <a:p>
            <a:pPr algn="l"/>
            <a:r>
              <a:rPr sz="1000" b="1" i="0">
                <a:solidFill>
                  <a:srgbClr val="0D1B3E"/>
                </a:solidFill>
              </a:rPr>
              <a:t>struggle with unstructured
data governance</a:t>
            </a:r>
          </a:p>
        </p:txBody>
      </p:sp>
      <p:sp>
        <p:nvSpPr>
          <p:cNvPr id="18" name="TextBox 17"/>
          <p:cNvSpPr txBox="1"/>
          <p:nvPr/>
        </p:nvSpPr>
        <p:spPr>
          <a:xfrm>
            <a:off x="1463040" y="5010912"/>
            <a:ext cx="2286000" cy="274320"/>
          </a:xfrm>
          <a:prstGeom prst="rect">
            <a:avLst/>
          </a:prstGeom>
          <a:noFill/>
        </p:spPr>
        <p:txBody>
          <a:bodyPr wrap="square">
            <a:spAutoFit/>
          </a:bodyPr>
          <a:lstStyle/>
          <a:p>
            <a:pPr algn="l"/>
            <a:r>
              <a:rPr sz="800" b="0" i="1">
                <a:solidFill>
                  <a:srgbClr val="888899"/>
                </a:solidFill>
              </a:rPr>
              <a:t>Multiple sources</a:t>
            </a:r>
          </a:p>
        </p:txBody>
      </p:sp>
      <p:sp>
        <p:nvSpPr>
          <p:cNvPr id="19" name="TextBox 18"/>
          <p:cNvSpPr txBox="1"/>
          <p:nvPr/>
        </p:nvSpPr>
        <p:spPr>
          <a:xfrm>
            <a:off x="4206240" y="1417320"/>
            <a:ext cx="7680960" cy="365760"/>
          </a:xfrm>
          <a:prstGeom prst="rect">
            <a:avLst/>
          </a:prstGeom>
          <a:noFill/>
        </p:spPr>
        <p:txBody>
          <a:bodyPr wrap="square">
            <a:spAutoFit/>
          </a:bodyPr>
          <a:lstStyle/>
          <a:p>
            <a:pPr algn="l"/>
            <a:r>
              <a:rPr sz="1100" b="1" i="0">
                <a:solidFill>
                  <a:srgbClr val="1A56CC"/>
                </a:solidFill>
              </a:rPr>
              <a:t>THREE ROOT CAUSES</a:t>
            </a:r>
          </a:p>
        </p:txBody>
      </p:sp>
      <p:sp>
        <p:nvSpPr>
          <p:cNvPr id="20" name="Rectangle 19"/>
          <p:cNvSpPr/>
          <p:nvPr/>
        </p:nvSpPr>
        <p:spPr>
          <a:xfrm>
            <a:off x="4206240" y="1874519"/>
            <a:ext cx="7680960" cy="1508760"/>
          </a:xfrm>
          <a:prstGeom prst="rect">
            <a:avLst/>
          </a:prstGeom>
          <a:solidFill>
            <a:srgbClr val="EBF3FF"/>
          </a:solidFill>
          <a:ln w="1905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920239"/>
            <a:ext cx="7315200" cy="320040"/>
          </a:xfrm>
          <a:prstGeom prst="rect">
            <a:avLst/>
          </a:prstGeom>
          <a:noFill/>
        </p:spPr>
        <p:txBody>
          <a:bodyPr wrap="square">
            <a:spAutoFit/>
          </a:bodyPr>
          <a:lstStyle/>
          <a:p>
            <a:pPr algn="l"/>
            <a:r>
              <a:rPr sz="1100" b="1" i="0">
                <a:solidFill>
                  <a:srgbClr val="1A56CC"/>
                </a:solidFill>
              </a:rPr>
              <a:t>Data Silos &amp; Fragmentation</a:t>
            </a:r>
          </a:p>
        </p:txBody>
      </p:sp>
      <p:sp>
        <p:nvSpPr>
          <p:cNvPr id="22" name="TextBox 21"/>
          <p:cNvSpPr txBox="1"/>
          <p:nvPr/>
        </p:nvSpPr>
        <p:spPr>
          <a:xfrm>
            <a:off x="4480560" y="2240279"/>
            <a:ext cx="7223760" cy="256032"/>
          </a:xfrm>
          <a:prstGeom prst="rect">
            <a:avLst/>
          </a:prstGeom>
          <a:noFill/>
        </p:spPr>
        <p:txBody>
          <a:bodyPr wrap="square">
            <a:spAutoFit/>
          </a:bodyPr>
          <a:lstStyle/>
          <a:p>
            <a:pPr algn="l"/>
            <a:r>
              <a:rPr sz="950" b="0" i="0">
                <a:solidFill>
                  <a:srgbClr val="444455"/>
                </a:solidFill>
              </a:rPr>
              <a:t>• CRM, ERP, OA, production systems operate in isolation</a:t>
            </a:r>
          </a:p>
        </p:txBody>
      </p:sp>
      <p:sp>
        <p:nvSpPr>
          <p:cNvPr id="23" name="TextBox 22"/>
          <p:cNvSpPr txBox="1"/>
          <p:nvPr/>
        </p:nvSpPr>
        <p:spPr>
          <a:xfrm>
            <a:off x="4480560" y="2496311"/>
            <a:ext cx="7223760" cy="256032"/>
          </a:xfrm>
          <a:prstGeom prst="rect">
            <a:avLst/>
          </a:prstGeom>
          <a:noFill/>
        </p:spPr>
        <p:txBody>
          <a:bodyPr wrap="square">
            <a:spAutoFit/>
          </a:bodyPr>
          <a:lstStyle/>
          <a:p>
            <a:pPr algn="l"/>
            <a:r>
              <a:rPr sz="950" b="0" i="0">
                <a:solidFill>
                  <a:srgbClr val="444455"/>
                </a:solidFill>
              </a:rPr>
              <a:t>• No unified data standards across departments</a:t>
            </a:r>
          </a:p>
        </p:txBody>
      </p:sp>
      <p:sp>
        <p:nvSpPr>
          <p:cNvPr id="24" name="TextBox 23"/>
          <p:cNvSpPr txBox="1"/>
          <p:nvPr/>
        </p:nvSpPr>
        <p:spPr>
          <a:xfrm>
            <a:off x="4480560" y="2752344"/>
            <a:ext cx="7223760" cy="256032"/>
          </a:xfrm>
          <a:prstGeom prst="rect">
            <a:avLst/>
          </a:prstGeom>
          <a:noFill/>
        </p:spPr>
        <p:txBody>
          <a:bodyPr wrap="square">
            <a:spAutoFit/>
          </a:bodyPr>
          <a:lstStyle/>
          <a:p>
            <a:pPr algn="l"/>
            <a:r>
              <a:rPr sz="950" b="0" i="0">
                <a:solidFill>
                  <a:srgbClr val="444455"/>
                </a:solidFill>
              </a:rPr>
              <a:t>• "Same metric, three different answers" syndrome</a:t>
            </a:r>
          </a:p>
        </p:txBody>
      </p:sp>
      <p:sp>
        <p:nvSpPr>
          <p:cNvPr id="25" name="TextBox 24"/>
          <p:cNvSpPr txBox="1"/>
          <p:nvPr/>
        </p:nvSpPr>
        <p:spPr>
          <a:xfrm>
            <a:off x="4480560" y="3008376"/>
            <a:ext cx="7223760" cy="256032"/>
          </a:xfrm>
          <a:prstGeom prst="rect">
            <a:avLst/>
          </a:prstGeom>
          <a:noFill/>
        </p:spPr>
        <p:txBody>
          <a:bodyPr wrap="square">
            <a:spAutoFit/>
          </a:bodyPr>
          <a:lstStyle/>
          <a:p>
            <a:pPr algn="l"/>
            <a:r>
              <a:rPr sz="950" b="0" i="0">
                <a:solidFill>
                  <a:srgbClr val="444455"/>
                </a:solidFill>
              </a:rPr>
              <a:t>• Only 28% of enterprise applications are connected (MuleSoft)</a:t>
            </a:r>
          </a:p>
        </p:txBody>
      </p:sp>
      <p:sp>
        <p:nvSpPr>
          <p:cNvPr id="26" name="Rectangle 25"/>
          <p:cNvSpPr/>
          <p:nvPr/>
        </p:nvSpPr>
        <p:spPr>
          <a:xfrm>
            <a:off x="4206240" y="3474720"/>
            <a:ext cx="7680960" cy="1508760"/>
          </a:xfrm>
          <a:prstGeom prst="rect">
            <a:avLst/>
          </a:prstGeom>
          <a:solidFill>
            <a:srgbClr val="FFF5E8"/>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3520439"/>
            <a:ext cx="7315200" cy="320040"/>
          </a:xfrm>
          <a:prstGeom prst="rect">
            <a:avLst/>
          </a:prstGeom>
          <a:noFill/>
        </p:spPr>
        <p:txBody>
          <a:bodyPr wrap="square">
            <a:spAutoFit/>
          </a:bodyPr>
          <a:lstStyle/>
          <a:p>
            <a:pPr algn="l"/>
            <a:r>
              <a:rPr sz="1100" b="1" i="0">
                <a:solidFill>
                  <a:srgbClr val="E67E22"/>
                </a:solidFill>
              </a:rPr>
              <a:t>Data Quality Collapse</a:t>
            </a:r>
          </a:p>
        </p:txBody>
      </p:sp>
      <p:sp>
        <p:nvSpPr>
          <p:cNvPr id="28" name="TextBox 27"/>
          <p:cNvSpPr txBox="1"/>
          <p:nvPr/>
        </p:nvSpPr>
        <p:spPr>
          <a:xfrm>
            <a:off x="4480560" y="3840480"/>
            <a:ext cx="7223760" cy="256032"/>
          </a:xfrm>
          <a:prstGeom prst="rect">
            <a:avLst/>
          </a:prstGeom>
          <a:noFill/>
        </p:spPr>
        <p:txBody>
          <a:bodyPr wrap="square">
            <a:spAutoFit/>
          </a:bodyPr>
          <a:lstStyle/>
          <a:p>
            <a:pPr algn="l"/>
            <a:r>
              <a:rPr sz="950" b="0" i="0">
                <a:solidFill>
                  <a:srgbClr val="444455"/>
                </a:solidFill>
              </a:rPr>
              <a:t>• 67% don't trust their org's data for AI decisions (↑ from 55%)</a:t>
            </a:r>
          </a:p>
        </p:txBody>
      </p:sp>
      <p:sp>
        <p:nvSpPr>
          <p:cNvPr id="29" name="TextBox 28"/>
          <p:cNvSpPr txBox="1"/>
          <p:nvPr/>
        </p:nvSpPr>
        <p:spPr>
          <a:xfrm>
            <a:off x="4480560" y="4096512"/>
            <a:ext cx="7223760" cy="256032"/>
          </a:xfrm>
          <a:prstGeom prst="rect">
            <a:avLst/>
          </a:prstGeom>
          <a:noFill/>
        </p:spPr>
        <p:txBody>
          <a:bodyPr wrap="square">
            <a:spAutoFit/>
          </a:bodyPr>
          <a:lstStyle/>
          <a:p>
            <a:pPr algn="l"/>
            <a:r>
              <a:rPr sz="950" b="0" i="0">
                <a:solidFill>
                  <a:srgbClr val="444455"/>
                </a:solidFill>
              </a:rPr>
              <a:t>• High missing values, noise, outdated records</a:t>
            </a:r>
          </a:p>
        </p:txBody>
      </p:sp>
      <p:sp>
        <p:nvSpPr>
          <p:cNvPr id="30" name="TextBox 29"/>
          <p:cNvSpPr txBox="1"/>
          <p:nvPr/>
        </p:nvSpPr>
        <p:spPr>
          <a:xfrm>
            <a:off x="4480560" y="4352544"/>
            <a:ext cx="7223760" cy="256032"/>
          </a:xfrm>
          <a:prstGeom prst="rect">
            <a:avLst/>
          </a:prstGeom>
          <a:noFill/>
        </p:spPr>
        <p:txBody>
          <a:bodyPr wrap="square">
            <a:spAutoFit/>
          </a:bodyPr>
          <a:lstStyle/>
          <a:p>
            <a:pPr algn="l"/>
            <a:r>
              <a:rPr sz="950" b="0" i="0">
                <a:solidFill>
                  <a:srgbClr val="444455"/>
                </a:solidFill>
              </a:rPr>
              <a:t>• "Garbage in, garbage out" — model output only as good as input</a:t>
            </a:r>
          </a:p>
        </p:txBody>
      </p:sp>
      <p:sp>
        <p:nvSpPr>
          <p:cNvPr id="31" name="TextBox 30"/>
          <p:cNvSpPr txBox="1"/>
          <p:nvPr/>
        </p:nvSpPr>
        <p:spPr>
          <a:xfrm>
            <a:off x="4480560" y="4608576"/>
            <a:ext cx="7223760" cy="256032"/>
          </a:xfrm>
          <a:prstGeom prst="rect">
            <a:avLst/>
          </a:prstGeom>
          <a:noFill/>
        </p:spPr>
        <p:txBody>
          <a:bodyPr wrap="square">
            <a:spAutoFit/>
          </a:bodyPr>
          <a:lstStyle/>
          <a:p>
            <a:pPr algn="l"/>
            <a:r>
              <a:rPr sz="950" b="0" i="0">
                <a:solidFill>
                  <a:srgbClr val="444455"/>
                </a:solidFill>
              </a:rPr>
              <a:t>• Pipeline development takes up to 12 weeks (Informatica)</a:t>
            </a:r>
          </a:p>
        </p:txBody>
      </p:sp>
      <p:sp>
        <p:nvSpPr>
          <p:cNvPr id="32" name="Rectangle 31"/>
          <p:cNvSpPr/>
          <p:nvPr/>
        </p:nvSpPr>
        <p:spPr>
          <a:xfrm>
            <a:off x="4206240" y="5074920"/>
            <a:ext cx="7680960" cy="1508760"/>
          </a:xfrm>
          <a:prstGeom prst="rect">
            <a:avLst/>
          </a:prstGeom>
          <a:solidFill>
            <a:srgbClr val="FFEEEC"/>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43400" y="5120640"/>
            <a:ext cx="7315200" cy="320040"/>
          </a:xfrm>
          <a:prstGeom prst="rect">
            <a:avLst/>
          </a:prstGeom>
          <a:noFill/>
        </p:spPr>
        <p:txBody>
          <a:bodyPr wrap="square">
            <a:spAutoFit/>
          </a:bodyPr>
          <a:lstStyle/>
          <a:p>
            <a:pPr algn="l"/>
            <a:r>
              <a:rPr sz="1100" b="1" i="0">
                <a:solidFill>
                  <a:srgbClr val="C0392B"/>
                </a:solidFill>
              </a:rPr>
              <a:t>Governance &amp; Privacy Gaps</a:t>
            </a:r>
          </a:p>
        </p:txBody>
      </p:sp>
      <p:sp>
        <p:nvSpPr>
          <p:cNvPr id="34" name="TextBox 33"/>
          <p:cNvSpPr txBox="1"/>
          <p:nvPr/>
        </p:nvSpPr>
        <p:spPr>
          <a:xfrm>
            <a:off x="4480560" y="5440680"/>
            <a:ext cx="7223760" cy="256032"/>
          </a:xfrm>
          <a:prstGeom prst="rect">
            <a:avLst/>
          </a:prstGeom>
          <a:noFill/>
        </p:spPr>
        <p:txBody>
          <a:bodyPr wrap="square">
            <a:spAutoFit/>
          </a:bodyPr>
          <a:lstStyle/>
          <a:p>
            <a:pPr algn="l"/>
            <a:r>
              <a:rPr sz="950" b="0" i="0">
                <a:solidFill>
                  <a:srgbClr val="444455"/>
                </a:solidFill>
              </a:rPr>
              <a:t>• HIPAA: 725 healthcare breaches exposed 275M records (2024)</a:t>
            </a:r>
          </a:p>
        </p:txBody>
      </p:sp>
      <p:sp>
        <p:nvSpPr>
          <p:cNvPr id="35" name="TextBox 34"/>
          <p:cNvSpPr txBox="1"/>
          <p:nvPr/>
        </p:nvSpPr>
        <p:spPr>
          <a:xfrm>
            <a:off x="4480560" y="5696712"/>
            <a:ext cx="7223760" cy="256032"/>
          </a:xfrm>
          <a:prstGeom prst="rect">
            <a:avLst/>
          </a:prstGeom>
          <a:noFill/>
        </p:spPr>
        <p:txBody>
          <a:bodyPr wrap="square">
            <a:spAutoFit/>
          </a:bodyPr>
          <a:lstStyle/>
          <a:p>
            <a:pPr algn="l"/>
            <a:r>
              <a:rPr sz="950" b="0" i="0">
                <a:solidFill>
                  <a:srgbClr val="444455"/>
                </a:solidFill>
              </a:rPr>
              <a:t>• PII in training data creates regulatory exposure</a:t>
            </a:r>
          </a:p>
        </p:txBody>
      </p:sp>
      <p:sp>
        <p:nvSpPr>
          <p:cNvPr id="36" name="TextBox 35"/>
          <p:cNvSpPr txBox="1"/>
          <p:nvPr/>
        </p:nvSpPr>
        <p:spPr>
          <a:xfrm>
            <a:off x="4480560" y="5952744"/>
            <a:ext cx="7223760" cy="256032"/>
          </a:xfrm>
          <a:prstGeom prst="rect">
            <a:avLst/>
          </a:prstGeom>
          <a:noFill/>
        </p:spPr>
        <p:txBody>
          <a:bodyPr wrap="square">
            <a:spAutoFit/>
          </a:bodyPr>
          <a:lstStyle/>
          <a:p>
            <a:pPr algn="l"/>
            <a:r>
              <a:rPr sz="950" b="0" i="0">
                <a:solidFill>
                  <a:srgbClr val="444455"/>
                </a:solidFill>
              </a:rPr>
              <a:t>• 95% recognize unstructured data protection as critical problem</a:t>
            </a:r>
          </a:p>
        </p:txBody>
      </p:sp>
      <p:sp>
        <p:nvSpPr>
          <p:cNvPr id="37" name="TextBox 36"/>
          <p:cNvSpPr txBox="1"/>
          <p:nvPr/>
        </p:nvSpPr>
        <p:spPr>
          <a:xfrm>
            <a:off x="4480560" y="6208776"/>
            <a:ext cx="7223760" cy="256032"/>
          </a:xfrm>
          <a:prstGeom prst="rect">
            <a:avLst/>
          </a:prstGeom>
          <a:noFill/>
        </p:spPr>
        <p:txBody>
          <a:bodyPr wrap="square">
            <a:spAutoFit/>
          </a:bodyPr>
          <a:lstStyle/>
          <a:p>
            <a:pPr algn="l"/>
            <a:r>
              <a:rPr sz="950" b="0" i="0">
                <a:solidFill>
                  <a:srgbClr val="444455"/>
                </a:solidFill>
              </a:rPr>
              <a:t>• Consent frameworks lag AI data usage patterns</a:t>
            </a:r>
          </a:p>
        </p:txBody>
      </p:sp>
      <p:sp>
        <p:nvSpPr>
          <p:cNvPr id="38" name="TextBox 37"/>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Sources: Gartner AI Data Readiness (Feb 2025) · Forrester/Capital One Survey · Informatica CDO Insights 2025 · MuleSoft Connectivity Benchmark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Challenge 2 — Legacy System Integration</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95% of IT leaders report integration hurdles impeding AI implementation  — MuleSoft 2025</a:t>
            </a:r>
          </a:p>
        </p:txBody>
      </p:sp>
      <p:sp>
        <p:nvSpPr>
          <p:cNvPr id="5" name="Rectangle 4"/>
          <p:cNvSpPr/>
          <p:nvPr/>
        </p:nvSpPr>
        <p:spPr>
          <a:xfrm>
            <a:off x="274320" y="1417320"/>
            <a:ext cx="2240280" cy="1691640"/>
          </a:xfrm>
          <a:prstGeom prst="rect">
            <a:avLst/>
          </a:prstGeom>
          <a:solidFill>
            <a:srgbClr val="E8F0F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90472"/>
            <a:ext cx="2057400" cy="502920"/>
          </a:xfrm>
          <a:prstGeom prst="rect">
            <a:avLst/>
          </a:prstGeom>
          <a:noFill/>
        </p:spPr>
        <p:txBody>
          <a:bodyPr wrap="square">
            <a:spAutoFit/>
          </a:bodyPr>
          <a:lstStyle/>
          <a:p>
            <a:pPr algn="ctr"/>
            <a:r>
              <a:rPr sz="2600" b="1" i="0">
                <a:solidFill>
                  <a:srgbClr val="1A56CC"/>
                </a:solidFill>
              </a:rPr>
              <a:t>95%</a:t>
            </a:r>
          </a:p>
        </p:txBody>
      </p:sp>
      <p:sp>
        <p:nvSpPr>
          <p:cNvPr id="7" name="TextBox 6"/>
          <p:cNvSpPr txBox="1"/>
          <p:nvPr/>
        </p:nvSpPr>
        <p:spPr>
          <a:xfrm>
            <a:off x="320040" y="1965960"/>
            <a:ext cx="2148840" cy="320040"/>
          </a:xfrm>
          <a:prstGeom prst="rect">
            <a:avLst/>
          </a:prstGeom>
          <a:noFill/>
        </p:spPr>
        <p:txBody>
          <a:bodyPr wrap="square">
            <a:spAutoFit/>
          </a:bodyPr>
          <a:lstStyle/>
          <a:p>
            <a:pPr algn="ctr"/>
            <a:r>
              <a:rPr sz="1000" b="1" i="0">
                <a:solidFill>
                  <a:srgbClr val="0D1B3E"/>
                </a:solidFill>
              </a:rPr>
              <a:t>IT Leaders: Integration
Impedes AI</a:t>
            </a:r>
          </a:p>
        </p:txBody>
      </p:sp>
      <p:sp>
        <p:nvSpPr>
          <p:cNvPr id="8" name="TextBox 7"/>
          <p:cNvSpPr txBox="1"/>
          <p:nvPr/>
        </p:nvSpPr>
        <p:spPr>
          <a:xfrm>
            <a:off x="320040" y="2276856"/>
            <a:ext cx="2148840" cy="274320"/>
          </a:xfrm>
          <a:prstGeom prst="rect">
            <a:avLst/>
          </a:prstGeom>
          <a:noFill/>
        </p:spPr>
        <p:txBody>
          <a:bodyPr wrap="square">
            <a:spAutoFit/>
          </a:bodyPr>
          <a:lstStyle/>
          <a:p>
            <a:pPr algn="ctr"/>
            <a:r>
              <a:rPr sz="850" b="0" i="0">
                <a:solidFill>
                  <a:srgbClr val="888899"/>
                </a:solidFill>
              </a:rPr>
              <a:t>MuleSoft 2025</a:t>
            </a:r>
          </a:p>
        </p:txBody>
      </p:sp>
      <p:sp>
        <p:nvSpPr>
          <p:cNvPr id="9" name="Rectangle 8"/>
          <p:cNvSpPr/>
          <p:nvPr/>
        </p:nvSpPr>
        <p:spPr>
          <a:xfrm>
            <a:off x="2633472" y="1417320"/>
            <a:ext cx="2240280" cy="1691640"/>
          </a:xfrm>
          <a:prstGeom prst="rect">
            <a:avLst/>
          </a:prstGeom>
          <a:solidFill>
            <a:srgbClr val="E8F0F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24912" y="1490472"/>
            <a:ext cx="2057400" cy="502920"/>
          </a:xfrm>
          <a:prstGeom prst="rect">
            <a:avLst/>
          </a:prstGeom>
          <a:noFill/>
        </p:spPr>
        <p:txBody>
          <a:bodyPr wrap="square">
            <a:spAutoFit/>
          </a:bodyPr>
          <a:lstStyle/>
          <a:p>
            <a:pPr algn="ctr"/>
            <a:r>
              <a:rPr sz="2600" b="1" i="0">
                <a:solidFill>
                  <a:srgbClr val="1A56CC"/>
                </a:solidFill>
              </a:rPr>
              <a:t>28%</a:t>
            </a:r>
          </a:p>
        </p:txBody>
      </p:sp>
      <p:sp>
        <p:nvSpPr>
          <p:cNvPr id="11" name="TextBox 10"/>
          <p:cNvSpPr txBox="1"/>
          <p:nvPr/>
        </p:nvSpPr>
        <p:spPr>
          <a:xfrm>
            <a:off x="2679191" y="1965960"/>
            <a:ext cx="2148840" cy="320040"/>
          </a:xfrm>
          <a:prstGeom prst="rect">
            <a:avLst/>
          </a:prstGeom>
          <a:noFill/>
        </p:spPr>
        <p:txBody>
          <a:bodyPr wrap="square">
            <a:spAutoFit/>
          </a:bodyPr>
          <a:lstStyle/>
          <a:p>
            <a:pPr algn="ctr"/>
            <a:r>
              <a:rPr sz="1000" b="1" i="0">
                <a:solidFill>
                  <a:srgbClr val="0D1B3E"/>
                </a:solidFill>
              </a:rPr>
              <a:t>Enterprise Apps
Actually Connected</a:t>
            </a:r>
          </a:p>
        </p:txBody>
      </p:sp>
      <p:sp>
        <p:nvSpPr>
          <p:cNvPr id="12" name="TextBox 11"/>
          <p:cNvSpPr txBox="1"/>
          <p:nvPr/>
        </p:nvSpPr>
        <p:spPr>
          <a:xfrm>
            <a:off x="2679191" y="2276856"/>
            <a:ext cx="2148840" cy="274320"/>
          </a:xfrm>
          <a:prstGeom prst="rect">
            <a:avLst/>
          </a:prstGeom>
          <a:noFill/>
        </p:spPr>
        <p:txBody>
          <a:bodyPr wrap="square">
            <a:spAutoFit/>
          </a:bodyPr>
          <a:lstStyle/>
          <a:p>
            <a:pPr algn="ctr"/>
            <a:r>
              <a:rPr sz="850" b="0" i="0">
                <a:solidFill>
                  <a:srgbClr val="888899"/>
                </a:solidFill>
              </a:rPr>
              <a:t>MuleSoft</a:t>
            </a:r>
          </a:p>
        </p:txBody>
      </p:sp>
      <p:sp>
        <p:nvSpPr>
          <p:cNvPr id="13" name="Rectangle 12"/>
          <p:cNvSpPr/>
          <p:nvPr/>
        </p:nvSpPr>
        <p:spPr>
          <a:xfrm>
            <a:off x="4992624" y="1417320"/>
            <a:ext cx="2240280" cy="1691640"/>
          </a:xfrm>
          <a:prstGeom prst="rect">
            <a:avLst/>
          </a:prstGeom>
          <a:solidFill>
            <a:srgbClr val="E8F0F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4064" y="1490472"/>
            <a:ext cx="2057400" cy="502920"/>
          </a:xfrm>
          <a:prstGeom prst="rect">
            <a:avLst/>
          </a:prstGeom>
          <a:noFill/>
        </p:spPr>
        <p:txBody>
          <a:bodyPr wrap="square">
            <a:spAutoFit/>
          </a:bodyPr>
          <a:lstStyle/>
          <a:p>
            <a:pPr algn="ctr"/>
            <a:r>
              <a:rPr sz="2600" b="1" i="0">
                <a:solidFill>
                  <a:srgbClr val="1A56CC"/>
                </a:solidFill>
              </a:rPr>
              <a:t>12 wks</a:t>
            </a:r>
          </a:p>
        </p:txBody>
      </p:sp>
      <p:sp>
        <p:nvSpPr>
          <p:cNvPr id="15" name="TextBox 14"/>
          <p:cNvSpPr txBox="1"/>
          <p:nvPr/>
        </p:nvSpPr>
        <p:spPr>
          <a:xfrm>
            <a:off x="5038344" y="1965960"/>
            <a:ext cx="2148840" cy="320040"/>
          </a:xfrm>
          <a:prstGeom prst="rect">
            <a:avLst/>
          </a:prstGeom>
          <a:noFill/>
        </p:spPr>
        <p:txBody>
          <a:bodyPr wrap="square">
            <a:spAutoFit/>
          </a:bodyPr>
          <a:lstStyle/>
          <a:p>
            <a:pPr algn="ctr"/>
            <a:r>
              <a:rPr sz="1000" b="1" i="0">
                <a:solidFill>
                  <a:srgbClr val="0D1B3E"/>
                </a:solidFill>
              </a:rPr>
              <a:t>Avg. Pipeline Dev
Time</a:t>
            </a:r>
          </a:p>
        </p:txBody>
      </p:sp>
      <p:sp>
        <p:nvSpPr>
          <p:cNvPr id="16" name="TextBox 15"/>
          <p:cNvSpPr txBox="1"/>
          <p:nvPr/>
        </p:nvSpPr>
        <p:spPr>
          <a:xfrm>
            <a:off x="5038344" y="2276856"/>
            <a:ext cx="2148840" cy="274320"/>
          </a:xfrm>
          <a:prstGeom prst="rect">
            <a:avLst/>
          </a:prstGeom>
          <a:noFill/>
        </p:spPr>
        <p:txBody>
          <a:bodyPr wrap="square">
            <a:spAutoFit/>
          </a:bodyPr>
          <a:lstStyle/>
          <a:p>
            <a:pPr algn="ctr"/>
            <a:r>
              <a:rPr sz="850" b="0" i="0">
                <a:solidFill>
                  <a:srgbClr val="888899"/>
                </a:solidFill>
              </a:rPr>
              <a:t>Informatica</a:t>
            </a:r>
          </a:p>
        </p:txBody>
      </p:sp>
      <p:sp>
        <p:nvSpPr>
          <p:cNvPr id="17" name="Rectangle 16"/>
          <p:cNvSpPr/>
          <p:nvPr/>
        </p:nvSpPr>
        <p:spPr>
          <a:xfrm>
            <a:off x="7351776" y="1417320"/>
            <a:ext cx="2240280" cy="1691640"/>
          </a:xfrm>
          <a:prstGeom prst="rect">
            <a:avLst/>
          </a:prstGeom>
          <a:solidFill>
            <a:srgbClr val="FFF0E0"/>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3216" y="1490472"/>
            <a:ext cx="2057400" cy="502920"/>
          </a:xfrm>
          <a:prstGeom prst="rect">
            <a:avLst/>
          </a:prstGeom>
          <a:noFill/>
        </p:spPr>
        <p:txBody>
          <a:bodyPr wrap="square">
            <a:spAutoFit/>
          </a:bodyPr>
          <a:lstStyle/>
          <a:p>
            <a:pPr algn="ctr"/>
            <a:r>
              <a:rPr sz="2600" b="1" i="0">
                <a:solidFill>
                  <a:srgbClr val="E67E22"/>
                </a:solidFill>
              </a:rPr>
              <a:t>57%</a:t>
            </a:r>
          </a:p>
        </p:txBody>
      </p:sp>
      <p:sp>
        <p:nvSpPr>
          <p:cNvPr id="19" name="TextBox 18"/>
          <p:cNvSpPr txBox="1"/>
          <p:nvPr/>
        </p:nvSpPr>
        <p:spPr>
          <a:xfrm>
            <a:off x="7397496" y="1965960"/>
            <a:ext cx="2148840" cy="320040"/>
          </a:xfrm>
          <a:prstGeom prst="rect">
            <a:avLst/>
          </a:prstGeom>
          <a:noFill/>
        </p:spPr>
        <p:txBody>
          <a:bodyPr wrap="square">
            <a:spAutoFit/>
          </a:bodyPr>
          <a:lstStyle/>
          <a:p>
            <a:pPr algn="ctr"/>
            <a:r>
              <a:rPr sz="1000" b="1" i="0">
                <a:solidFill>
                  <a:srgbClr val="0D1B3E"/>
                </a:solidFill>
              </a:rPr>
              <a:t>Business Needs Change
Before Integration Done</a:t>
            </a:r>
          </a:p>
        </p:txBody>
      </p:sp>
      <p:sp>
        <p:nvSpPr>
          <p:cNvPr id="20" name="TextBox 19"/>
          <p:cNvSpPr txBox="1"/>
          <p:nvPr/>
        </p:nvSpPr>
        <p:spPr>
          <a:xfrm>
            <a:off x="7397496" y="2276856"/>
            <a:ext cx="2148840" cy="274320"/>
          </a:xfrm>
          <a:prstGeom prst="rect">
            <a:avLst/>
          </a:prstGeom>
          <a:noFill/>
        </p:spPr>
        <p:txBody>
          <a:bodyPr wrap="square">
            <a:spAutoFit/>
          </a:bodyPr>
          <a:lstStyle/>
          <a:p>
            <a:pPr algn="ctr"/>
            <a:r>
              <a:rPr sz="850" b="0" i="0">
                <a:solidFill>
                  <a:srgbClr val="888899"/>
                </a:solidFill>
              </a:rPr>
              <a:t>Informatica</a:t>
            </a:r>
          </a:p>
        </p:txBody>
      </p:sp>
      <p:sp>
        <p:nvSpPr>
          <p:cNvPr id="21" name="Rectangle 20"/>
          <p:cNvSpPr/>
          <p:nvPr/>
        </p:nvSpPr>
        <p:spPr>
          <a:xfrm>
            <a:off x="9710928" y="1417320"/>
            <a:ext cx="2240280" cy="1691640"/>
          </a:xfrm>
          <a:prstGeom prst="rect">
            <a:avLst/>
          </a:prstGeom>
          <a:solidFill>
            <a:srgbClr val="FFF0E0"/>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02368" y="1490472"/>
            <a:ext cx="2057400" cy="502920"/>
          </a:xfrm>
          <a:prstGeom prst="rect">
            <a:avLst/>
          </a:prstGeom>
          <a:noFill/>
        </p:spPr>
        <p:txBody>
          <a:bodyPr wrap="square">
            <a:spAutoFit/>
          </a:bodyPr>
          <a:lstStyle/>
          <a:p>
            <a:pPr algn="ctr"/>
            <a:r>
              <a:rPr sz="2600" b="1" i="0">
                <a:solidFill>
                  <a:srgbClr val="E67E22"/>
                </a:solidFill>
              </a:rPr>
              <a:t>42%</a:t>
            </a:r>
          </a:p>
        </p:txBody>
      </p:sp>
      <p:sp>
        <p:nvSpPr>
          <p:cNvPr id="23" name="TextBox 22"/>
          <p:cNvSpPr txBox="1"/>
          <p:nvPr/>
        </p:nvSpPr>
        <p:spPr>
          <a:xfrm>
            <a:off x="9756648" y="1965960"/>
            <a:ext cx="2148840" cy="320040"/>
          </a:xfrm>
          <a:prstGeom prst="rect">
            <a:avLst/>
          </a:prstGeom>
          <a:noFill/>
        </p:spPr>
        <p:txBody>
          <a:bodyPr wrap="square">
            <a:spAutoFit/>
          </a:bodyPr>
          <a:lstStyle/>
          <a:p>
            <a:pPr algn="ctr"/>
            <a:r>
              <a:rPr sz="1000" b="1" i="0">
                <a:solidFill>
                  <a:srgbClr val="0D1B3E"/>
                </a:solidFill>
              </a:rPr>
              <a:t>Compute Costs
'Too High' (2025)</a:t>
            </a:r>
          </a:p>
        </p:txBody>
      </p:sp>
      <p:sp>
        <p:nvSpPr>
          <p:cNvPr id="24" name="TextBox 23"/>
          <p:cNvSpPr txBox="1"/>
          <p:nvPr/>
        </p:nvSpPr>
        <p:spPr>
          <a:xfrm>
            <a:off x="9756648" y="2276856"/>
            <a:ext cx="2148840" cy="274320"/>
          </a:xfrm>
          <a:prstGeom prst="rect">
            <a:avLst/>
          </a:prstGeom>
          <a:noFill/>
        </p:spPr>
        <p:txBody>
          <a:bodyPr wrap="square">
            <a:spAutoFit/>
          </a:bodyPr>
          <a:lstStyle/>
          <a:p>
            <a:pPr algn="ctr"/>
            <a:r>
              <a:rPr sz="850" b="0" i="0">
                <a:solidFill>
                  <a:srgbClr val="888899"/>
                </a:solidFill>
              </a:rPr>
              <a:t>↑ from 8% in 2024</a:t>
            </a:r>
          </a:p>
        </p:txBody>
      </p:sp>
      <p:sp>
        <p:nvSpPr>
          <p:cNvPr id="25" name="TextBox 24"/>
          <p:cNvSpPr txBox="1"/>
          <p:nvPr/>
        </p:nvSpPr>
        <p:spPr>
          <a:xfrm>
            <a:off x="274320" y="3246120"/>
            <a:ext cx="11612880" cy="365760"/>
          </a:xfrm>
          <a:prstGeom prst="rect">
            <a:avLst/>
          </a:prstGeom>
          <a:noFill/>
        </p:spPr>
        <p:txBody>
          <a:bodyPr wrap="square">
            <a:spAutoFit/>
          </a:bodyPr>
          <a:lstStyle/>
          <a:p>
            <a:pPr algn="l"/>
            <a:r>
              <a:rPr sz="1100" b="1" i="0">
                <a:solidFill>
                  <a:srgbClr val="1A56CC"/>
                </a:solidFill>
              </a:rPr>
              <a:t>THREE SYSTEMIC BARRIERS</a:t>
            </a:r>
          </a:p>
        </p:txBody>
      </p:sp>
      <p:sp>
        <p:nvSpPr>
          <p:cNvPr id="26" name="Rectangle 25"/>
          <p:cNvSpPr/>
          <p:nvPr/>
        </p:nvSpPr>
        <p:spPr>
          <a:xfrm>
            <a:off x="274320" y="3657600"/>
            <a:ext cx="3840480" cy="2834640"/>
          </a:xfrm>
          <a:prstGeom prst="rect">
            <a:avLst/>
          </a:prstGeom>
          <a:solidFill>
            <a:srgbClr val="FFFFFF"/>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3657600"/>
            <a:ext cx="384048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3703320"/>
            <a:ext cx="3657600" cy="320040"/>
          </a:xfrm>
          <a:prstGeom prst="rect">
            <a:avLst/>
          </a:prstGeom>
          <a:noFill/>
        </p:spPr>
        <p:txBody>
          <a:bodyPr wrap="square">
            <a:spAutoFit/>
          </a:bodyPr>
          <a:lstStyle/>
          <a:p>
            <a:pPr algn="l"/>
            <a:r>
              <a:rPr sz="1100" b="1" i="0">
                <a:solidFill>
                  <a:srgbClr val="FFFFFF"/>
                </a:solidFill>
              </a:rPr>
              <a:t>Legacy System Lock-In</a:t>
            </a:r>
          </a:p>
        </p:txBody>
      </p:sp>
      <p:sp>
        <p:nvSpPr>
          <p:cNvPr id="29" name="TextBox 28"/>
          <p:cNvSpPr txBox="1"/>
          <p:nvPr/>
        </p:nvSpPr>
        <p:spPr>
          <a:xfrm>
            <a:off x="411479" y="4114800"/>
            <a:ext cx="3566160" cy="530352"/>
          </a:xfrm>
          <a:prstGeom prst="rect">
            <a:avLst/>
          </a:prstGeom>
          <a:noFill/>
        </p:spPr>
        <p:txBody>
          <a:bodyPr wrap="square">
            <a:spAutoFit/>
          </a:bodyPr>
          <a:lstStyle/>
          <a:p>
            <a:pPr algn="l"/>
            <a:r>
              <a:rPr sz="950" b="0" i="0">
                <a:solidFill>
                  <a:srgbClr val="444455"/>
                </a:solidFill>
              </a:rPr>
              <a:t>▸  Core ERP/CRM/MES systems built 10–20 years ago, closed architecture</a:t>
            </a:r>
          </a:p>
        </p:txBody>
      </p:sp>
      <p:sp>
        <p:nvSpPr>
          <p:cNvPr id="30" name="TextBox 29"/>
          <p:cNvSpPr txBox="1"/>
          <p:nvPr/>
        </p:nvSpPr>
        <p:spPr>
          <a:xfrm>
            <a:off x="411479" y="4663440"/>
            <a:ext cx="3566160" cy="530352"/>
          </a:xfrm>
          <a:prstGeom prst="rect">
            <a:avLst/>
          </a:prstGeom>
          <a:noFill/>
        </p:spPr>
        <p:txBody>
          <a:bodyPr wrap="square">
            <a:spAutoFit/>
          </a:bodyPr>
          <a:lstStyle/>
          <a:p>
            <a:pPr algn="l"/>
            <a:r>
              <a:rPr sz="950" b="0" i="0">
                <a:solidFill>
                  <a:srgbClr val="444455"/>
                </a:solidFill>
              </a:rPr>
              <a:t>▸  No open APIs → agents cannot read/write business data directly</a:t>
            </a:r>
          </a:p>
        </p:txBody>
      </p:sp>
      <p:sp>
        <p:nvSpPr>
          <p:cNvPr id="31" name="TextBox 30"/>
          <p:cNvSpPr txBox="1"/>
          <p:nvPr/>
        </p:nvSpPr>
        <p:spPr>
          <a:xfrm>
            <a:off x="411479" y="5212080"/>
            <a:ext cx="3566160" cy="530352"/>
          </a:xfrm>
          <a:prstGeom prst="rect">
            <a:avLst/>
          </a:prstGeom>
          <a:noFill/>
        </p:spPr>
        <p:txBody>
          <a:bodyPr wrap="square">
            <a:spAutoFit/>
          </a:bodyPr>
          <a:lstStyle/>
          <a:p>
            <a:pPr algn="l"/>
            <a:r>
              <a:rPr sz="950" b="0" i="0">
                <a:solidFill>
                  <a:srgbClr val="444455"/>
                </a:solidFill>
              </a:rPr>
              <a:t>▸  Modification costs are high; third-party vendors must coordinate</a:t>
            </a:r>
          </a:p>
        </p:txBody>
      </p:sp>
      <p:sp>
        <p:nvSpPr>
          <p:cNvPr id="32" name="TextBox 31"/>
          <p:cNvSpPr txBox="1"/>
          <p:nvPr/>
        </p:nvSpPr>
        <p:spPr>
          <a:xfrm>
            <a:off x="411479" y="5760720"/>
            <a:ext cx="3566160" cy="530352"/>
          </a:xfrm>
          <a:prstGeom prst="rect">
            <a:avLst/>
          </a:prstGeom>
          <a:noFill/>
        </p:spPr>
        <p:txBody>
          <a:bodyPr wrap="square">
            <a:spAutoFit/>
          </a:bodyPr>
          <a:lstStyle/>
          <a:p>
            <a:pPr algn="l"/>
            <a:r>
              <a:rPr sz="950" b="0" i="0">
                <a:solidFill>
                  <a:srgbClr val="444455"/>
                </a:solidFill>
              </a:rPr>
              <a:t>▸  Fortune 500 retailer abandoned ERP replacement after costs hit $780M (McKinsey)</a:t>
            </a:r>
          </a:p>
        </p:txBody>
      </p:sp>
      <p:sp>
        <p:nvSpPr>
          <p:cNvPr id="33" name="Rectangle 32"/>
          <p:cNvSpPr/>
          <p:nvPr/>
        </p:nvSpPr>
        <p:spPr>
          <a:xfrm>
            <a:off x="4251959" y="3657600"/>
            <a:ext cx="3840480" cy="283464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51959" y="3657600"/>
            <a:ext cx="3840480" cy="38404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399" y="3703320"/>
            <a:ext cx="3657600" cy="320040"/>
          </a:xfrm>
          <a:prstGeom prst="rect">
            <a:avLst/>
          </a:prstGeom>
          <a:noFill/>
        </p:spPr>
        <p:txBody>
          <a:bodyPr wrap="square">
            <a:spAutoFit/>
          </a:bodyPr>
          <a:lstStyle/>
          <a:p>
            <a:pPr algn="l"/>
            <a:r>
              <a:rPr sz="1100" b="1" i="0">
                <a:solidFill>
                  <a:srgbClr val="FFFFFF"/>
                </a:solidFill>
              </a:rPr>
              <a:t>OT/IT Convergence Gap</a:t>
            </a:r>
          </a:p>
        </p:txBody>
      </p:sp>
      <p:sp>
        <p:nvSpPr>
          <p:cNvPr id="36" name="TextBox 35"/>
          <p:cNvSpPr txBox="1"/>
          <p:nvPr/>
        </p:nvSpPr>
        <p:spPr>
          <a:xfrm>
            <a:off x="4389120" y="4114800"/>
            <a:ext cx="3566160" cy="530352"/>
          </a:xfrm>
          <a:prstGeom prst="rect">
            <a:avLst/>
          </a:prstGeom>
          <a:noFill/>
        </p:spPr>
        <p:txBody>
          <a:bodyPr wrap="square">
            <a:spAutoFit/>
          </a:bodyPr>
          <a:lstStyle/>
          <a:p>
            <a:pPr algn="l"/>
            <a:r>
              <a:rPr sz="950" b="0" i="0">
                <a:solidFill>
                  <a:srgbClr val="444455"/>
                </a:solidFill>
              </a:rPr>
              <a:t>▸  Manufacturing: industrial control networks physically air-gapped</a:t>
            </a:r>
          </a:p>
        </p:txBody>
      </p:sp>
      <p:sp>
        <p:nvSpPr>
          <p:cNvPr id="37" name="TextBox 36"/>
          <p:cNvSpPr txBox="1"/>
          <p:nvPr/>
        </p:nvSpPr>
        <p:spPr>
          <a:xfrm>
            <a:off x="4389120" y="4663440"/>
            <a:ext cx="3566160" cy="530352"/>
          </a:xfrm>
          <a:prstGeom prst="rect">
            <a:avLst/>
          </a:prstGeom>
          <a:noFill/>
        </p:spPr>
        <p:txBody>
          <a:bodyPr wrap="square">
            <a:spAutoFit/>
          </a:bodyPr>
          <a:lstStyle/>
          <a:p>
            <a:pPr algn="l"/>
            <a:r>
              <a:rPr sz="950" b="0" i="0">
                <a:solidFill>
                  <a:srgbClr val="444455"/>
                </a:solidFill>
              </a:rPr>
              <a:t>▸  PLC/SCADA systems use fragmented protocols (Modbus, OPC-UA)</a:t>
            </a:r>
          </a:p>
        </p:txBody>
      </p:sp>
      <p:sp>
        <p:nvSpPr>
          <p:cNvPr id="38" name="TextBox 37"/>
          <p:cNvSpPr txBox="1"/>
          <p:nvPr/>
        </p:nvSpPr>
        <p:spPr>
          <a:xfrm>
            <a:off x="4389120" y="5212080"/>
            <a:ext cx="3566160" cy="530352"/>
          </a:xfrm>
          <a:prstGeom prst="rect">
            <a:avLst/>
          </a:prstGeom>
          <a:noFill/>
        </p:spPr>
        <p:txBody>
          <a:bodyPr wrap="square">
            <a:spAutoFit/>
          </a:bodyPr>
          <a:lstStyle/>
          <a:p>
            <a:pPr algn="l"/>
            <a:r>
              <a:rPr sz="950" b="0" i="0">
                <a:solidFill>
                  <a:srgbClr val="444455"/>
                </a:solidFill>
              </a:rPr>
              <a:t>▸  Real-time production control requires &lt;10ms; LLM inference cannot match</a:t>
            </a:r>
          </a:p>
        </p:txBody>
      </p:sp>
      <p:sp>
        <p:nvSpPr>
          <p:cNvPr id="39" name="TextBox 38"/>
          <p:cNvSpPr txBox="1"/>
          <p:nvPr/>
        </p:nvSpPr>
        <p:spPr>
          <a:xfrm>
            <a:off x="4389120" y="5760720"/>
            <a:ext cx="3566160" cy="530352"/>
          </a:xfrm>
          <a:prstGeom prst="rect">
            <a:avLst/>
          </a:prstGeom>
          <a:noFill/>
        </p:spPr>
        <p:txBody>
          <a:bodyPr wrap="square">
            <a:spAutoFit/>
          </a:bodyPr>
          <a:lstStyle/>
          <a:p>
            <a:pPr algn="l"/>
            <a:r>
              <a:rPr sz="950" b="0" i="0">
                <a:solidFill>
                  <a:srgbClr val="444455"/>
                </a:solidFill>
              </a:rPr>
              <a:t>▸  AI-integrated industrial networks saw 34% YoY increase in cyberattacks</a:t>
            </a:r>
          </a:p>
        </p:txBody>
      </p:sp>
      <p:sp>
        <p:nvSpPr>
          <p:cNvPr id="40" name="Rectangle 39"/>
          <p:cNvSpPr/>
          <p:nvPr/>
        </p:nvSpPr>
        <p:spPr>
          <a:xfrm>
            <a:off x="8229600" y="3657600"/>
            <a:ext cx="3840480" cy="2834640"/>
          </a:xfrm>
          <a:prstGeom prst="rect">
            <a:avLst/>
          </a:prstGeom>
          <a:solidFill>
            <a:srgbClr val="FFFFFF"/>
          </a:solidFill>
          <a:ln w="254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29600" y="3657600"/>
            <a:ext cx="3840480" cy="384048"/>
          </a:xfrm>
          <a:prstGeom prst="rect">
            <a:avLst/>
          </a:prstGeom>
          <a:solidFill>
            <a:srgbClr val="1A5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21040" y="3703320"/>
            <a:ext cx="3657600" cy="320040"/>
          </a:xfrm>
          <a:prstGeom prst="rect">
            <a:avLst/>
          </a:prstGeom>
          <a:noFill/>
        </p:spPr>
        <p:txBody>
          <a:bodyPr wrap="square">
            <a:spAutoFit/>
          </a:bodyPr>
          <a:lstStyle/>
          <a:p>
            <a:pPr algn="l"/>
            <a:r>
              <a:rPr sz="1100" b="1" i="0">
                <a:solidFill>
                  <a:srgbClr val="FFFFFF"/>
                </a:solidFill>
              </a:rPr>
              <a:t>Multi-System Data Consistency</a:t>
            </a:r>
          </a:p>
        </p:txBody>
      </p:sp>
      <p:sp>
        <p:nvSpPr>
          <p:cNvPr id="43" name="TextBox 42"/>
          <p:cNvSpPr txBox="1"/>
          <p:nvPr/>
        </p:nvSpPr>
        <p:spPr>
          <a:xfrm>
            <a:off x="8366760" y="4114800"/>
            <a:ext cx="3566160" cy="530352"/>
          </a:xfrm>
          <a:prstGeom prst="rect">
            <a:avLst/>
          </a:prstGeom>
          <a:noFill/>
        </p:spPr>
        <p:txBody>
          <a:bodyPr wrap="square">
            <a:spAutoFit/>
          </a:bodyPr>
          <a:lstStyle/>
          <a:p>
            <a:pPr algn="l"/>
            <a:r>
              <a:rPr sz="950" b="0" i="0">
                <a:solidFill>
                  <a:srgbClr val="444455"/>
                </a:solidFill>
              </a:rPr>
              <a:t>▸  Cross-system transactions lack rollback mechanisms for agent errors</a:t>
            </a:r>
          </a:p>
        </p:txBody>
      </p:sp>
      <p:sp>
        <p:nvSpPr>
          <p:cNvPr id="44" name="TextBox 43"/>
          <p:cNvSpPr txBox="1"/>
          <p:nvPr/>
        </p:nvSpPr>
        <p:spPr>
          <a:xfrm>
            <a:off x="8366760" y="4663440"/>
            <a:ext cx="3566160" cy="530352"/>
          </a:xfrm>
          <a:prstGeom prst="rect">
            <a:avLst/>
          </a:prstGeom>
          <a:noFill/>
        </p:spPr>
        <p:txBody>
          <a:bodyPr wrap="square">
            <a:spAutoFit/>
          </a:bodyPr>
          <a:lstStyle/>
          <a:p>
            <a:pPr algn="l"/>
            <a:r>
              <a:rPr sz="950" b="0" i="0">
                <a:solidFill>
                  <a:srgbClr val="444455"/>
                </a:solidFill>
              </a:rPr>
              <a:t>▸  Timestamp/format mismatches create semantic conflicts</a:t>
            </a:r>
          </a:p>
        </p:txBody>
      </p:sp>
      <p:sp>
        <p:nvSpPr>
          <p:cNvPr id="45" name="TextBox 44"/>
          <p:cNvSpPr txBox="1"/>
          <p:nvPr/>
        </p:nvSpPr>
        <p:spPr>
          <a:xfrm>
            <a:off x="8366760" y="5212080"/>
            <a:ext cx="3566160" cy="530352"/>
          </a:xfrm>
          <a:prstGeom prst="rect">
            <a:avLst/>
          </a:prstGeom>
          <a:noFill/>
        </p:spPr>
        <p:txBody>
          <a:bodyPr wrap="square">
            <a:spAutoFit/>
          </a:bodyPr>
          <a:lstStyle/>
          <a:p>
            <a:pPr algn="l"/>
            <a:r>
              <a:rPr sz="950" b="0" i="0">
                <a:solidFill>
                  <a:srgbClr val="444455"/>
                </a:solidFill>
              </a:rPr>
              <a:t>▸  78% of teams face data orchestration and tool complexity challenges</a:t>
            </a:r>
          </a:p>
        </p:txBody>
      </p:sp>
      <p:sp>
        <p:nvSpPr>
          <p:cNvPr id="46" name="TextBox 45"/>
          <p:cNvSpPr txBox="1"/>
          <p:nvPr/>
        </p:nvSpPr>
        <p:spPr>
          <a:xfrm>
            <a:off x="8366760" y="5760720"/>
            <a:ext cx="3566160" cy="530352"/>
          </a:xfrm>
          <a:prstGeom prst="rect">
            <a:avLst/>
          </a:prstGeom>
          <a:noFill/>
        </p:spPr>
        <p:txBody>
          <a:bodyPr wrap="square">
            <a:spAutoFit/>
          </a:bodyPr>
          <a:lstStyle/>
          <a:p>
            <a:pPr algn="l"/>
            <a:r>
              <a:rPr sz="950" b="0" i="0">
                <a:solidFill>
                  <a:srgbClr val="444455"/>
                </a:solidFill>
              </a:rPr>
              <a:t>▸  Shadow IT: employee-adopted AI tools bypass governance entirely</a:t>
            </a:r>
          </a:p>
        </p:txBody>
      </p:sp>
      <p:sp>
        <p:nvSpPr>
          <p:cNvPr id="47" name="TextBox 46"/>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Sources: MuleSoft 2025 Connectivity Benchmark · Informatica 2024 · Deloitte State of AI 2026 · McKinsey · ERP Today Manufacturing AI Report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Challenge 3 — ROI Measurement &amp; Cost Overruns</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$644B enterprise AI investment in 2025, yet 72% is estimated to be destroying value  — Gartner</a:t>
            </a:r>
          </a:p>
        </p:txBody>
      </p:sp>
      <p:sp>
        <p:nvSpPr>
          <p:cNvPr id="5" name="Rectangle 4"/>
          <p:cNvSpPr/>
          <p:nvPr/>
        </p:nvSpPr>
        <p:spPr>
          <a:xfrm>
            <a:off x="274320" y="1417320"/>
            <a:ext cx="5669280" cy="512064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08760"/>
            <a:ext cx="5303520" cy="365760"/>
          </a:xfrm>
          <a:prstGeom prst="rect">
            <a:avLst/>
          </a:prstGeom>
          <a:noFill/>
        </p:spPr>
        <p:txBody>
          <a:bodyPr wrap="square">
            <a:spAutoFit/>
          </a:bodyPr>
          <a:lstStyle/>
          <a:p>
            <a:pPr algn="l"/>
            <a:r>
              <a:rPr sz="1100" b="1" i="0">
                <a:solidFill>
                  <a:srgbClr val="C0392B"/>
                </a:solidFill>
              </a:rPr>
              <a:t>ROI MEASUREMENT FAILURE</a:t>
            </a:r>
          </a:p>
        </p:txBody>
      </p:sp>
      <p:sp>
        <p:nvSpPr>
          <p:cNvPr id="7" name="TextBox 6"/>
          <p:cNvSpPr txBox="1"/>
          <p:nvPr/>
        </p:nvSpPr>
        <p:spPr>
          <a:xfrm>
            <a:off x="457200" y="1965960"/>
            <a:ext cx="1371600" cy="347472"/>
          </a:xfrm>
          <a:prstGeom prst="rect">
            <a:avLst/>
          </a:prstGeom>
          <a:noFill/>
        </p:spPr>
        <p:txBody>
          <a:bodyPr wrap="square">
            <a:spAutoFit/>
          </a:bodyPr>
          <a:lstStyle/>
          <a:p>
            <a:pPr algn="l"/>
            <a:r>
              <a:rPr sz="1400" b="1" i="0">
                <a:solidFill>
                  <a:srgbClr val="C0392B"/>
                </a:solidFill>
              </a:rPr>
              <a:t>Only 25%</a:t>
            </a:r>
          </a:p>
        </p:txBody>
      </p:sp>
      <p:sp>
        <p:nvSpPr>
          <p:cNvPr id="8" name="TextBox 7"/>
          <p:cNvSpPr txBox="1"/>
          <p:nvPr/>
        </p:nvSpPr>
        <p:spPr>
          <a:xfrm>
            <a:off x="1920240" y="1965960"/>
            <a:ext cx="3840480" cy="320040"/>
          </a:xfrm>
          <a:prstGeom prst="rect">
            <a:avLst/>
          </a:prstGeom>
          <a:noFill/>
        </p:spPr>
        <p:txBody>
          <a:bodyPr wrap="square">
            <a:spAutoFit/>
          </a:bodyPr>
          <a:lstStyle/>
          <a:p>
            <a:pPr algn="l"/>
            <a:r>
              <a:rPr sz="950" b="0" i="0">
                <a:solidFill>
                  <a:srgbClr val="0D1B3E"/>
                </a:solidFill>
              </a:rPr>
              <a:t>of AI initiatives deliver expected ROI</a:t>
            </a:r>
          </a:p>
        </p:txBody>
      </p:sp>
      <p:sp>
        <p:nvSpPr>
          <p:cNvPr id="9" name="TextBox 8"/>
          <p:cNvSpPr txBox="1"/>
          <p:nvPr/>
        </p:nvSpPr>
        <p:spPr>
          <a:xfrm>
            <a:off x="1920240" y="2267712"/>
            <a:ext cx="3840480" cy="228600"/>
          </a:xfrm>
          <a:prstGeom prst="rect">
            <a:avLst/>
          </a:prstGeom>
          <a:noFill/>
        </p:spPr>
        <p:txBody>
          <a:bodyPr wrap="square">
            <a:spAutoFit/>
          </a:bodyPr>
          <a:lstStyle/>
          <a:p>
            <a:pPr algn="l"/>
            <a:r>
              <a:rPr sz="750" b="0" i="1">
                <a:solidFill>
                  <a:srgbClr val="888899"/>
                </a:solidFill>
              </a:rPr>
              <a:t>— IBM CEO Study</a:t>
            </a:r>
          </a:p>
        </p:txBody>
      </p:sp>
      <p:sp>
        <p:nvSpPr>
          <p:cNvPr id="10" name="TextBox 9"/>
          <p:cNvSpPr txBox="1"/>
          <p:nvPr/>
        </p:nvSpPr>
        <p:spPr>
          <a:xfrm>
            <a:off x="457200" y="2624328"/>
            <a:ext cx="1371600" cy="347472"/>
          </a:xfrm>
          <a:prstGeom prst="rect">
            <a:avLst/>
          </a:prstGeom>
          <a:noFill/>
        </p:spPr>
        <p:txBody>
          <a:bodyPr wrap="square">
            <a:spAutoFit/>
          </a:bodyPr>
          <a:lstStyle/>
          <a:p>
            <a:pPr algn="l"/>
            <a:r>
              <a:rPr sz="1400" b="1" i="0">
                <a:solidFill>
                  <a:srgbClr val="C0392B"/>
                </a:solidFill>
              </a:rPr>
              <a:t>Only 39%</a:t>
            </a:r>
          </a:p>
        </p:txBody>
      </p:sp>
      <p:sp>
        <p:nvSpPr>
          <p:cNvPr id="11" name="TextBox 10"/>
          <p:cNvSpPr txBox="1"/>
          <p:nvPr/>
        </p:nvSpPr>
        <p:spPr>
          <a:xfrm>
            <a:off x="1920240" y="2624328"/>
            <a:ext cx="3840480" cy="320040"/>
          </a:xfrm>
          <a:prstGeom prst="rect">
            <a:avLst/>
          </a:prstGeom>
          <a:noFill/>
        </p:spPr>
        <p:txBody>
          <a:bodyPr wrap="square">
            <a:spAutoFit/>
          </a:bodyPr>
          <a:lstStyle/>
          <a:p>
            <a:pPr algn="l"/>
            <a:r>
              <a:rPr sz="950" b="0" i="0">
                <a:solidFill>
                  <a:srgbClr val="0D1B3E"/>
                </a:solidFill>
              </a:rPr>
              <a:t>see any EBIT impact despite 88% AI adoption</a:t>
            </a:r>
          </a:p>
        </p:txBody>
      </p:sp>
      <p:sp>
        <p:nvSpPr>
          <p:cNvPr id="12" name="TextBox 11"/>
          <p:cNvSpPr txBox="1"/>
          <p:nvPr/>
        </p:nvSpPr>
        <p:spPr>
          <a:xfrm>
            <a:off x="1920240" y="2926080"/>
            <a:ext cx="3840480" cy="228600"/>
          </a:xfrm>
          <a:prstGeom prst="rect">
            <a:avLst/>
          </a:prstGeom>
          <a:noFill/>
        </p:spPr>
        <p:txBody>
          <a:bodyPr wrap="square">
            <a:spAutoFit/>
          </a:bodyPr>
          <a:lstStyle/>
          <a:p>
            <a:pPr algn="l"/>
            <a:r>
              <a:rPr sz="750" b="0" i="1">
                <a:solidFill>
                  <a:srgbClr val="888899"/>
                </a:solidFill>
              </a:rPr>
              <a:t>— McKinsey 2025</a:t>
            </a:r>
          </a:p>
        </p:txBody>
      </p:sp>
      <p:sp>
        <p:nvSpPr>
          <p:cNvPr id="13" name="TextBox 12"/>
          <p:cNvSpPr txBox="1"/>
          <p:nvPr/>
        </p:nvSpPr>
        <p:spPr>
          <a:xfrm>
            <a:off x="457200" y="3282696"/>
            <a:ext cx="1371600" cy="347472"/>
          </a:xfrm>
          <a:prstGeom prst="rect">
            <a:avLst/>
          </a:prstGeom>
          <a:noFill/>
        </p:spPr>
        <p:txBody>
          <a:bodyPr wrap="square">
            <a:spAutoFit/>
          </a:bodyPr>
          <a:lstStyle/>
          <a:p>
            <a:pPr algn="l"/>
            <a:r>
              <a:rPr sz="1400" b="1" i="0">
                <a:solidFill>
                  <a:srgbClr val="C0392B"/>
                </a:solidFill>
              </a:rPr>
              <a:t>68%</a:t>
            </a:r>
          </a:p>
        </p:txBody>
      </p:sp>
      <p:sp>
        <p:nvSpPr>
          <p:cNvPr id="14" name="TextBox 13"/>
          <p:cNvSpPr txBox="1"/>
          <p:nvPr/>
        </p:nvSpPr>
        <p:spPr>
          <a:xfrm>
            <a:off x="1920240" y="3282696"/>
            <a:ext cx="3840480" cy="320040"/>
          </a:xfrm>
          <a:prstGeom prst="rect">
            <a:avLst/>
          </a:prstGeom>
          <a:noFill/>
        </p:spPr>
        <p:txBody>
          <a:bodyPr wrap="square">
            <a:spAutoFit/>
          </a:bodyPr>
          <a:lstStyle/>
          <a:p>
            <a:pPr algn="l"/>
            <a:r>
              <a:rPr sz="950" b="0" i="0">
                <a:solidFill>
                  <a:srgbClr val="0D1B3E"/>
                </a:solidFill>
              </a:rPr>
              <a:t>struggle to measure AI ROI effectively</a:t>
            </a:r>
          </a:p>
        </p:txBody>
      </p:sp>
      <p:sp>
        <p:nvSpPr>
          <p:cNvPr id="15" name="TextBox 14"/>
          <p:cNvSpPr txBox="1"/>
          <p:nvPr/>
        </p:nvSpPr>
        <p:spPr>
          <a:xfrm>
            <a:off x="1920240" y="3584448"/>
            <a:ext cx="3840480" cy="228600"/>
          </a:xfrm>
          <a:prstGeom prst="rect">
            <a:avLst/>
          </a:prstGeom>
          <a:noFill/>
        </p:spPr>
        <p:txBody>
          <a:bodyPr wrap="square">
            <a:spAutoFit/>
          </a:bodyPr>
          <a:lstStyle/>
          <a:p>
            <a:pPr algn="l"/>
            <a:r>
              <a:rPr sz="750" b="0" i="1">
                <a:solidFill>
                  <a:srgbClr val="888899"/>
                </a:solidFill>
              </a:rPr>
              <a:t>— Multiple sources</a:t>
            </a:r>
          </a:p>
        </p:txBody>
      </p:sp>
      <p:sp>
        <p:nvSpPr>
          <p:cNvPr id="16" name="TextBox 15"/>
          <p:cNvSpPr txBox="1"/>
          <p:nvPr/>
        </p:nvSpPr>
        <p:spPr>
          <a:xfrm>
            <a:off x="457200" y="3941063"/>
            <a:ext cx="1371600" cy="347472"/>
          </a:xfrm>
          <a:prstGeom prst="rect">
            <a:avLst/>
          </a:prstGeom>
          <a:noFill/>
        </p:spPr>
        <p:txBody>
          <a:bodyPr wrap="square">
            <a:spAutoFit/>
          </a:bodyPr>
          <a:lstStyle/>
          <a:p>
            <a:pPr algn="l"/>
            <a:r>
              <a:rPr sz="1400" b="1" i="0">
                <a:solidFill>
                  <a:srgbClr val="C0392B"/>
                </a:solidFill>
              </a:rPr>
              <a:t>Only 29%</a:t>
            </a:r>
          </a:p>
        </p:txBody>
      </p:sp>
      <p:sp>
        <p:nvSpPr>
          <p:cNvPr id="17" name="TextBox 16"/>
          <p:cNvSpPr txBox="1"/>
          <p:nvPr/>
        </p:nvSpPr>
        <p:spPr>
          <a:xfrm>
            <a:off x="1920240" y="3941063"/>
            <a:ext cx="3840480" cy="320040"/>
          </a:xfrm>
          <a:prstGeom prst="rect">
            <a:avLst/>
          </a:prstGeom>
          <a:noFill/>
        </p:spPr>
        <p:txBody>
          <a:bodyPr wrap="square">
            <a:spAutoFit/>
          </a:bodyPr>
          <a:lstStyle/>
          <a:p>
            <a:pPr algn="l"/>
            <a:r>
              <a:rPr sz="950" b="0" i="0">
                <a:solidFill>
                  <a:srgbClr val="0D1B3E"/>
                </a:solidFill>
              </a:rPr>
              <a:t>of executives can measure ROI confidently</a:t>
            </a:r>
          </a:p>
        </p:txBody>
      </p:sp>
      <p:sp>
        <p:nvSpPr>
          <p:cNvPr id="18" name="TextBox 17"/>
          <p:cNvSpPr txBox="1"/>
          <p:nvPr/>
        </p:nvSpPr>
        <p:spPr>
          <a:xfrm>
            <a:off x="1920240" y="4242816"/>
            <a:ext cx="3840480" cy="228600"/>
          </a:xfrm>
          <a:prstGeom prst="rect">
            <a:avLst/>
          </a:prstGeom>
          <a:noFill/>
        </p:spPr>
        <p:txBody>
          <a:bodyPr wrap="square">
            <a:spAutoFit/>
          </a:bodyPr>
          <a:lstStyle/>
          <a:p>
            <a:pPr algn="l"/>
            <a:r>
              <a:rPr sz="750" b="0" i="1">
                <a:solidFill>
                  <a:srgbClr val="888899"/>
                </a:solidFill>
              </a:rPr>
              <a:t>— Deloitte</a:t>
            </a:r>
          </a:p>
        </p:txBody>
      </p:sp>
      <p:sp>
        <p:nvSpPr>
          <p:cNvPr id="19" name="TextBox 18"/>
          <p:cNvSpPr txBox="1"/>
          <p:nvPr/>
        </p:nvSpPr>
        <p:spPr>
          <a:xfrm>
            <a:off x="457200" y="4599431"/>
            <a:ext cx="1371600" cy="347472"/>
          </a:xfrm>
          <a:prstGeom prst="rect">
            <a:avLst/>
          </a:prstGeom>
          <a:noFill/>
        </p:spPr>
        <p:txBody>
          <a:bodyPr wrap="square">
            <a:spAutoFit/>
          </a:bodyPr>
          <a:lstStyle/>
          <a:p>
            <a:pPr algn="l"/>
            <a:r>
              <a:rPr sz="1400" b="1" i="0">
                <a:solidFill>
                  <a:srgbClr val="C0392B"/>
                </a:solidFill>
              </a:rPr>
              <a:t>2–4 yrs</a:t>
            </a:r>
          </a:p>
        </p:txBody>
      </p:sp>
      <p:sp>
        <p:nvSpPr>
          <p:cNvPr id="20" name="TextBox 19"/>
          <p:cNvSpPr txBox="1"/>
          <p:nvPr/>
        </p:nvSpPr>
        <p:spPr>
          <a:xfrm>
            <a:off x="1920240" y="4599431"/>
            <a:ext cx="3840480" cy="320040"/>
          </a:xfrm>
          <a:prstGeom prst="rect">
            <a:avLst/>
          </a:prstGeom>
          <a:noFill/>
        </p:spPr>
        <p:txBody>
          <a:bodyPr wrap="square">
            <a:spAutoFit/>
          </a:bodyPr>
          <a:lstStyle/>
          <a:p>
            <a:pPr algn="l"/>
            <a:r>
              <a:rPr sz="950" b="0" i="0">
                <a:solidFill>
                  <a:srgbClr val="0D1B3E"/>
                </a:solidFill>
              </a:rPr>
              <a:t>typical AI ROI payback (vs. 7–12 month IT expectation)</a:t>
            </a:r>
          </a:p>
        </p:txBody>
      </p:sp>
      <p:sp>
        <p:nvSpPr>
          <p:cNvPr id="21" name="TextBox 20"/>
          <p:cNvSpPr txBox="1"/>
          <p:nvPr/>
        </p:nvSpPr>
        <p:spPr>
          <a:xfrm>
            <a:off x="457200" y="5120640"/>
            <a:ext cx="5303520" cy="365760"/>
          </a:xfrm>
          <a:prstGeom prst="rect">
            <a:avLst/>
          </a:prstGeom>
          <a:noFill/>
        </p:spPr>
        <p:txBody>
          <a:bodyPr wrap="square">
            <a:spAutoFit/>
          </a:bodyPr>
          <a:lstStyle/>
          <a:p>
            <a:pPr algn="l"/>
            <a:r>
              <a:rPr sz="1000" b="1" i="0">
                <a:solidFill>
                  <a:srgbClr val="0D1B3E"/>
                </a:solidFill>
              </a:rPr>
              <a:t>WHY ROI IS HARD TO MEASURE</a:t>
            </a:r>
          </a:p>
        </p:txBody>
      </p:sp>
      <p:sp>
        <p:nvSpPr>
          <p:cNvPr id="22" name="TextBox 21"/>
          <p:cNvSpPr txBox="1"/>
          <p:nvPr/>
        </p:nvSpPr>
        <p:spPr>
          <a:xfrm>
            <a:off x="457200" y="5257799"/>
            <a:ext cx="5303520" cy="274320"/>
          </a:xfrm>
          <a:prstGeom prst="rect">
            <a:avLst/>
          </a:prstGeom>
          <a:noFill/>
        </p:spPr>
        <p:txBody>
          <a:bodyPr wrap="square">
            <a:spAutoFit/>
          </a:bodyPr>
          <a:lstStyle/>
          <a:p>
            <a:pPr algn="l"/>
            <a:r>
              <a:rPr sz="900" b="0" i="0">
                <a:solidFill>
                  <a:srgbClr val="444455"/>
                </a:solidFill>
              </a:rPr>
              <a:t>• AI value is often indirect &amp; long-term (brand, culture, resilience)</a:t>
            </a:r>
          </a:p>
        </p:txBody>
      </p:sp>
      <p:sp>
        <p:nvSpPr>
          <p:cNvPr id="23" name="TextBox 22"/>
          <p:cNvSpPr txBox="1"/>
          <p:nvPr/>
        </p:nvSpPr>
        <p:spPr>
          <a:xfrm>
            <a:off x="457200" y="5532119"/>
            <a:ext cx="5303520" cy="274320"/>
          </a:xfrm>
          <a:prstGeom prst="rect">
            <a:avLst/>
          </a:prstGeom>
          <a:noFill/>
        </p:spPr>
        <p:txBody>
          <a:bodyPr wrap="square">
            <a:spAutoFit/>
          </a:bodyPr>
          <a:lstStyle/>
          <a:p>
            <a:pPr algn="l"/>
            <a:r>
              <a:rPr sz="900" b="0" i="0">
                <a:solidFill>
                  <a:srgbClr val="444455"/>
                </a:solidFill>
              </a:rPr>
              <a:t>• Attribution is unclear: which change caused which outcome?</a:t>
            </a:r>
          </a:p>
        </p:txBody>
      </p:sp>
      <p:sp>
        <p:nvSpPr>
          <p:cNvPr id="24" name="TextBox 23"/>
          <p:cNvSpPr txBox="1"/>
          <p:nvPr/>
        </p:nvSpPr>
        <p:spPr>
          <a:xfrm>
            <a:off x="457200" y="5806439"/>
            <a:ext cx="5303520" cy="274320"/>
          </a:xfrm>
          <a:prstGeom prst="rect">
            <a:avLst/>
          </a:prstGeom>
          <a:noFill/>
        </p:spPr>
        <p:txBody>
          <a:bodyPr wrap="square">
            <a:spAutoFit/>
          </a:bodyPr>
          <a:lstStyle/>
          <a:p>
            <a:pPr algn="l"/>
            <a:r>
              <a:rPr sz="900" b="0" i="0">
                <a:solidFill>
                  <a:srgbClr val="444455"/>
                </a:solidFill>
              </a:rPr>
              <a:t>• Many AI gains reduce costs vs. generate revenue (harder to track)</a:t>
            </a:r>
          </a:p>
        </p:txBody>
      </p:sp>
      <p:sp>
        <p:nvSpPr>
          <p:cNvPr id="25" name="Rectangle 24"/>
          <p:cNvSpPr/>
          <p:nvPr/>
        </p:nvSpPr>
        <p:spPr>
          <a:xfrm>
            <a:off x="6217920" y="1417320"/>
            <a:ext cx="5669280" cy="512064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508760"/>
            <a:ext cx="5303520" cy="365760"/>
          </a:xfrm>
          <a:prstGeom prst="rect">
            <a:avLst/>
          </a:prstGeom>
          <a:noFill/>
        </p:spPr>
        <p:txBody>
          <a:bodyPr wrap="square">
            <a:spAutoFit/>
          </a:bodyPr>
          <a:lstStyle/>
          <a:p>
            <a:pPr algn="l"/>
            <a:r>
              <a:rPr sz="1100" b="1" i="0">
                <a:solidFill>
                  <a:srgbClr val="E67E22"/>
                </a:solidFill>
              </a:rPr>
              <a:t>COST OVERRUN EPIDEMIC</a:t>
            </a:r>
          </a:p>
        </p:txBody>
      </p:sp>
      <p:sp>
        <p:nvSpPr>
          <p:cNvPr id="27" name="TextBox 26"/>
          <p:cNvSpPr txBox="1"/>
          <p:nvPr/>
        </p:nvSpPr>
        <p:spPr>
          <a:xfrm>
            <a:off x="6400800" y="1965960"/>
            <a:ext cx="1371600" cy="347472"/>
          </a:xfrm>
          <a:prstGeom prst="rect">
            <a:avLst/>
          </a:prstGeom>
          <a:noFill/>
        </p:spPr>
        <p:txBody>
          <a:bodyPr wrap="square">
            <a:spAutoFit/>
          </a:bodyPr>
          <a:lstStyle/>
          <a:p>
            <a:pPr algn="l"/>
            <a:r>
              <a:rPr sz="1400" b="1" i="0">
                <a:solidFill>
                  <a:srgbClr val="E67E22"/>
                </a:solidFill>
              </a:rPr>
              <a:t>85%</a:t>
            </a:r>
          </a:p>
        </p:txBody>
      </p:sp>
      <p:sp>
        <p:nvSpPr>
          <p:cNvPr id="28" name="TextBox 27"/>
          <p:cNvSpPr txBox="1"/>
          <p:nvPr/>
        </p:nvSpPr>
        <p:spPr>
          <a:xfrm>
            <a:off x="7863840" y="1965960"/>
            <a:ext cx="3840480" cy="320040"/>
          </a:xfrm>
          <a:prstGeom prst="rect">
            <a:avLst/>
          </a:prstGeom>
          <a:noFill/>
        </p:spPr>
        <p:txBody>
          <a:bodyPr wrap="square">
            <a:spAutoFit/>
          </a:bodyPr>
          <a:lstStyle/>
          <a:p>
            <a:pPr algn="l"/>
            <a:r>
              <a:rPr sz="950" b="0" i="0">
                <a:solidFill>
                  <a:srgbClr val="0D1B3E"/>
                </a:solidFill>
              </a:rPr>
              <a:t>misestimate AI costs by &gt;10%</a:t>
            </a:r>
          </a:p>
        </p:txBody>
      </p:sp>
      <p:sp>
        <p:nvSpPr>
          <p:cNvPr id="29" name="TextBox 28"/>
          <p:cNvSpPr txBox="1"/>
          <p:nvPr/>
        </p:nvSpPr>
        <p:spPr>
          <a:xfrm>
            <a:off x="7863840" y="2267712"/>
            <a:ext cx="3840480" cy="228600"/>
          </a:xfrm>
          <a:prstGeom prst="rect">
            <a:avLst/>
          </a:prstGeom>
          <a:noFill/>
        </p:spPr>
        <p:txBody>
          <a:bodyPr wrap="square">
            <a:spAutoFit/>
          </a:bodyPr>
          <a:lstStyle/>
          <a:p>
            <a:pPr algn="l"/>
            <a:r>
              <a:rPr sz="750" b="0" i="1">
                <a:solidFill>
                  <a:srgbClr val="888899"/>
                </a:solidFill>
              </a:rPr>
              <a:t>— Benchmarkit/Mavvrik</a:t>
            </a:r>
          </a:p>
        </p:txBody>
      </p:sp>
      <p:sp>
        <p:nvSpPr>
          <p:cNvPr id="30" name="TextBox 29"/>
          <p:cNvSpPr txBox="1"/>
          <p:nvPr/>
        </p:nvSpPr>
        <p:spPr>
          <a:xfrm>
            <a:off x="6400800" y="2624328"/>
            <a:ext cx="1371600" cy="347472"/>
          </a:xfrm>
          <a:prstGeom prst="rect">
            <a:avLst/>
          </a:prstGeom>
          <a:noFill/>
        </p:spPr>
        <p:txBody>
          <a:bodyPr wrap="square">
            <a:spAutoFit/>
          </a:bodyPr>
          <a:lstStyle/>
          <a:p>
            <a:pPr algn="l"/>
            <a:r>
              <a:rPr sz="1400" b="1" i="0">
                <a:solidFill>
                  <a:srgbClr val="E67E22"/>
                </a:solidFill>
              </a:rPr>
              <a:t>25%</a:t>
            </a:r>
          </a:p>
        </p:txBody>
      </p:sp>
      <p:sp>
        <p:nvSpPr>
          <p:cNvPr id="31" name="TextBox 30"/>
          <p:cNvSpPr txBox="1"/>
          <p:nvPr/>
        </p:nvSpPr>
        <p:spPr>
          <a:xfrm>
            <a:off x="7863840" y="2624328"/>
            <a:ext cx="3840480" cy="320040"/>
          </a:xfrm>
          <a:prstGeom prst="rect">
            <a:avLst/>
          </a:prstGeom>
          <a:noFill/>
        </p:spPr>
        <p:txBody>
          <a:bodyPr wrap="square">
            <a:spAutoFit/>
          </a:bodyPr>
          <a:lstStyle/>
          <a:p>
            <a:pPr algn="l"/>
            <a:r>
              <a:rPr sz="950" b="0" i="0">
                <a:solidFill>
                  <a:srgbClr val="0D1B3E"/>
                </a:solidFill>
              </a:rPr>
              <a:t>are off by 50% or more</a:t>
            </a:r>
          </a:p>
        </p:txBody>
      </p:sp>
      <p:sp>
        <p:nvSpPr>
          <p:cNvPr id="32" name="TextBox 31"/>
          <p:cNvSpPr txBox="1"/>
          <p:nvPr/>
        </p:nvSpPr>
        <p:spPr>
          <a:xfrm>
            <a:off x="7863840" y="2926080"/>
            <a:ext cx="3840480" cy="228600"/>
          </a:xfrm>
          <a:prstGeom prst="rect">
            <a:avLst/>
          </a:prstGeom>
          <a:noFill/>
        </p:spPr>
        <p:txBody>
          <a:bodyPr wrap="square">
            <a:spAutoFit/>
          </a:bodyPr>
          <a:lstStyle/>
          <a:p>
            <a:pPr algn="l"/>
            <a:r>
              <a:rPr sz="750" b="0" i="1">
                <a:solidFill>
                  <a:srgbClr val="888899"/>
                </a:solidFill>
              </a:rPr>
              <a:t>— Benchmarkit/Mavvrik</a:t>
            </a:r>
          </a:p>
        </p:txBody>
      </p:sp>
      <p:sp>
        <p:nvSpPr>
          <p:cNvPr id="33" name="TextBox 32"/>
          <p:cNvSpPr txBox="1"/>
          <p:nvPr/>
        </p:nvSpPr>
        <p:spPr>
          <a:xfrm>
            <a:off x="6400800" y="3282696"/>
            <a:ext cx="1371600" cy="347472"/>
          </a:xfrm>
          <a:prstGeom prst="rect">
            <a:avLst/>
          </a:prstGeom>
          <a:noFill/>
        </p:spPr>
        <p:txBody>
          <a:bodyPr wrap="square">
            <a:spAutoFit/>
          </a:bodyPr>
          <a:lstStyle/>
          <a:p>
            <a:pPr algn="l"/>
            <a:r>
              <a:rPr sz="1400" b="1" i="0">
                <a:solidFill>
                  <a:srgbClr val="E67E22"/>
                </a:solidFill>
              </a:rPr>
              <a:t>43%</a:t>
            </a:r>
          </a:p>
        </p:txBody>
      </p:sp>
      <p:sp>
        <p:nvSpPr>
          <p:cNvPr id="34" name="TextBox 33"/>
          <p:cNvSpPr txBox="1"/>
          <p:nvPr/>
        </p:nvSpPr>
        <p:spPr>
          <a:xfrm>
            <a:off x="7863840" y="3282696"/>
            <a:ext cx="3840480" cy="320040"/>
          </a:xfrm>
          <a:prstGeom prst="rect">
            <a:avLst/>
          </a:prstGeom>
          <a:noFill/>
        </p:spPr>
        <p:txBody>
          <a:bodyPr wrap="square">
            <a:spAutoFit/>
          </a:bodyPr>
          <a:lstStyle/>
          <a:p>
            <a:pPr algn="l"/>
            <a:r>
              <a:rPr sz="950" b="0" i="0">
                <a:solidFill>
                  <a:srgbClr val="0D1B3E"/>
                </a:solidFill>
              </a:rPr>
              <a:t>report significant cost overruns</a:t>
            </a:r>
          </a:p>
        </p:txBody>
      </p:sp>
      <p:sp>
        <p:nvSpPr>
          <p:cNvPr id="35" name="TextBox 34"/>
          <p:cNvSpPr txBox="1"/>
          <p:nvPr/>
        </p:nvSpPr>
        <p:spPr>
          <a:xfrm>
            <a:off x="7863840" y="3584448"/>
            <a:ext cx="3840480" cy="228600"/>
          </a:xfrm>
          <a:prstGeom prst="rect">
            <a:avLst/>
          </a:prstGeom>
          <a:noFill/>
        </p:spPr>
        <p:txBody>
          <a:bodyPr wrap="square">
            <a:spAutoFit/>
          </a:bodyPr>
          <a:lstStyle/>
          <a:p>
            <a:pPr algn="l"/>
            <a:r>
              <a:rPr sz="750" b="0" i="1">
                <a:solidFill>
                  <a:srgbClr val="888899"/>
                </a:solidFill>
              </a:rPr>
              <a:t>— Multiple surveys</a:t>
            </a:r>
          </a:p>
        </p:txBody>
      </p:sp>
      <p:sp>
        <p:nvSpPr>
          <p:cNvPr id="36" name="TextBox 35"/>
          <p:cNvSpPr txBox="1"/>
          <p:nvPr/>
        </p:nvSpPr>
        <p:spPr>
          <a:xfrm>
            <a:off x="6400800" y="3941063"/>
            <a:ext cx="1371600" cy="347472"/>
          </a:xfrm>
          <a:prstGeom prst="rect">
            <a:avLst/>
          </a:prstGeom>
          <a:noFill/>
        </p:spPr>
        <p:txBody>
          <a:bodyPr wrap="square">
            <a:spAutoFit/>
          </a:bodyPr>
          <a:lstStyle/>
          <a:p>
            <a:pPr algn="l"/>
            <a:r>
              <a:rPr sz="1400" b="1" i="0">
                <a:solidFill>
                  <a:srgbClr val="E67E22"/>
                </a:solidFill>
              </a:rPr>
              <a:t>65%</a:t>
            </a:r>
          </a:p>
        </p:txBody>
      </p:sp>
      <p:sp>
        <p:nvSpPr>
          <p:cNvPr id="37" name="TextBox 36"/>
          <p:cNvSpPr txBox="1"/>
          <p:nvPr/>
        </p:nvSpPr>
        <p:spPr>
          <a:xfrm>
            <a:off x="7863840" y="3941063"/>
            <a:ext cx="3840480" cy="320040"/>
          </a:xfrm>
          <a:prstGeom prst="rect">
            <a:avLst/>
          </a:prstGeom>
          <a:noFill/>
        </p:spPr>
        <p:txBody>
          <a:bodyPr wrap="square">
            <a:spAutoFit/>
          </a:bodyPr>
          <a:lstStyle/>
          <a:p>
            <a:pPr algn="l"/>
            <a:r>
              <a:rPr sz="950" b="0" i="0">
                <a:solidFill>
                  <a:srgbClr val="0D1B3E"/>
                </a:solidFill>
              </a:rPr>
              <a:t>report unexpected API charges</a:t>
            </a:r>
          </a:p>
        </p:txBody>
      </p:sp>
      <p:sp>
        <p:nvSpPr>
          <p:cNvPr id="38" name="TextBox 37"/>
          <p:cNvSpPr txBox="1"/>
          <p:nvPr/>
        </p:nvSpPr>
        <p:spPr>
          <a:xfrm>
            <a:off x="7863840" y="4242816"/>
            <a:ext cx="3840480" cy="228600"/>
          </a:xfrm>
          <a:prstGeom prst="rect">
            <a:avLst/>
          </a:prstGeom>
          <a:noFill/>
        </p:spPr>
        <p:txBody>
          <a:bodyPr wrap="square">
            <a:spAutoFit/>
          </a:bodyPr>
          <a:lstStyle/>
          <a:p>
            <a:pPr algn="l"/>
            <a:r>
              <a:rPr sz="750" b="0" i="1">
                <a:solidFill>
                  <a:srgbClr val="888899"/>
                </a:solidFill>
              </a:rPr>
              <a:t>— CIO survey</a:t>
            </a:r>
          </a:p>
        </p:txBody>
      </p:sp>
      <p:sp>
        <p:nvSpPr>
          <p:cNvPr id="39" name="TextBox 38"/>
          <p:cNvSpPr txBox="1"/>
          <p:nvPr/>
        </p:nvSpPr>
        <p:spPr>
          <a:xfrm>
            <a:off x="6400800" y="4599431"/>
            <a:ext cx="1371600" cy="347472"/>
          </a:xfrm>
          <a:prstGeom prst="rect">
            <a:avLst/>
          </a:prstGeom>
          <a:noFill/>
        </p:spPr>
        <p:txBody>
          <a:bodyPr wrap="square">
            <a:spAutoFit/>
          </a:bodyPr>
          <a:lstStyle/>
          <a:p>
            <a:pPr algn="l"/>
            <a:r>
              <a:rPr sz="1400" b="1" i="0">
                <a:solidFill>
                  <a:srgbClr val="E67E22"/>
                </a:solidFill>
              </a:rPr>
              <a:t>30-50%</a:t>
            </a:r>
          </a:p>
        </p:txBody>
      </p:sp>
      <p:sp>
        <p:nvSpPr>
          <p:cNvPr id="40" name="TextBox 39"/>
          <p:cNvSpPr txBox="1"/>
          <p:nvPr/>
        </p:nvSpPr>
        <p:spPr>
          <a:xfrm>
            <a:off x="7863840" y="4599431"/>
            <a:ext cx="3840480" cy="320040"/>
          </a:xfrm>
          <a:prstGeom prst="rect">
            <a:avLst/>
          </a:prstGeom>
          <a:noFill/>
        </p:spPr>
        <p:txBody>
          <a:bodyPr wrap="square">
            <a:spAutoFit/>
          </a:bodyPr>
          <a:lstStyle/>
          <a:p>
            <a:pPr algn="l"/>
            <a:r>
              <a:rPr sz="950" b="0" i="0">
                <a:solidFill>
                  <a:srgbClr val="0D1B3E"/>
                </a:solidFill>
              </a:rPr>
              <a:t>actual costs exceed estimates</a:t>
            </a:r>
          </a:p>
        </p:txBody>
      </p:sp>
      <p:sp>
        <p:nvSpPr>
          <p:cNvPr id="41" name="TextBox 40"/>
          <p:cNvSpPr txBox="1"/>
          <p:nvPr/>
        </p:nvSpPr>
        <p:spPr>
          <a:xfrm>
            <a:off x="7863840" y="4901183"/>
            <a:ext cx="3840480" cy="228600"/>
          </a:xfrm>
          <a:prstGeom prst="rect">
            <a:avLst/>
          </a:prstGeom>
          <a:noFill/>
        </p:spPr>
        <p:txBody>
          <a:bodyPr wrap="square">
            <a:spAutoFit/>
          </a:bodyPr>
          <a:lstStyle/>
          <a:p>
            <a:pPr algn="l"/>
            <a:r>
              <a:rPr sz="750" b="0" i="1">
                <a:solidFill>
                  <a:srgbClr val="888899"/>
                </a:solidFill>
              </a:rPr>
              <a:t>— CIO/Deloitte</a:t>
            </a:r>
          </a:p>
        </p:txBody>
      </p:sp>
      <p:sp>
        <p:nvSpPr>
          <p:cNvPr id="42" name="TextBox 41"/>
          <p:cNvSpPr txBox="1"/>
          <p:nvPr/>
        </p:nvSpPr>
        <p:spPr>
          <a:xfrm>
            <a:off x="6400800" y="5074920"/>
            <a:ext cx="5303520" cy="365760"/>
          </a:xfrm>
          <a:prstGeom prst="rect">
            <a:avLst/>
          </a:prstGeom>
          <a:noFill/>
        </p:spPr>
        <p:txBody>
          <a:bodyPr wrap="square">
            <a:spAutoFit/>
          </a:bodyPr>
          <a:lstStyle/>
          <a:p>
            <a:pPr algn="l"/>
            <a:r>
              <a:rPr sz="1000" b="1" i="0">
                <a:solidFill>
                  <a:srgbClr val="0D1B3E"/>
                </a:solidFill>
              </a:rPr>
              <a:t>HIDDEN COST CATEGORIES</a:t>
            </a:r>
          </a:p>
        </p:txBody>
      </p:sp>
      <p:sp>
        <p:nvSpPr>
          <p:cNvPr id="43" name="TextBox 42"/>
          <p:cNvSpPr txBox="1"/>
          <p:nvPr/>
        </p:nvSpPr>
        <p:spPr>
          <a:xfrm>
            <a:off x="6400800" y="5257799"/>
            <a:ext cx="5303520" cy="274320"/>
          </a:xfrm>
          <a:prstGeom prst="rect">
            <a:avLst/>
          </a:prstGeom>
          <a:noFill/>
        </p:spPr>
        <p:txBody>
          <a:bodyPr wrap="square">
            <a:spAutoFit/>
          </a:bodyPr>
          <a:lstStyle/>
          <a:p>
            <a:pPr algn="l"/>
            <a:r>
              <a:rPr sz="900" b="0" i="0">
                <a:solidFill>
                  <a:srgbClr val="444455"/>
                </a:solidFill>
              </a:rPr>
              <a:t>• Token overages &amp; API rate limits at scale</a:t>
            </a:r>
          </a:p>
        </p:txBody>
      </p:sp>
      <p:sp>
        <p:nvSpPr>
          <p:cNvPr id="44" name="TextBox 43"/>
          <p:cNvSpPr txBox="1"/>
          <p:nvPr/>
        </p:nvSpPr>
        <p:spPr>
          <a:xfrm>
            <a:off x="6400800" y="5550407"/>
            <a:ext cx="5303520" cy="274320"/>
          </a:xfrm>
          <a:prstGeom prst="rect">
            <a:avLst/>
          </a:prstGeom>
          <a:noFill/>
        </p:spPr>
        <p:txBody>
          <a:bodyPr wrap="square">
            <a:spAutoFit/>
          </a:bodyPr>
          <a:lstStyle/>
          <a:p>
            <a:pPr algn="l"/>
            <a:r>
              <a:rPr sz="900" b="0" i="0">
                <a:solidFill>
                  <a:srgbClr val="444455"/>
                </a:solidFill>
              </a:rPr>
              <a:t>• Human review teams for AI error correction (12% headcount, JPMorgan)</a:t>
            </a:r>
          </a:p>
        </p:txBody>
      </p:sp>
      <p:sp>
        <p:nvSpPr>
          <p:cNvPr id="45" name="TextBox 44"/>
          <p:cNvSpPr txBox="1"/>
          <p:nvPr/>
        </p:nvSpPr>
        <p:spPr>
          <a:xfrm>
            <a:off x="6400800" y="5843016"/>
            <a:ext cx="5303520" cy="274320"/>
          </a:xfrm>
          <a:prstGeom prst="rect">
            <a:avLst/>
          </a:prstGeom>
          <a:noFill/>
        </p:spPr>
        <p:txBody>
          <a:bodyPr wrap="square">
            <a:spAutoFit/>
          </a:bodyPr>
          <a:lstStyle/>
          <a:p>
            <a:pPr algn="l"/>
            <a:r>
              <a:rPr sz="900" b="0" i="0">
                <a:solidFill>
                  <a:srgbClr val="444455"/>
                </a:solidFill>
              </a:rPr>
              <a:t>• Prompt engineering &amp; continuous model retuning</a:t>
            </a:r>
          </a:p>
        </p:txBody>
      </p:sp>
      <p:sp>
        <p:nvSpPr>
          <p:cNvPr id="46" name="TextBox 45"/>
          <p:cNvSpPr txBox="1"/>
          <p:nvPr/>
        </p:nvSpPr>
        <p:spPr>
          <a:xfrm>
            <a:off x="6400800" y="6135624"/>
            <a:ext cx="5303520" cy="274320"/>
          </a:xfrm>
          <a:prstGeom prst="rect">
            <a:avLst/>
          </a:prstGeom>
          <a:noFill/>
        </p:spPr>
        <p:txBody>
          <a:bodyPr wrap="square">
            <a:spAutoFit/>
          </a:bodyPr>
          <a:lstStyle/>
          <a:p>
            <a:pPr algn="l"/>
            <a:r>
              <a:rPr sz="900" b="0" i="0">
                <a:solidFill>
                  <a:srgbClr val="444455"/>
                </a:solidFill>
              </a:rPr>
              <a:t>• Real 3-yr TCO: $1M–$5M per enterprise GenAI deployment</a:t>
            </a:r>
          </a:p>
        </p:txBody>
      </p:sp>
      <p:sp>
        <p:nvSpPr>
          <p:cNvPr id="47" name="TextBox 46"/>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Sources: Gartner · IBM CEO Study · McKinsey State of AI 2025 · Deloitte AI ROI Paradox · Benchmarkit/Mavvrik Survey · CIO Cost Overruns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Challenge 4 — AI Talent Gap</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94% of leaders face AI-critical skill shortages  — IBM/Second Talent Research 2024–2025</a:t>
            </a:r>
          </a:p>
        </p:txBody>
      </p:sp>
      <p:sp>
        <p:nvSpPr>
          <p:cNvPr id="5" name="Rectangle 4"/>
          <p:cNvSpPr/>
          <p:nvPr/>
        </p:nvSpPr>
        <p:spPr>
          <a:xfrm>
            <a:off x="274320" y="1417320"/>
            <a:ext cx="2240280" cy="1691640"/>
          </a:xfrm>
          <a:prstGeom prst="rect">
            <a:avLst/>
          </a:prstGeom>
          <a:solidFill>
            <a:srgbClr val="FFEEE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90472"/>
            <a:ext cx="2057400" cy="502920"/>
          </a:xfrm>
          <a:prstGeom prst="rect">
            <a:avLst/>
          </a:prstGeom>
          <a:noFill/>
        </p:spPr>
        <p:txBody>
          <a:bodyPr wrap="square">
            <a:spAutoFit/>
          </a:bodyPr>
          <a:lstStyle/>
          <a:p>
            <a:pPr algn="ctr"/>
            <a:r>
              <a:rPr sz="2600" b="1" i="0">
                <a:solidFill>
                  <a:srgbClr val="C0392B"/>
                </a:solidFill>
              </a:rPr>
              <a:t>94%</a:t>
            </a:r>
          </a:p>
        </p:txBody>
      </p:sp>
      <p:sp>
        <p:nvSpPr>
          <p:cNvPr id="7" name="TextBox 6"/>
          <p:cNvSpPr txBox="1"/>
          <p:nvPr/>
        </p:nvSpPr>
        <p:spPr>
          <a:xfrm>
            <a:off x="320040" y="1965960"/>
            <a:ext cx="2148840" cy="320040"/>
          </a:xfrm>
          <a:prstGeom prst="rect">
            <a:avLst/>
          </a:prstGeom>
          <a:noFill/>
        </p:spPr>
        <p:txBody>
          <a:bodyPr wrap="square">
            <a:spAutoFit/>
          </a:bodyPr>
          <a:lstStyle/>
          <a:p>
            <a:pPr algn="ctr"/>
            <a:r>
              <a:rPr sz="1000" b="1" i="0">
                <a:solidFill>
                  <a:srgbClr val="0D1B3E"/>
                </a:solidFill>
              </a:rPr>
              <a:t>Leaders: Critical
Skill Shortages</a:t>
            </a:r>
          </a:p>
        </p:txBody>
      </p:sp>
      <p:sp>
        <p:nvSpPr>
          <p:cNvPr id="8" name="TextBox 7"/>
          <p:cNvSpPr txBox="1"/>
          <p:nvPr/>
        </p:nvSpPr>
        <p:spPr>
          <a:xfrm>
            <a:off x="320040" y="2276856"/>
            <a:ext cx="2148840" cy="274320"/>
          </a:xfrm>
          <a:prstGeom prst="rect">
            <a:avLst/>
          </a:prstGeom>
          <a:noFill/>
        </p:spPr>
        <p:txBody>
          <a:bodyPr wrap="square">
            <a:spAutoFit/>
          </a:bodyPr>
          <a:lstStyle/>
          <a:p>
            <a:pPr algn="ctr"/>
            <a:r>
              <a:rPr sz="850" b="0" i="0">
                <a:solidFill>
                  <a:srgbClr val="888899"/>
                </a:solidFill>
              </a:rPr>
              <a:t>IBM Research</a:t>
            </a:r>
          </a:p>
        </p:txBody>
      </p:sp>
      <p:sp>
        <p:nvSpPr>
          <p:cNvPr id="9" name="Rectangle 8"/>
          <p:cNvSpPr/>
          <p:nvPr/>
        </p:nvSpPr>
        <p:spPr>
          <a:xfrm>
            <a:off x="2633472" y="1417320"/>
            <a:ext cx="2240280" cy="1691640"/>
          </a:xfrm>
          <a:prstGeom prst="rect">
            <a:avLst/>
          </a:prstGeom>
          <a:solidFill>
            <a:srgbClr val="FFEEE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24912" y="1490472"/>
            <a:ext cx="2057400" cy="502920"/>
          </a:xfrm>
          <a:prstGeom prst="rect">
            <a:avLst/>
          </a:prstGeom>
          <a:noFill/>
        </p:spPr>
        <p:txBody>
          <a:bodyPr wrap="square">
            <a:spAutoFit/>
          </a:bodyPr>
          <a:lstStyle/>
          <a:p>
            <a:pPr algn="ctr"/>
            <a:r>
              <a:rPr sz="2600" b="1" i="0">
                <a:solidFill>
                  <a:srgbClr val="C0392B"/>
                </a:solidFill>
              </a:rPr>
              <a:t>68%</a:t>
            </a:r>
          </a:p>
        </p:txBody>
      </p:sp>
      <p:sp>
        <p:nvSpPr>
          <p:cNvPr id="11" name="TextBox 10"/>
          <p:cNvSpPr txBox="1"/>
          <p:nvPr/>
        </p:nvSpPr>
        <p:spPr>
          <a:xfrm>
            <a:off x="2679191" y="1965960"/>
            <a:ext cx="2148840" cy="320040"/>
          </a:xfrm>
          <a:prstGeom prst="rect">
            <a:avLst/>
          </a:prstGeom>
          <a:noFill/>
        </p:spPr>
        <p:txBody>
          <a:bodyPr wrap="square">
            <a:spAutoFit/>
          </a:bodyPr>
          <a:lstStyle/>
          <a:p>
            <a:pPr algn="ctr"/>
            <a:r>
              <a:rPr sz="1000" b="1" i="0">
                <a:solidFill>
                  <a:srgbClr val="0D1B3E"/>
                </a:solidFill>
              </a:rPr>
              <a:t>Moderate–Extreme
AI Skill Gap</a:t>
            </a:r>
          </a:p>
        </p:txBody>
      </p:sp>
      <p:sp>
        <p:nvSpPr>
          <p:cNvPr id="12" name="TextBox 11"/>
          <p:cNvSpPr txBox="1"/>
          <p:nvPr/>
        </p:nvSpPr>
        <p:spPr>
          <a:xfrm>
            <a:off x="2679191" y="2276856"/>
            <a:ext cx="2148840" cy="274320"/>
          </a:xfrm>
          <a:prstGeom prst="rect">
            <a:avLst/>
          </a:prstGeom>
          <a:noFill/>
        </p:spPr>
        <p:txBody>
          <a:bodyPr wrap="square">
            <a:spAutoFit/>
          </a:bodyPr>
          <a:lstStyle/>
          <a:p>
            <a:pPr algn="ctr"/>
            <a:r>
              <a:rPr sz="850" b="0" i="0">
                <a:solidFill>
                  <a:srgbClr val="888899"/>
                </a:solidFill>
              </a:rPr>
              <a:t>IBM/Second Talent</a:t>
            </a:r>
          </a:p>
        </p:txBody>
      </p:sp>
      <p:sp>
        <p:nvSpPr>
          <p:cNvPr id="13" name="Rectangle 12"/>
          <p:cNvSpPr/>
          <p:nvPr/>
        </p:nvSpPr>
        <p:spPr>
          <a:xfrm>
            <a:off x="4992624" y="1417320"/>
            <a:ext cx="2240280" cy="1691640"/>
          </a:xfrm>
          <a:prstGeom prst="rect">
            <a:avLst/>
          </a:prstGeom>
          <a:solidFill>
            <a:srgbClr val="FFEEE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4064" y="1490472"/>
            <a:ext cx="2057400" cy="502920"/>
          </a:xfrm>
          <a:prstGeom prst="rect">
            <a:avLst/>
          </a:prstGeom>
          <a:noFill/>
        </p:spPr>
        <p:txBody>
          <a:bodyPr wrap="square">
            <a:spAutoFit/>
          </a:bodyPr>
          <a:lstStyle/>
          <a:p>
            <a:pPr algn="ctr"/>
            <a:r>
              <a:rPr sz="2600" b="1" i="0">
                <a:solidFill>
                  <a:srgbClr val="C0392B"/>
                </a:solidFill>
              </a:rPr>
              <a:t>74%</a:t>
            </a:r>
          </a:p>
        </p:txBody>
      </p:sp>
      <p:sp>
        <p:nvSpPr>
          <p:cNvPr id="15" name="TextBox 14"/>
          <p:cNvSpPr txBox="1"/>
          <p:nvPr/>
        </p:nvSpPr>
        <p:spPr>
          <a:xfrm>
            <a:off x="5038344" y="1965960"/>
            <a:ext cx="2148840" cy="320040"/>
          </a:xfrm>
          <a:prstGeom prst="rect">
            <a:avLst/>
          </a:prstGeom>
          <a:noFill/>
        </p:spPr>
        <p:txBody>
          <a:bodyPr wrap="square">
            <a:spAutoFit/>
          </a:bodyPr>
          <a:lstStyle/>
          <a:p>
            <a:pPr algn="ctr"/>
            <a:r>
              <a:rPr sz="1000" b="1" i="0">
                <a:solidFill>
                  <a:srgbClr val="0D1B3E"/>
                </a:solidFill>
              </a:rPr>
              <a:t>Can't Find
AI Data Scientists</a:t>
            </a:r>
          </a:p>
        </p:txBody>
      </p:sp>
      <p:sp>
        <p:nvSpPr>
          <p:cNvPr id="16" name="TextBox 15"/>
          <p:cNvSpPr txBox="1"/>
          <p:nvPr/>
        </p:nvSpPr>
        <p:spPr>
          <a:xfrm>
            <a:off x="5038344" y="2276856"/>
            <a:ext cx="2148840" cy="274320"/>
          </a:xfrm>
          <a:prstGeom prst="rect">
            <a:avLst/>
          </a:prstGeom>
          <a:noFill/>
        </p:spPr>
        <p:txBody>
          <a:bodyPr wrap="square">
            <a:spAutoFit/>
          </a:bodyPr>
          <a:lstStyle/>
          <a:p>
            <a:pPr algn="ctr"/>
            <a:r>
              <a:rPr sz="850" b="0" i="0">
                <a:solidFill>
                  <a:srgbClr val="888899"/>
                </a:solidFill>
              </a:rPr>
              <a:t>Second Talent</a:t>
            </a:r>
          </a:p>
        </p:txBody>
      </p:sp>
      <p:sp>
        <p:nvSpPr>
          <p:cNvPr id="17" name="Rectangle 16"/>
          <p:cNvSpPr/>
          <p:nvPr/>
        </p:nvSpPr>
        <p:spPr>
          <a:xfrm>
            <a:off x="7351776" y="1417320"/>
            <a:ext cx="2240280" cy="1691640"/>
          </a:xfrm>
          <a:prstGeom prst="rect">
            <a:avLst/>
          </a:prstGeom>
          <a:solidFill>
            <a:srgbClr val="FFEEE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3216" y="1490472"/>
            <a:ext cx="2057400" cy="502920"/>
          </a:xfrm>
          <a:prstGeom prst="rect">
            <a:avLst/>
          </a:prstGeom>
          <a:noFill/>
        </p:spPr>
        <p:txBody>
          <a:bodyPr wrap="square">
            <a:spAutoFit/>
          </a:bodyPr>
          <a:lstStyle/>
          <a:p>
            <a:pPr algn="ctr"/>
            <a:r>
              <a:rPr sz="2600" b="1" i="0">
                <a:solidFill>
                  <a:srgbClr val="C0392B"/>
                </a:solidFill>
              </a:rPr>
              <a:t>78%</a:t>
            </a:r>
          </a:p>
        </p:txBody>
      </p:sp>
      <p:sp>
        <p:nvSpPr>
          <p:cNvPr id="19" name="TextBox 18"/>
          <p:cNvSpPr txBox="1"/>
          <p:nvPr/>
        </p:nvSpPr>
        <p:spPr>
          <a:xfrm>
            <a:off x="7397496" y="1965960"/>
            <a:ext cx="2148840" cy="320040"/>
          </a:xfrm>
          <a:prstGeom prst="rect">
            <a:avLst/>
          </a:prstGeom>
          <a:noFill/>
        </p:spPr>
        <p:txBody>
          <a:bodyPr wrap="square">
            <a:spAutoFit/>
          </a:bodyPr>
          <a:lstStyle/>
          <a:p>
            <a:pPr algn="ctr"/>
            <a:r>
              <a:rPr sz="1000" b="1" i="0">
                <a:solidFill>
                  <a:srgbClr val="0D1B3E"/>
                </a:solidFill>
              </a:rPr>
              <a:t>Can't Find
AI Ethics Specialists</a:t>
            </a:r>
          </a:p>
        </p:txBody>
      </p:sp>
      <p:sp>
        <p:nvSpPr>
          <p:cNvPr id="20" name="TextBox 19"/>
          <p:cNvSpPr txBox="1"/>
          <p:nvPr/>
        </p:nvSpPr>
        <p:spPr>
          <a:xfrm>
            <a:off x="7397496" y="2276856"/>
            <a:ext cx="2148840" cy="274320"/>
          </a:xfrm>
          <a:prstGeom prst="rect">
            <a:avLst/>
          </a:prstGeom>
          <a:noFill/>
        </p:spPr>
        <p:txBody>
          <a:bodyPr wrap="square">
            <a:spAutoFit/>
          </a:bodyPr>
          <a:lstStyle/>
          <a:p>
            <a:pPr algn="ctr"/>
            <a:r>
              <a:rPr sz="850" b="0" i="0">
                <a:solidFill>
                  <a:srgbClr val="888899"/>
                </a:solidFill>
              </a:rPr>
              <a:t>Second Talent</a:t>
            </a:r>
          </a:p>
        </p:txBody>
      </p:sp>
      <p:sp>
        <p:nvSpPr>
          <p:cNvPr id="21" name="Rectangle 20"/>
          <p:cNvSpPr/>
          <p:nvPr/>
        </p:nvSpPr>
        <p:spPr>
          <a:xfrm>
            <a:off x="9710928" y="1417320"/>
            <a:ext cx="2240280" cy="1691640"/>
          </a:xfrm>
          <a:prstGeom prst="rect">
            <a:avLst/>
          </a:prstGeom>
          <a:solidFill>
            <a:srgbClr val="FFEEE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02368" y="1490472"/>
            <a:ext cx="2057400" cy="502920"/>
          </a:xfrm>
          <a:prstGeom prst="rect">
            <a:avLst/>
          </a:prstGeom>
          <a:noFill/>
        </p:spPr>
        <p:txBody>
          <a:bodyPr wrap="square">
            <a:spAutoFit/>
          </a:bodyPr>
          <a:lstStyle/>
          <a:p>
            <a:pPr algn="ctr"/>
            <a:r>
              <a:rPr sz="2600" b="1" i="0">
                <a:solidFill>
                  <a:srgbClr val="C0392B"/>
                </a:solidFill>
              </a:rPr>
              <a:t>35%</a:t>
            </a:r>
          </a:p>
        </p:txBody>
      </p:sp>
      <p:sp>
        <p:nvSpPr>
          <p:cNvPr id="23" name="TextBox 22"/>
          <p:cNvSpPr txBox="1"/>
          <p:nvPr/>
        </p:nvSpPr>
        <p:spPr>
          <a:xfrm>
            <a:off x="9756648" y="1965960"/>
            <a:ext cx="2148840" cy="320040"/>
          </a:xfrm>
          <a:prstGeom prst="rect">
            <a:avLst/>
          </a:prstGeom>
          <a:noFill/>
        </p:spPr>
        <p:txBody>
          <a:bodyPr wrap="square">
            <a:spAutoFit/>
          </a:bodyPr>
          <a:lstStyle/>
          <a:p>
            <a:pPr algn="ctr"/>
            <a:r>
              <a:rPr sz="1000" b="1" i="0">
                <a:solidFill>
                  <a:srgbClr val="0D1B3E"/>
                </a:solidFill>
              </a:rPr>
              <a:t>Workforce Received
Any AI Training</a:t>
            </a:r>
          </a:p>
        </p:txBody>
      </p:sp>
      <p:sp>
        <p:nvSpPr>
          <p:cNvPr id="24" name="TextBox 23"/>
          <p:cNvSpPr txBox="1"/>
          <p:nvPr/>
        </p:nvSpPr>
        <p:spPr>
          <a:xfrm>
            <a:off x="9756648" y="2276856"/>
            <a:ext cx="2148840" cy="274320"/>
          </a:xfrm>
          <a:prstGeom prst="rect">
            <a:avLst/>
          </a:prstGeom>
          <a:noFill/>
        </p:spPr>
        <p:txBody>
          <a:bodyPr wrap="square">
            <a:spAutoFit/>
          </a:bodyPr>
          <a:lstStyle/>
          <a:p>
            <a:pPr algn="ctr"/>
            <a:r>
              <a:rPr sz="850" b="0" i="0">
                <a:solidFill>
                  <a:srgbClr val="888899"/>
                </a:solidFill>
              </a:rPr>
              <a:t>↑ vs 75% AI adoption</a:t>
            </a:r>
          </a:p>
        </p:txBody>
      </p:sp>
      <p:sp>
        <p:nvSpPr>
          <p:cNvPr id="25" name="TextBox 24"/>
          <p:cNvSpPr txBox="1"/>
          <p:nvPr/>
        </p:nvSpPr>
        <p:spPr>
          <a:xfrm>
            <a:off x="274320" y="3246120"/>
            <a:ext cx="11612880" cy="347472"/>
          </a:xfrm>
          <a:prstGeom prst="rect">
            <a:avLst/>
          </a:prstGeom>
          <a:noFill/>
        </p:spPr>
        <p:txBody>
          <a:bodyPr wrap="square">
            <a:spAutoFit/>
          </a:bodyPr>
          <a:lstStyle/>
          <a:p>
            <a:pPr algn="l"/>
            <a:r>
              <a:rPr sz="1100" b="1" i="0">
                <a:solidFill>
                  <a:srgbClr val="1A56CC"/>
                </a:solidFill>
              </a:rPr>
              <a:t>THE THREE-WAY TALENT MISMATCH</a:t>
            </a:r>
          </a:p>
        </p:txBody>
      </p:sp>
      <p:sp>
        <p:nvSpPr>
          <p:cNvPr id="26" name="Rectangle 25"/>
          <p:cNvSpPr/>
          <p:nvPr/>
        </p:nvSpPr>
        <p:spPr>
          <a:xfrm>
            <a:off x="274320" y="3657600"/>
            <a:ext cx="3840480" cy="2834640"/>
          </a:xfrm>
          <a:prstGeom prst="rect">
            <a:avLst/>
          </a:prstGeom>
          <a:solidFill>
            <a:srgbClr val="FFFFFF"/>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3657600"/>
            <a:ext cx="3840480" cy="384048"/>
          </a:xfrm>
          <a:prstGeom prst="rect">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3703320"/>
            <a:ext cx="3657600" cy="320040"/>
          </a:xfrm>
          <a:prstGeom prst="rect">
            <a:avLst/>
          </a:prstGeom>
          <a:noFill/>
        </p:spPr>
        <p:txBody>
          <a:bodyPr wrap="square">
            <a:spAutoFit/>
          </a:bodyPr>
          <a:lstStyle/>
          <a:p>
            <a:pPr algn="l"/>
            <a:r>
              <a:rPr sz="1050" b="1" i="0">
                <a:solidFill>
                  <a:srgbClr val="FFFFFF"/>
                </a:solidFill>
              </a:rPr>
              <a:t>Business Domain Experts</a:t>
            </a:r>
          </a:p>
        </p:txBody>
      </p:sp>
      <p:sp>
        <p:nvSpPr>
          <p:cNvPr id="29" name="TextBox 28"/>
          <p:cNvSpPr txBox="1"/>
          <p:nvPr/>
        </p:nvSpPr>
        <p:spPr>
          <a:xfrm>
            <a:off x="411479" y="4114800"/>
            <a:ext cx="3611880" cy="530352"/>
          </a:xfrm>
          <a:prstGeom prst="rect">
            <a:avLst/>
          </a:prstGeom>
          <a:noFill/>
        </p:spPr>
        <p:txBody>
          <a:bodyPr wrap="square">
            <a:spAutoFit/>
          </a:bodyPr>
          <a:lstStyle/>
          <a:p>
            <a:pPr algn="l"/>
            <a:r>
              <a:rPr sz="950" b="0" i="0">
                <a:solidFill>
                  <a:srgbClr val="444455"/>
                </a:solidFill>
              </a:rPr>
              <a:t>▸  Understand industry problems deeply</a:t>
            </a:r>
          </a:p>
        </p:txBody>
      </p:sp>
      <p:sp>
        <p:nvSpPr>
          <p:cNvPr id="30" name="TextBox 29"/>
          <p:cNvSpPr txBox="1"/>
          <p:nvPr/>
        </p:nvSpPr>
        <p:spPr>
          <a:xfrm>
            <a:off x="411479" y="4681728"/>
            <a:ext cx="3611880" cy="530352"/>
          </a:xfrm>
          <a:prstGeom prst="rect">
            <a:avLst/>
          </a:prstGeom>
          <a:noFill/>
        </p:spPr>
        <p:txBody>
          <a:bodyPr wrap="square">
            <a:spAutoFit/>
          </a:bodyPr>
          <a:lstStyle/>
          <a:p>
            <a:pPr algn="l"/>
            <a:r>
              <a:rPr sz="950" b="0" i="0">
                <a:solidFill>
                  <a:srgbClr val="444455"/>
                </a:solidFill>
              </a:rPr>
              <a:t>▸  Cannot translate problems into AI specifications</a:t>
            </a:r>
          </a:p>
        </p:txBody>
      </p:sp>
      <p:sp>
        <p:nvSpPr>
          <p:cNvPr id="31" name="TextBox 30"/>
          <p:cNvSpPr txBox="1"/>
          <p:nvPr/>
        </p:nvSpPr>
        <p:spPr>
          <a:xfrm>
            <a:off x="411479" y="5248656"/>
            <a:ext cx="3611880" cy="530352"/>
          </a:xfrm>
          <a:prstGeom prst="rect">
            <a:avLst/>
          </a:prstGeom>
          <a:noFill/>
        </p:spPr>
        <p:txBody>
          <a:bodyPr wrap="square">
            <a:spAutoFit/>
          </a:bodyPr>
          <a:lstStyle/>
          <a:p>
            <a:pPr algn="l"/>
            <a:r>
              <a:rPr sz="950" b="0" i="0">
                <a:solidFill>
                  <a:srgbClr val="444455"/>
                </a:solidFill>
              </a:rPr>
              <a:t>▸  Don't speak 'model', 'vector', or 'prompt'</a:t>
            </a:r>
          </a:p>
        </p:txBody>
      </p:sp>
      <p:sp>
        <p:nvSpPr>
          <p:cNvPr id="32" name="TextBox 31"/>
          <p:cNvSpPr txBox="1"/>
          <p:nvPr/>
        </p:nvSpPr>
        <p:spPr>
          <a:xfrm>
            <a:off x="411479" y="5815583"/>
            <a:ext cx="3611880" cy="530352"/>
          </a:xfrm>
          <a:prstGeom prst="rect">
            <a:avLst/>
          </a:prstGeom>
          <a:noFill/>
        </p:spPr>
        <p:txBody>
          <a:bodyPr wrap="square">
            <a:spAutoFit/>
          </a:bodyPr>
          <a:lstStyle/>
          <a:p>
            <a:pPr algn="l"/>
            <a:r>
              <a:rPr sz="950" b="0" i="0">
                <a:solidFill>
                  <a:srgbClr val="444455"/>
                </a:solidFill>
              </a:rPr>
              <a:t>▸  Often skeptical or resistant to AI tools</a:t>
            </a:r>
          </a:p>
        </p:txBody>
      </p:sp>
      <p:sp>
        <p:nvSpPr>
          <p:cNvPr id="33" name="Rectangle 32"/>
          <p:cNvSpPr/>
          <p:nvPr/>
        </p:nvSpPr>
        <p:spPr>
          <a:xfrm>
            <a:off x="4251959" y="3657600"/>
            <a:ext cx="3840480" cy="2834640"/>
          </a:xfrm>
          <a:prstGeom prst="rect">
            <a:avLst/>
          </a:prstGeom>
          <a:solidFill>
            <a:srgbClr val="FFFFFF"/>
          </a:solidFill>
          <a:ln w="254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51959" y="3657600"/>
            <a:ext cx="3840480" cy="384048"/>
          </a:xfrm>
          <a:prstGeom prst="rect">
            <a:avLst/>
          </a:prstGeom>
          <a:solidFill>
            <a:srgbClr val="0D3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399" y="3703320"/>
            <a:ext cx="3657600" cy="320040"/>
          </a:xfrm>
          <a:prstGeom prst="rect">
            <a:avLst/>
          </a:prstGeom>
          <a:noFill/>
        </p:spPr>
        <p:txBody>
          <a:bodyPr wrap="square">
            <a:spAutoFit/>
          </a:bodyPr>
          <a:lstStyle/>
          <a:p>
            <a:pPr algn="l"/>
            <a:r>
              <a:rPr sz="1050" b="1" i="0">
                <a:solidFill>
                  <a:srgbClr val="FFFFFF"/>
                </a:solidFill>
              </a:rPr>
              <a:t>AI / ML Engineers</a:t>
            </a:r>
          </a:p>
        </p:txBody>
      </p:sp>
      <p:sp>
        <p:nvSpPr>
          <p:cNvPr id="36" name="TextBox 35"/>
          <p:cNvSpPr txBox="1"/>
          <p:nvPr/>
        </p:nvSpPr>
        <p:spPr>
          <a:xfrm>
            <a:off x="4389120" y="4114800"/>
            <a:ext cx="3611880" cy="530352"/>
          </a:xfrm>
          <a:prstGeom prst="rect">
            <a:avLst/>
          </a:prstGeom>
          <a:noFill/>
        </p:spPr>
        <p:txBody>
          <a:bodyPr wrap="square">
            <a:spAutoFit/>
          </a:bodyPr>
          <a:lstStyle/>
          <a:p>
            <a:pPr algn="l"/>
            <a:r>
              <a:rPr sz="950" b="0" i="0">
                <a:solidFill>
                  <a:srgbClr val="444455"/>
                </a:solidFill>
              </a:rPr>
              <a:t>▸  Build and train models effectively</a:t>
            </a:r>
          </a:p>
        </p:txBody>
      </p:sp>
      <p:sp>
        <p:nvSpPr>
          <p:cNvPr id="37" name="TextBox 36"/>
          <p:cNvSpPr txBox="1"/>
          <p:nvPr/>
        </p:nvSpPr>
        <p:spPr>
          <a:xfrm>
            <a:off x="4389120" y="4681728"/>
            <a:ext cx="3611880" cy="530352"/>
          </a:xfrm>
          <a:prstGeom prst="rect">
            <a:avLst/>
          </a:prstGeom>
          <a:noFill/>
        </p:spPr>
        <p:txBody>
          <a:bodyPr wrap="square">
            <a:spAutoFit/>
          </a:bodyPr>
          <a:lstStyle/>
          <a:p>
            <a:pPr algn="l"/>
            <a:r>
              <a:rPr sz="950" b="0" i="0">
                <a:solidFill>
                  <a:srgbClr val="444455"/>
                </a:solidFill>
              </a:rPr>
              <a:t>▸  Don't understand financial regulations</a:t>
            </a:r>
          </a:p>
        </p:txBody>
      </p:sp>
      <p:sp>
        <p:nvSpPr>
          <p:cNvPr id="38" name="TextBox 37"/>
          <p:cNvSpPr txBox="1"/>
          <p:nvPr/>
        </p:nvSpPr>
        <p:spPr>
          <a:xfrm>
            <a:off x="4389120" y="5248656"/>
            <a:ext cx="3611880" cy="530352"/>
          </a:xfrm>
          <a:prstGeom prst="rect">
            <a:avLst/>
          </a:prstGeom>
          <a:noFill/>
        </p:spPr>
        <p:txBody>
          <a:bodyPr wrap="square">
            <a:spAutoFit/>
          </a:bodyPr>
          <a:lstStyle/>
          <a:p>
            <a:pPr algn="l"/>
            <a:r>
              <a:rPr sz="950" b="0" i="0">
                <a:solidFill>
                  <a:srgbClr val="444455"/>
                </a:solidFill>
              </a:rPr>
              <a:t>▸  Can't identify which business problems are worth solving</a:t>
            </a:r>
          </a:p>
        </p:txBody>
      </p:sp>
      <p:sp>
        <p:nvSpPr>
          <p:cNvPr id="39" name="TextBox 38"/>
          <p:cNvSpPr txBox="1"/>
          <p:nvPr/>
        </p:nvSpPr>
        <p:spPr>
          <a:xfrm>
            <a:off x="4389120" y="5815583"/>
            <a:ext cx="3611880" cy="530352"/>
          </a:xfrm>
          <a:prstGeom prst="rect">
            <a:avLst/>
          </a:prstGeom>
          <a:noFill/>
        </p:spPr>
        <p:txBody>
          <a:bodyPr wrap="square">
            <a:spAutoFit/>
          </a:bodyPr>
          <a:lstStyle/>
          <a:p>
            <a:pPr algn="l"/>
            <a:r>
              <a:rPr sz="950" b="0" i="0">
                <a:solidFill>
                  <a:srgbClr val="444455"/>
                </a:solidFill>
              </a:rPr>
              <a:t>▸  Demand 3× market salary; hard to retain</a:t>
            </a:r>
          </a:p>
        </p:txBody>
      </p:sp>
      <p:sp>
        <p:nvSpPr>
          <p:cNvPr id="40" name="Rectangle 39"/>
          <p:cNvSpPr/>
          <p:nvPr/>
        </p:nvSpPr>
        <p:spPr>
          <a:xfrm>
            <a:off x="8229600" y="3657600"/>
            <a:ext cx="3840480" cy="283464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29600" y="3657600"/>
            <a:ext cx="3840480" cy="384048"/>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21040" y="3703320"/>
            <a:ext cx="3657600" cy="320040"/>
          </a:xfrm>
          <a:prstGeom prst="rect">
            <a:avLst/>
          </a:prstGeom>
          <a:noFill/>
        </p:spPr>
        <p:txBody>
          <a:bodyPr wrap="square">
            <a:spAutoFit/>
          </a:bodyPr>
          <a:lstStyle/>
          <a:p>
            <a:pPr algn="l"/>
            <a:r>
              <a:rPr sz="1050" b="1" i="0">
                <a:solidFill>
                  <a:srgbClr val="FFFFFF"/>
                </a:solidFill>
              </a:rPr>
              <a:t>Compound Talent  ← SCARCE</a:t>
            </a:r>
          </a:p>
        </p:txBody>
      </p:sp>
      <p:sp>
        <p:nvSpPr>
          <p:cNvPr id="43" name="TextBox 42"/>
          <p:cNvSpPr txBox="1"/>
          <p:nvPr/>
        </p:nvSpPr>
        <p:spPr>
          <a:xfrm>
            <a:off x="8366760" y="4114800"/>
            <a:ext cx="3611880" cy="530352"/>
          </a:xfrm>
          <a:prstGeom prst="rect">
            <a:avLst/>
          </a:prstGeom>
          <a:noFill/>
        </p:spPr>
        <p:txBody>
          <a:bodyPr wrap="square">
            <a:spAutoFit/>
          </a:bodyPr>
          <a:lstStyle/>
          <a:p>
            <a:pPr algn="l"/>
            <a:r>
              <a:rPr sz="950" b="0" i="0">
                <a:solidFill>
                  <a:srgbClr val="444455"/>
                </a:solidFill>
              </a:rPr>
              <a:t>▸  Can bridge business ↔ AI gap</a:t>
            </a:r>
          </a:p>
        </p:txBody>
      </p:sp>
      <p:sp>
        <p:nvSpPr>
          <p:cNvPr id="44" name="TextBox 43"/>
          <p:cNvSpPr txBox="1"/>
          <p:nvPr/>
        </p:nvSpPr>
        <p:spPr>
          <a:xfrm>
            <a:off x="8366760" y="4681728"/>
            <a:ext cx="3611880" cy="530352"/>
          </a:xfrm>
          <a:prstGeom prst="rect">
            <a:avLst/>
          </a:prstGeom>
          <a:noFill/>
        </p:spPr>
        <p:txBody>
          <a:bodyPr wrap="square">
            <a:spAutoFit/>
          </a:bodyPr>
          <a:lstStyle/>
          <a:p>
            <a:pPr algn="l"/>
            <a:r>
              <a:rPr sz="950" b="0" i="0">
                <a:solidFill>
                  <a:srgbClr val="444455"/>
                </a:solidFill>
              </a:rPr>
              <a:t>▸  Translate domain problems into AI tasks</a:t>
            </a:r>
          </a:p>
        </p:txBody>
      </p:sp>
      <p:sp>
        <p:nvSpPr>
          <p:cNvPr id="45" name="TextBox 44"/>
          <p:cNvSpPr txBox="1"/>
          <p:nvPr/>
        </p:nvSpPr>
        <p:spPr>
          <a:xfrm>
            <a:off x="8366760" y="5248656"/>
            <a:ext cx="3611880" cy="530352"/>
          </a:xfrm>
          <a:prstGeom prst="rect">
            <a:avLst/>
          </a:prstGeom>
          <a:noFill/>
        </p:spPr>
        <p:txBody>
          <a:bodyPr wrap="square">
            <a:spAutoFit/>
          </a:bodyPr>
          <a:lstStyle/>
          <a:p>
            <a:pPr algn="l"/>
            <a:r>
              <a:rPr sz="950" b="0" i="0">
                <a:solidFill>
                  <a:srgbClr val="444455"/>
                </a:solidFill>
              </a:rPr>
              <a:t>▸  Only 5% of workforce (est.) fits this profile</a:t>
            </a:r>
          </a:p>
        </p:txBody>
      </p:sp>
      <p:sp>
        <p:nvSpPr>
          <p:cNvPr id="46" name="TextBox 45"/>
          <p:cNvSpPr txBox="1"/>
          <p:nvPr/>
        </p:nvSpPr>
        <p:spPr>
          <a:xfrm>
            <a:off x="8366760" y="5815583"/>
            <a:ext cx="3611880" cy="530352"/>
          </a:xfrm>
          <a:prstGeom prst="rect">
            <a:avLst/>
          </a:prstGeom>
          <a:noFill/>
        </p:spPr>
        <p:txBody>
          <a:bodyPr wrap="square">
            <a:spAutoFit/>
          </a:bodyPr>
          <a:lstStyle/>
          <a:p>
            <a:pPr algn="l"/>
            <a:r>
              <a:rPr sz="950" b="0" i="0">
                <a:solidFill>
                  <a:srgbClr val="444455"/>
                </a:solidFill>
              </a:rPr>
              <a:t>▸  Job postings grew 4× in one year (66K in 2024)</a:t>
            </a:r>
          </a:p>
        </p:txBody>
      </p:sp>
      <p:sp>
        <p:nvSpPr>
          <p:cNvPr id="47" name="TextBox 46"/>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Sources: IBM/Second Talent Research · US AI Job Demand Data · IRS GAO Watchdog Report (2026) · Deloitte State of AI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Challenge 5 — Regulatory &amp; Compliance Complexity</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State AI laws grew from 49 to 131 in a single year; federal framework remains fragmented  — Stanford AI Index 2025</a:t>
            </a:r>
          </a:p>
        </p:txBody>
      </p:sp>
      <p:sp>
        <p:nvSpPr>
          <p:cNvPr id="5" name="TextBox 4"/>
          <p:cNvSpPr txBox="1"/>
          <p:nvPr/>
        </p:nvSpPr>
        <p:spPr>
          <a:xfrm>
            <a:off x="274320" y="1417320"/>
            <a:ext cx="11612880" cy="347472"/>
          </a:xfrm>
          <a:prstGeom prst="rect">
            <a:avLst/>
          </a:prstGeom>
          <a:noFill/>
        </p:spPr>
        <p:txBody>
          <a:bodyPr wrap="square">
            <a:spAutoFit/>
          </a:bodyPr>
          <a:lstStyle/>
          <a:p>
            <a:pPr algn="l"/>
            <a:r>
              <a:rPr sz="1100" b="1" i="0">
                <a:solidFill>
                  <a:srgbClr val="0D1B3E"/>
                </a:solidFill>
              </a:rPr>
              <a:t>INDUSTRY-SPECIFIC COMPLIANCE LANDMINES</a:t>
            </a:r>
          </a:p>
        </p:txBody>
      </p:sp>
      <p:sp>
        <p:nvSpPr>
          <p:cNvPr id="6" name="Rectangle 5"/>
          <p:cNvSpPr/>
          <p:nvPr/>
        </p:nvSpPr>
        <p:spPr>
          <a:xfrm>
            <a:off x="274320" y="1828800"/>
            <a:ext cx="3840480" cy="448056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828800"/>
            <a:ext cx="384048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74519"/>
            <a:ext cx="3657600" cy="320040"/>
          </a:xfrm>
          <a:prstGeom prst="rect">
            <a:avLst/>
          </a:prstGeom>
          <a:noFill/>
        </p:spPr>
        <p:txBody>
          <a:bodyPr wrap="square">
            <a:spAutoFit/>
          </a:bodyPr>
          <a:lstStyle/>
          <a:p>
            <a:pPr algn="l"/>
            <a:r>
              <a:rPr sz="1100" b="1" i="0">
                <a:solidFill>
                  <a:srgbClr val="FFFFFF"/>
                </a:solidFill>
              </a:rPr>
              <a:t>Healthcare / HIPAA</a:t>
            </a:r>
          </a:p>
        </p:txBody>
      </p:sp>
      <p:sp>
        <p:nvSpPr>
          <p:cNvPr id="9" name="TextBox 8"/>
          <p:cNvSpPr txBox="1"/>
          <p:nvPr/>
        </p:nvSpPr>
        <p:spPr>
          <a:xfrm>
            <a:off x="384048" y="2286000"/>
            <a:ext cx="3639312" cy="603504"/>
          </a:xfrm>
          <a:prstGeom prst="rect">
            <a:avLst/>
          </a:prstGeom>
          <a:noFill/>
        </p:spPr>
        <p:txBody>
          <a:bodyPr wrap="square">
            <a:spAutoFit/>
          </a:bodyPr>
          <a:lstStyle/>
          <a:p>
            <a:pPr algn="l"/>
            <a:r>
              <a:rPr sz="900" b="0" i="0">
                <a:solidFill>
                  <a:srgbClr val="444455"/>
                </a:solidFill>
              </a:rPr>
              <a:t>• 725 major breaches exposed 275M records in 2024 alone</a:t>
            </a:r>
          </a:p>
        </p:txBody>
      </p:sp>
      <p:sp>
        <p:nvSpPr>
          <p:cNvPr id="10" name="TextBox 9"/>
          <p:cNvSpPr txBox="1"/>
          <p:nvPr/>
        </p:nvSpPr>
        <p:spPr>
          <a:xfrm>
            <a:off x="384048" y="2926080"/>
            <a:ext cx="3639312" cy="603504"/>
          </a:xfrm>
          <a:prstGeom prst="rect">
            <a:avLst/>
          </a:prstGeom>
          <a:noFill/>
        </p:spPr>
        <p:txBody>
          <a:bodyPr wrap="square">
            <a:spAutoFit/>
          </a:bodyPr>
          <a:lstStyle/>
          <a:p>
            <a:pPr algn="l"/>
            <a:r>
              <a:rPr sz="900" b="0" i="0">
                <a:solidFill>
                  <a:srgbClr val="444455"/>
                </a:solidFill>
              </a:rPr>
              <a:t>• Change Healthcare breach: 100M individuals affected — largest ever</a:t>
            </a:r>
          </a:p>
        </p:txBody>
      </p:sp>
      <p:sp>
        <p:nvSpPr>
          <p:cNvPr id="11" name="TextBox 10"/>
          <p:cNvSpPr txBox="1"/>
          <p:nvPr/>
        </p:nvSpPr>
        <p:spPr>
          <a:xfrm>
            <a:off x="384048" y="3566160"/>
            <a:ext cx="3639312" cy="603504"/>
          </a:xfrm>
          <a:prstGeom prst="rect">
            <a:avLst/>
          </a:prstGeom>
          <a:noFill/>
        </p:spPr>
        <p:txBody>
          <a:bodyPr wrap="square">
            <a:spAutoFit/>
          </a:bodyPr>
          <a:lstStyle/>
          <a:p>
            <a:pPr algn="l"/>
            <a:r>
              <a:rPr sz="900" b="0" i="0">
                <a:solidFill>
                  <a:srgbClr val="444455"/>
                </a:solidFill>
              </a:rPr>
              <a:t>• 88% of hospitals adopted cloud GenAI; staff uploading ePHI to unvetted tools</a:t>
            </a:r>
          </a:p>
        </p:txBody>
      </p:sp>
      <p:sp>
        <p:nvSpPr>
          <p:cNvPr id="12" name="TextBox 11"/>
          <p:cNvSpPr txBox="1"/>
          <p:nvPr/>
        </p:nvSpPr>
        <p:spPr>
          <a:xfrm>
            <a:off x="384048" y="4206240"/>
            <a:ext cx="3639312" cy="603504"/>
          </a:xfrm>
          <a:prstGeom prst="rect">
            <a:avLst/>
          </a:prstGeom>
          <a:noFill/>
        </p:spPr>
        <p:txBody>
          <a:bodyPr wrap="square">
            <a:spAutoFit/>
          </a:bodyPr>
          <a:lstStyle/>
          <a:p>
            <a:pPr algn="l"/>
            <a:r>
              <a:rPr sz="900" b="0" i="0">
                <a:solidFill>
                  <a:srgbClr val="444455"/>
                </a:solidFill>
              </a:rPr>
              <a:t>• HHS proposed first major HIPAA Security Rule update in 20 years (Jan 2025)</a:t>
            </a:r>
          </a:p>
        </p:txBody>
      </p:sp>
      <p:sp>
        <p:nvSpPr>
          <p:cNvPr id="13" name="TextBox 12"/>
          <p:cNvSpPr txBox="1"/>
          <p:nvPr/>
        </p:nvSpPr>
        <p:spPr>
          <a:xfrm>
            <a:off x="384048" y="4846320"/>
            <a:ext cx="3639312" cy="603504"/>
          </a:xfrm>
          <a:prstGeom prst="rect">
            <a:avLst/>
          </a:prstGeom>
          <a:noFill/>
        </p:spPr>
        <p:txBody>
          <a:bodyPr wrap="square">
            <a:spAutoFit/>
          </a:bodyPr>
          <a:lstStyle/>
          <a:p>
            <a:pPr algn="l"/>
            <a:r>
              <a:rPr sz="900" b="0" i="0">
                <a:solidFill>
                  <a:srgbClr val="444455"/>
                </a:solidFill>
              </a:rPr>
              <a:t>• Kaiser Permanente notified 13.4M members of tracking-tech breach</a:t>
            </a:r>
          </a:p>
        </p:txBody>
      </p:sp>
      <p:sp>
        <p:nvSpPr>
          <p:cNvPr id="14" name="TextBox 13"/>
          <p:cNvSpPr txBox="1"/>
          <p:nvPr/>
        </p:nvSpPr>
        <p:spPr>
          <a:xfrm>
            <a:off x="384048" y="5486400"/>
            <a:ext cx="3639312" cy="603504"/>
          </a:xfrm>
          <a:prstGeom prst="rect">
            <a:avLst/>
          </a:prstGeom>
          <a:noFill/>
        </p:spPr>
        <p:txBody>
          <a:bodyPr wrap="square">
            <a:spAutoFit/>
          </a:bodyPr>
          <a:lstStyle/>
          <a:p>
            <a:pPr algn="l"/>
            <a:r>
              <a:rPr sz="900" b="0" i="0">
                <a:solidFill>
                  <a:srgbClr val="444455"/>
                </a:solidFill>
              </a:rPr>
              <a:t>• July 2025: $250K HIPAA fine from AI-related enforcement</a:t>
            </a:r>
          </a:p>
        </p:txBody>
      </p:sp>
      <p:sp>
        <p:nvSpPr>
          <p:cNvPr id="15" name="Rectangle 14"/>
          <p:cNvSpPr/>
          <p:nvPr/>
        </p:nvSpPr>
        <p:spPr>
          <a:xfrm>
            <a:off x="4251959" y="1828800"/>
            <a:ext cx="3840480" cy="448056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59" y="1828800"/>
            <a:ext cx="3840480" cy="38404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399" y="1874519"/>
            <a:ext cx="3657600" cy="320040"/>
          </a:xfrm>
          <a:prstGeom prst="rect">
            <a:avLst/>
          </a:prstGeom>
          <a:noFill/>
        </p:spPr>
        <p:txBody>
          <a:bodyPr wrap="square">
            <a:spAutoFit/>
          </a:bodyPr>
          <a:lstStyle/>
          <a:p>
            <a:pPr algn="l"/>
            <a:r>
              <a:rPr sz="1100" b="1" i="0">
                <a:solidFill>
                  <a:srgbClr val="FFFFFF"/>
                </a:solidFill>
              </a:rPr>
              <a:t>Financial / FINRA · SOX</a:t>
            </a:r>
          </a:p>
        </p:txBody>
      </p:sp>
      <p:sp>
        <p:nvSpPr>
          <p:cNvPr id="18" name="TextBox 17"/>
          <p:cNvSpPr txBox="1"/>
          <p:nvPr/>
        </p:nvSpPr>
        <p:spPr>
          <a:xfrm>
            <a:off x="4361688" y="2286000"/>
            <a:ext cx="3639312" cy="603504"/>
          </a:xfrm>
          <a:prstGeom prst="rect">
            <a:avLst/>
          </a:prstGeom>
          <a:noFill/>
        </p:spPr>
        <p:txBody>
          <a:bodyPr wrap="square">
            <a:spAutoFit/>
          </a:bodyPr>
          <a:lstStyle/>
          <a:p>
            <a:pPr algn="l"/>
            <a:r>
              <a:rPr sz="900" b="0" i="0">
                <a:solidFill>
                  <a:srgbClr val="444455"/>
                </a:solidFill>
              </a:rPr>
              <a:t>• FINRA 2025: AI content = regulated communication; mandatory governance programs</a:t>
            </a:r>
          </a:p>
        </p:txBody>
      </p:sp>
      <p:sp>
        <p:nvSpPr>
          <p:cNvPr id="19" name="TextBox 18"/>
          <p:cNvSpPr txBox="1"/>
          <p:nvPr/>
        </p:nvSpPr>
        <p:spPr>
          <a:xfrm>
            <a:off x="4361688" y="2926080"/>
            <a:ext cx="3639312" cy="603504"/>
          </a:xfrm>
          <a:prstGeom prst="rect">
            <a:avLst/>
          </a:prstGeom>
          <a:noFill/>
        </p:spPr>
        <p:txBody>
          <a:bodyPr wrap="square">
            <a:spAutoFit/>
          </a:bodyPr>
          <a:lstStyle/>
          <a:p>
            <a:pPr algn="l"/>
            <a:r>
              <a:rPr sz="900" b="0" i="0">
                <a:solidFill>
                  <a:srgbClr val="444455"/>
                </a:solidFill>
              </a:rPr>
              <a:t>• FSOC elevated AI as systemic risk in its Dec 2024 annual report</a:t>
            </a:r>
          </a:p>
        </p:txBody>
      </p:sp>
      <p:sp>
        <p:nvSpPr>
          <p:cNvPr id="20" name="TextBox 19"/>
          <p:cNvSpPr txBox="1"/>
          <p:nvPr/>
        </p:nvSpPr>
        <p:spPr>
          <a:xfrm>
            <a:off x="4361688" y="3566160"/>
            <a:ext cx="3639312" cy="603504"/>
          </a:xfrm>
          <a:prstGeom prst="rect">
            <a:avLst/>
          </a:prstGeom>
          <a:noFill/>
        </p:spPr>
        <p:txBody>
          <a:bodyPr wrap="square">
            <a:spAutoFit/>
          </a:bodyPr>
          <a:lstStyle/>
          <a:p>
            <a:pPr algn="l"/>
            <a:r>
              <a:rPr sz="900" b="0" i="0">
                <a:solidFill>
                  <a:srgbClr val="444455"/>
                </a:solidFill>
              </a:rPr>
              <a:t>• AI agents touching financial data now classified as SOX internal control risks</a:t>
            </a:r>
          </a:p>
        </p:txBody>
      </p:sp>
      <p:sp>
        <p:nvSpPr>
          <p:cNvPr id="21" name="TextBox 20"/>
          <p:cNvSpPr txBox="1"/>
          <p:nvPr/>
        </p:nvSpPr>
        <p:spPr>
          <a:xfrm>
            <a:off x="4361688" y="4206240"/>
            <a:ext cx="3639312" cy="603504"/>
          </a:xfrm>
          <a:prstGeom prst="rect">
            <a:avLst/>
          </a:prstGeom>
          <a:noFill/>
        </p:spPr>
        <p:txBody>
          <a:bodyPr wrap="square">
            <a:spAutoFit/>
          </a:bodyPr>
          <a:lstStyle/>
          <a:p>
            <a:pPr algn="l"/>
            <a:r>
              <a:rPr sz="900" b="0" i="0">
                <a:solidFill>
                  <a:srgbClr val="444455"/>
                </a:solidFill>
              </a:rPr>
              <a:t>• Algorithmic bias in credit decisions faces heightened regulatory scrutiny</a:t>
            </a:r>
          </a:p>
        </p:txBody>
      </p:sp>
      <p:sp>
        <p:nvSpPr>
          <p:cNvPr id="22" name="TextBox 21"/>
          <p:cNvSpPr txBox="1"/>
          <p:nvPr/>
        </p:nvSpPr>
        <p:spPr>
          <a:xfrm>
            <a:off x="4361688" y="4846320"/>
            <a:ext cx="3639312" cy="603504"/>
          </a:xfrm>
          <a:prstGeom prst="rect">
            <a:avLst/>
          </a:prstGeom>
          <a:noFill/>
        </p:spPr>
        <p:txBody>
          <a:bodyPr wrap="square">
            <a:spAutoFit/>
          </a:bodyPr>
          <a:lstStyle/>
          <a:p>
            <a:pPr algn="l"/>
            <a:r>
              <a:rPr sz="900" b="0" i="0">
                <a:solidFill>
                  <a:srgbClr val="444455"/>
                </a:solidFill>
              </a:rPr>
              <a:t>• Explainability requirement: black-box AI decisions challenged by auditors</a:t>
            </a:r>
          </a:p>
        </p:txBody>
      </p:sp>
      <p:sp>
        <p:nvSpPr>
          <p:cNvPr id="23" name="TextBox 22"/>
          <p:cNvSpPr txBox="1"/>
          <p:nvPr/>
        </p:nvSpPr>
        <p:spPr>
          <a:xfrm>
            <a:off x="4361688" y="5486400"/>
            <a:ext cx="3639312" cy="603504"/>
          </a:xfrm>
          <a:prstGeom prst="rect">
            <a:avLst/>
          </a:prstGeom>
          <a:noFill/>
        </p:spPr>
        <p:txBody>
          <a:bodyPr wrap="square">
            <a:spAutoFit/>
          </a:bodyPr>
          <a:lstStyle/>
          <a:p>
            <a:pPr algn="l"/>
            <a:r>
              <a:rPr sz="900" b="0" i="0">
                <a:solidFill>
                  <a:srgbClr val="444455"/>
                </a:solidFill>
              </a:rPr>
              <a:t>• JPMorgan: 'How do humans trust agentic cascades?' — unresolved at $18B/yr spend</a:t>
            </a:r>
          </a:p>
        </p:txBody>
      </p:sp>
      <p:sp>
        <p:nvSpPr>
          <p:cNvPr id="24" name="Rectangle 23"/>
          <p:cNvSpPr/>
          <p:nvPr/>
        </p:nvSpPr>
        <p:spPr>
          <a:xfrm>
            <a:off x="8229600" y="1828800"/>
            <a:ext cx="3840480" cy="4480560"/>
          </a:xfrm>
          <a:prstGeom prst="rect">
            <a:avLst/>
          </a:prstGeom>
          <a:solidFill>
            <a:srgbClr val="FFFFFF"/>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1828800"/>
            <a:ext cx="384048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1874519"/>
            <a:ext cx="3657600" cy="320040"/>
          </a:xfrm>
          <a:prstGeom prst="rect">
            <a:avLst/>
          </a:prstGeom>
          <a:noFill/>
        </p:spPr>
        <p:txBody>
          <a:bodyPr wrap="square">
            <a:spAutoFit/>
          </a:bodyPr>
          <a:lstStyle/>
          <a:p>
            <a:pPr algn="l"/>
            <a:r>
              <a:rPr sz="1100" b="1" i="0">
                <a:solidFill>
                  <a:srgbClr val="FFFFFF"/>
                </a:solidFill>
              </a:rPr>
              <a:t>Cross-Industry / State Patchwork</a:t>
            </a:r>
          </a:p>
        </p:txBody>
      </p:sp>
      <p:sp>
        <p:nvSpPr>
          <p:cNvPr id="27" name="TextBox 26"/>
          <p:cNvSpPr txBox="1"/>
          <p:nvPr/>
        </p:nvSpPr>
        <p:spPr>
          <a:xfrm>
            <a:off x="8339327" y="2286000"/>
            <a:ext cx="3639312" cy="603504"/>
          </a:xfrm>
          <a:prstGeom prst="rect">
            <a:avLst/>
          </a:prstGeom>
          <a:noFill/>
        </p:spPr>
        <p:txBody>
          <a:bodyPr wrap="square">
            <a:spAutoFit/>
          </a:bodyPr>
          <a:lstStyle/>
          <a:p>
            <a:pPr algn="l"/>
            <a:r>
              <a:rPr sz="900" b="0" i="0">
                <a:solidFill>
                  <a:srgbClr val="444455"/>
                </a:solidFill>
              </a:rPr>
              <a:t>• 131 state AI laws in 2024 (up from 49 in 2023) — no federal standard</a:t>
            </a:r>
          </a:p>
        </p:txBody>
      </p:sp>
      <p:sp>
        <p:nvSpPr>
          <p:cNvPr id="28" name="TextBox 27"/>
          <p:cNvSpPr txBox="1"/>
          <p:nvPr/>
        </p:nvSpPr>
        <p:spPr>
          <a:xfrm>
            <a:off x="8339327" y="2926080"/>
            <a:ext cx="3639312" cy="603504"/>
          </a:xfrm>
          <a:prstGeom prst="rect">
            <a:avLst/>
          </a:prstGeom>
          <a:noFill/>
        </p:spPr>
        <p:txBody>
          <a:bodyPr wrap="square">
            <a:spAutoFit/>
          </a:bodyPr>
          <a:lstStyle/>
          <a:p>
            <a:pPr algn="l"/>
            <a:r>
              <a:rPr sz="900" b="0" i="0">
                <a:solidFill>
                  <a:srgbClr val="444455"/>
                </a:solidFill>
              </a:rPr>
              <a:t>• Companies operating across states face incompatible AI requirements</a:t>
            </a:r>
          </a:p>
        </p:txBody>
      </p:sp>
      <p:sp>
        <p:nvSpPr>
          <p:cNvPr id="29" name="TextBox 28"/>
          <p:cNvSpPr txBox="1"/>
          <p:nvPr/>
        </p:nvSpPr>
        <p:spPr>
          <a:xfrm>
            <a:off x="8339327" y="3566160"/>
            <a:ext cx="3639312" cy="603504"/>
          </a:xfrm>
          <a:prstGeom prst="rect">
            <a:avLst/>
          </a:prstGeom>
          <a:noFill/>
        </p:spPr>
        <p:txBody>
          <a:bodyPr wrap="square">
            <a:spAutoFit/>
          </a:bodyPr>
          <a:lstStyle/>
          <a:p>
            <a:pPr algn="l"/>
            <a:r>
              <a:rPr sz="900" b="0" i="0">
                <a:solidFill>
                  <a:srgbClr val="444455"/>
                </a:solidFill>
              </a:rPr>
              <a:t>• Privacy laws (CCPA, VCDPA, etc.) impose different AI data obligations</a:t>
            </a:r>
          </a:p>
        </p:txBody>
      </p:sp>
      <p:sp>
        <p:nvSpPr>
          <p:cNvPr id="30" name="TextBox 29"/>
          <p:cNvSpPr txBox="1"/>
          <p:nvPr/>
        </p:nvSpPr>
        <p:spPr>
          <a:xfrm>
            <a:off x="8339327" y="4206240"/>
            <a:ext cx="3639312" cy="603504"/>
          </a:xfrm>
          <a:prstGeom prst="rect">
            <a:avLst/>
          </a:prstGeom>
          <a:noFill/>
        </p:spPr>
        <p:txBody>
          <a:bodyPr wrap="square">
            <a:spAutoFit/>
          </a:bodyPr>
          <a:lstStyle/>
          <a:p>
            <a:pPr algn="l"/>
            <a:r>
              <a:rPr sz="900" b="0" i="0">
                <a:solidFill>
                  <a:srgbClr val="444455"/>
                </a:solidFill>
              </a:rPr>
              <a:t>• Automated decision laws vary: some require human review, others don't</a:t>
            </a:r>
          </a:p>
        </p:txBody>
      </p:sp>
      <p:sp>
        <p:nvSpPr>
          <p:cNvPr id="31" name="TextBox 30"/>
          <p:cNvSpPr txBox="1"/>
          <p:nvPr/>
        </p:nvSpPr>
        <p:spPr>
          <a:xfrm>
            <a:off x="8339327" y="4846320"/>
            <a:ext cx="3639312" cy="603504"/>
          </a:xfrm>
          <a:prstGeom prst="rect">
            <a:avLst/>
          </a:prstGeom>
          <a:noFill/>
        </p:spPr>
        <p:txBody>
          <a:bodyPr wrap="square">
            <a:spAutoFit/>
          </a:bodyPr>
          <a:lstStyle/>
          <a:p>
            <a:pPr algn="l"/>
            <a:r>
              <a:rPr sz="900" b="0" i="0">
                <a:solidFill>
                  <a:srgbClr val="444455"/>
                </a:solidFill>
              </a:rPr>
              <a:t>• Manufacturing: 34% YoY increase in AI-network cyberattacks</a:t>
            </a:r>
          </a:p>
        </p:txBody>
      </p:sp>
      <p:sp>
        <p:nvSpPr>
          <p:cNvPr id="32" name="TextBox 31"/>
          <p:cNvSpPr txBox="1"/>
          <p:nvPr/>
        </p:nvSpPr>
        <p:spPr>
          <a:xfrm>
            <a:off x="8339327" y="5486400"/>
            <a:ext cx="3639312" cy="603504"/>
          </a:xfrm>
          <a:prstGeom prst="rect">
            <a:avLst/>
          </a:prstGeom>
          <a:noFill/>
        </p:spPr>
        <p:txBody>
          <a:bodyPr wrap="square">
            <a:spAutoFit/>
          </a:bodyPr>
          <a:lstStyle/>
          <a:p>
            <a:pPr algn="l"/>
            <a:r>
              <a:rPr sz="900" b="0" i="0">
                <a:solidFill>
                  <a:srgbClr val="444455"/>
                </a:solidFill>
              </a:rPr>
              <a:t>• Government agencies: Pentagon demoted AI office from senior leadership</a:t>
            </a:r>
          </a:p>
        </p:txBody>
      </p:sp>
      <p:sp>
        <p:nvSpPr>
          <p:cNvPr id="33" name="TextBox 32"/>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Sources: HIPAA Journal · HHS OCR 2024 Annual Report · FINRA 2025 Oversight Report · FSOC Annual Report Dec 2024 · Stanford AI Index 2025 · SafePaaS SOX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Challenge 6 — AI Governance &amp; Ethics Gap</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Only 11% have fully implemented fundamental responsible AI capabilities  — Stanford AI Index 2025</a:t>
            </a:r>
          </a:p>
        </p:txBody>
      </p:sp>
      <p:sp>
        <p:nvSpPr>
          <p:cNvPr id="5" name="Rectangle 4"/>
          <p:cNvSpPr/>
          <p:nvPr/>
        </p:nvSpPr>
        <p:spPr>
          <a:xfrm>
            <a:off x="274320" y="1417320"/>
            <a:ext cx="2743200" cy="1691640"/>
          </a:xfrm>
          <a:prstGeom prst="rect">
            <a:avLst/>
          </a:prstGeom>
          <a:solidFill>
            <a:srgbClr val="FFEEE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90472"/>
            <a:ext cx="2560320" cy="502920"/>
          </a:xfrm>
          <a:prstGeom prst="rect">
            <a:avLst/>
          </a:prstGeom>
          <a:noFill/>
        </p:spPr>
        <p:txBody>
          <a:bodyPr wrap="square">
            <a:spAutoFit/>
          </a:bodyPr>
          <a:lstStyle/>
          <a:p>
            <a:pPr algn="ctr"/>
            <a:r>
              <a:rPr sz="2600" b="1" i="0">
                <a:solidFill>
                  <a:srgbClr val="C0392B"/>
                </a:solidFill>
              </a:rPr>
              <a:t>11%</a:t>
            </a:r>
          </a:p>
        </p:txBody>
      </p:sp>
      <p:sp>
        <p:nvSpPr>
          <p:cNvPr id="7" name="TextBox 6"/>
          <p:cNvSpPr txBox="1"/>
          <p:nvPr/>
        </p:nvSpPr>
        <p:spPr>
          <a:xfrm>
            <a:off x="320040" y="1965960"/>
            <a:ext cx="2651760" cy="320040"/>
          </a:xfrm>
          <a:prstGeom prst="rect">
            <a:avLst/>
          </a:prstGeom>
          <a:noFill/>
        </p:spPr>
        <p:txBody>
          <a:bodyPr wrap="square">
            <a:spAutoFit/>
          </a:bodyPr>
          <a:lstStyle/>
          <a:p>
            <a:pPr algn="ctr"/>
            <a:r>
              <a:rPr sz="1000" b="1" i="0">
                <a:solidFill>
                  <a:srgbClr val="0D1B3E"/>
                </a:solidFill>
              </a:rPr>
              <a:t>Fully Implemented
Responsible AI</a:t>
            </a:r>
          </a:p>
        </p:txBody>
      </p:sp>
      <p:sp>
        <p:nvSpPr>
          <p:cNvPr id="8" name="TextBox 7"/>
          <p:cNvSpPr txBox="1"/>
          <p:nvPr/>
        </p:nvSpPr>
        <p:spPr>
          <a:xfrm>
            <a:off x="320040" y="2276856"/>
            <a:ext cx="2651760" cy="274320"/>
          </a:xfrm>
          <a:prstGeom prst="rect">
            <a:avLst/>
          </a:prstGeom>
          <a:noFill/>
        </p:spPr>
        <p:txBody>
          <a:bodyPr wrap="square">
            <a:spAutoFit/>
          </a:bodyPr>
          <a:lstStyle/>
          <a:p>
            <a:pPr algn="ctr"/>
            <a:r>
              <a:rPr sz="850" b="0" i="0">
                <a:solidFill>
                  <a:srgbClr val="888899"/>
                </a:solidFill>
              </a:rPr>
              <a:t>Stanford AI Index 2025</a:t>
            </a:r>
          </a:p>
        </p:txBody>
      </p:sp>
      <p:sp>
        <p:nvSpPr>
          <p:cNvPr id="9" name="Rectangle 8"/>
          <p:cNvSpPr/>
          <p:nvPr/>
        </p:nvSpPr>
        <p:spPr>
          <a:xfrm>
            <a:off x="3182112" y="1417320"/>
            <a:ext cx="2743200" cy="1691640"/>
          </a:xfrm>
          <a:prstGeom prst="rect">
            <a:avLst/>
          </a:prstGeom>
          <a:solidFill>
            <a:srgbClr val="FFEEEE"/>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73552" y="1490472"/>
            <a:ext cx="2560320" cy="502920"/>
          </a:xfrm>
          <a:prstGeom prst="rect">
            <a:avLst/>
          </a:prstGeom>
          <a:noFill/>
        </p:spPr>
        <p:txBody>
          <a:bodyPr wrap="square">
            <a:spAutoFit/>
          </a:bodyPr>
          <a:lstStyle/>
          <a:p>
            <a:pPr algn="ctr"/>
            <a:r>
              <a:rPr sz="2600" b="1" i="0">
                <a:solidFill>
                  <a:srgbClr val="C0392B"/>
                </a:solidFill>
              </a:rPr>
              <a:t>34%</a:t>
            </a:r>
          </a:p>
        </p:txBody>
      </p:sp>
      <p:sp>
        <p:nvSpPr>
          <p:cNvPr id="11" name="TextBox 10"/>
          <p:cNvSpPr txBox="1"/>
          <p:nvPr/>
        </p:nvSpPr>
        <p:spPr>
          <a:xfrm>
            <a:off x="3227832" y="1965960"/>
            <a:ext cx="2651760" cy="320040"/>
          </a:xfrm>
          <a:prstGeom prst="rect">
            <a:avLst/>
          </a:prstGeom>
          <a:noFill/>
        </p:spPr>
        <p:txBody>
          <a:bodyPr wrap="square">
            <a:spAutoFit/>
          </a:bodyPr>
          <a:lstStyle/>
          <a:p>
            <a:pPr algn="ctr"/>
            <a:r>
              <a:rPr sz="1000" b="1" i="0">
                <a:solidFill>
                  <a:srgbClr val="0D1B3E"/>
                </a:solidFill>
              </a:rPr>
              <a:t>Incorporate AI
Governance at All</a:t>
            </a:r>
          </a:p>
        </p:txBody>
      </p:sp>
      <p:sp>
        <p:nvSpPr>
          <p:cNvPr id="12" name="TextBox 11"/>
          <p:cNvSpPr txBox="1"/>
          <p:nvPr/>
        </p:nvSpPr>
        <p:spPr>
          <a:xfrm>
            <a:off x="3227832" y="2276856"/>
            <a:ext cx="2651760" cy="274320"/>
          </a:xfrm>
          <a:prstGeom prst="rect">
            <a:avLst/>
          </a:prstGeom>
          <a:noFill/>
        </p:spPr>
        <p:txBody>
          <a:bodyPr wrap="square">
            <a:spAutoFit/>
          </a:bodyPr>
          <a:lstStyle/>
          <a:p>
            <a:pPr algn="ctr"/>
            <a:r>
              <a:rPr sz="850" b="0" i="0">
                <a:solidFill>
                  <a:srgbClr val="888899"/>
                </a:solidFill>
              </a:rPr>
              <a:t>EY Pulse Survey 2024</a:t>
            </a:r>
          </a:p>
        </p:txBody>
      </p:sp>
      <p:sp>
        <p:nvSpPr>
          <p:cNvPr id="13" name="Rectangle 12"/>
          <p:cNvSpPr/>
          <p:nvPr/>
        </p:nvSpPr>
        <p:spPr>
          <a:xfrm>
            <a:off x="6089904" y="1417320"/>
            <a:ext cx="2743200" cy="1691640"/>
          </a:xfrm>
          <a:prstGeom prst="rect">
            <a:avLst/>
          </a:prstGeom>
          <a:solidFill>
            <a:srgbClr val="FFF5E6"/>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1344" y="1490472"/>
            <a:ext cx="2560320" cy="502920"/>
          </a:xfrm>
          <a:prstGeom prst="rect">
            <a:avLst/>
          </a:prstGeom>
          <a:noFill/>
        </p:spPr>
        <p:txBody>
          <a:bodyPr wrap="square">
            <a:spAutoFit/>
          </a:bodyPr>
          <a:lstStyle/>
          <a:p>
            <a:pPr algn="ctr"/>
            <a:r>
              <a:rPr sz="2600" b="1" i="0">
                <a:solidFill>
                  <a:srgbClr val="E67E22"/>
                </a:solidFill>
              </a:rPr>
              <a:t>32%</a:t>
            </a:r>
          </a:p>
        </p:txBody>
      </p:sp>
      <p:sp>
        <p:nvSpPr>
          <p:cNvPr id="15" name="TextBox 14"/>
          <p:cNvSpPr txBox="1"/>
          <p:nvPr/>
        </p:nvSpPr>
        <p:spPr>
          <a:xfrm>
            <a:off x="6135624" y="1965960"/>
            <a:ext cx="2651760" cy="320040"/>
          </a:xfrm>
          <a:prstGeom prst="rect">
            <a:avLst/>
          </a:prstGeom>
          <a:noFill/>
        </p:spPr>
        <p:txBody>
          <a:bodyPr wrap="square">
            <a:spAutoFit/>
          </a:bodyPr>
          <a:lstStyle/>
          <a:p>
            <a:pPr algn="ctr"/>
            <a:r>
              <a:rPr sz="1000" b="1" i="0">
                <a:solidFill>
                  <a:srgbClr val="0D1B3E"/>
                </a:solidFill>
              </a:rPr>
              <a:t>Address Bias in
AI Models</a:t>
            </a:r>
          </a:p>
        </p:txBody>
      </p:sp>
      <p:sp>
        <p:nvSpPr>
          <p:cNvPr id="16" name="TextBox 15"/>
          <p:cNvSpPr txBox="1"/>
          <p:nvPr/>
        </p:nvSpPr>
        <p:spPr>
          <a:xfrm>
            <a:off x="6135624" y="2276856"/>
            <a:ext cx="2651760" cy="274320"/>
          </a:xfrm>
          <a:prstGeom prst="rect">
            <a:avLst/>
          </a:prstGeom>
          <a:noFill/>
        </p:spPr>
        <p:txBody>
          <a:bodyPr wrap="square">
            <a:spAutoFit/>
          </a:bodyPr>
          <a:lstStyle/>
          <a:p>
            <a:pPr algn="ctr"/>
            <a:r>
              <a:rPr sz="850" b="0" i="0">
                <a:solidFill>
                  <a:srgbClr val="888899"/>
                </a:solidFill>
              </a:rPr>
              <a:t>EY Pulse Survey 2024</a:t>
            </a:r>
          </a:p>
        </p:txBody>
      </p:sp>
      <p:sp>
        <p:nvSpPr>
          <p:cNvPr id="17" name="Rectangle 16"/>
          <p:cNvSpPr/>
          <p:nvPr/>
        </p:nvSpPr>
        <p:spPr>
          <a:xfrm>
            <a:off x="8997696" y="1417320"/>
            <a:ext cx="2743200" cy="1691640"/>
          </a:xfrm>
          <a:prstGeom prst="rect">
            <a:avLst/>
          </a:prstGeom>
          <a:solidFill>
            <a:srgbClr val="FFF5E6"/>
          </a:solidFill>
          <a:ln w="1270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89136" y="1490472"/>
            <a:ext cx="2560320" cy="502920"/>
          </a:xfrm>
          <a:prstGeom prst="rect">
            <a:avLst/>
          </a:prstGeom>
          <a:noFill/>
        </p:spPr>
        <p:txBody>
          <a:bodyPr wrap="square">
            <a:spAutoFit/>
          </a:bodyPr>
          <a:lstStyle/>
          <a:p>
            <a:pPr algn="ctr"/>
            <a:r>
              <a:rPr sz="2600" b="1" i="0">
                <a:solidFill>
                  <a:srgbClr val="E67E22"/>
                </a:solidFill>
              </a:rPr>
              <a:t>20%</a:t>
            </a:r>
          </a:p>
        </p:txBody>
      </p:sp>
      <p:sp>
        <p:nvSpPr>
          <p:cNvPr id="19" name="TextBox 18"/>
          <p:cNvSpPr txBox="1"/>
          <p:nvPr/>
        </p:nvSpPr>
        <p:spPr>
          <a:xfrm>
            <a:off x="9043416" y="1965960"/>
            <a:ext cx="2651760" cy="320040"/>
          </a:xfrm>
          <a:prstGeom prst="rect">
            <a:avLst/>
          </a:prstGeom>
          <a:noFill/>
        </p:spPr>
        <p:txBody>
          <a:bodyPr wrap="square">
            <a:spAutoFit/>
          </a:bodyPr>
          <a:lstStyle/>
          <a:p>
            <a:pPr algn="ctr"/>
            <a:r>
              <a:rPr sz="1000" b="1" i="0">
                <a:solidFill>
                  <a:srgbClr val="0D1B3E"/>
                </a:solidFill>
              </a:rPr>
              <a:t>Mature Governance
for Agentic AI</a:t>
            </a:r>
          </a:p>
        </p:txBody>
      </p:sp>
      <p:sp>
        <p:nvSpPr>
          <p:cNvPr id="20" name="TextBox 19"/>
          <p:cNvSpPr txBox="1"/>
          <p:nvPr/>
        </p:nvSpPr>
        <p:spPr>
          <a:xfrm>
            <a:off x="9043416" y="2276856"/>
            <a:ext cx="2651760" cy="274320"/>
          </a:xfrm>
          <a:prstGeom prst="rect">
            <a:avLst/>
          </a:prstGeom>
          <a:noFill/>
        </p:spPr>
        <p:txBody>
          <a:bodyPr wrap="square">
            <a:spAutoFit/>
          </a:bodyPr>
          <a:lstStyle/>
          <a:p>
            <a:pPr algn="ctr"/>
            <a:r>
              <a:rPr sz="850" b="0" i="0">
                <a:solidFill>
                  <a:srgbClr val="888899"/>
                </a:solidFill>
              </a:rPr>
              <a:t>Deloitte 2026</a:t>
            </a:r>
          </a:p>
        </p:txBody>
      </p:sp>
      <p:sp>
        <p:nvSpPr>
          <p:cNvPr id="21" name="TextBox 20"/>
          <p:cNvSpPr txBox="1"/>
          <p:nvPr/>
        </p:nvSpPr>
        <p:spPr>
          <a:xfrm>
            <a:off x="274320" y="3246120"/>
            <a:ext cx="11612880" cy="347472"/>
          </a:xfrm>
          <a:prstGeom prst="rect">
            <a:avLst/>
          </a:prstGeom>
          <a:noFill/>
        </p:spPr>
        <p:txBody>
          <a:bodyPr wrap="square">
            <a:spAutoFit/>
          </a:bodyPr>
          <a:lstStyle/>
          <a:p>
            <a:pPr algn="l"/>
            <a:r>
              <a:rPr sz="1100" b="1" i="0">
                <a:solidFill>
                  <a:srgbClr val="0D1B3E"/>
                </a:solidFill>
              </a:rPr>
              <a:t>FOUR DIMENSIONS OF GOVERNANCE FAILURE</a:t>
            </a:r>
          </a:p>
        </p:txBody>
      </p:sp>
      <p:sp>
        <p:nvSpPr>
          <p:cNvPr id="22" name="Rectangle 21"/>
          <p:cNvSpPr/>
          <p:nvPr/>
        </p:nvSpPr>
        <p:spPr>
          <a:xfrm>
            <a:off x="274320" y="3657600"/>
            <a:ext cx="2880360" cy="283464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657600"/>
            <a:ext cx="288036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703320"/>
            <a:ext cx="2743200" cy="320040"/>
          </a:xfrm>
          <a:prstGeom prst="rect">
            <a:avLst/>
          </a:prstGeom>
          <a:noFill/>
        </p:spPr>
        <p:txBody>
          <a:bodyPr wrap="square">
            <a:spAutoFit/>
          </a:bodyPr>
          <a:lstStyle/>
          <a:p>
            <a:pPr algn="l"/>
            <a:r>
              <a:rPr sz="1050" b="1" i="0">
                <a:solidFill>
                  <a:srgbClr val="FFFFFF"/>
                </a:solidFill>
              </a:rPr>
              <a:t>Bias &amp; Fairness</a:t>
            </a:r>
          </a:p>
        </p:txBody>
      </p:sp>
      <p:sp>
        <p:nvSpPr>
          <p:cNvPr id="25" name="TextBox 24"/>
          <p:cNvSpPr txBox="1"/>
          <p:nvPr/>
        </p:nvSpPr>
        <p:spPr>
          <a:xfrm>
            <a:off x="365760" y="4114800"/>
            <a:ext cx="2697480" cy="2286000"/>
          </a:xfrm>
          <a:prstGeom prst="rect">
            <a:avLst/>
          </a:prstGeom>
          <a:noFill/>
        </p:spPr>
        <p:txBody>
          <a:bodyPr wrap="square">
            <a:spAutoFit/>
          </a:bodyPr>
          <a:lstStyle/>
          <a:p>
            <a:pPr algn="l"/>
            <a:r>
              <a:rPr sz="900" b="0" i="0">
                <a:solidFill>
                  <a:srgbClr val="444455"/>
                </a:solidFill>
              </a:rPr>
              <a:t>AI models trained on historical data inherit and amplify existing biases. Credit AI disproportionately denies loans to minority applicants. Hiring AI penalizes non-traditional career paths. Only 32% of companies actively test for model bias.</a:t>
            </a:r>
          </a:p>
        </p:txBody>
      </p:sp>
      <p:sp>
        <p:nvSpPr>
          <p:cNvPr id="26" name="Rectangle 25"/>
          <p:cNvSpPr/>
          <p:nvPr/>
        </p:nvSpPr>
        <p:spPr>
          <a:xfrm>
            <a:off x="3255263" y="3657600"/>
            <a:ext cx="2880360" cy="2834640"/>
          </a:xfrm>
          <a:prstGeom prst="rect">
            <a:avLst/>
          </a:prstGeom>
          <a:solidFill>
            <a:srgbClr val="FFFFFF"/>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55263" y="3657600"/>
            <a:ext cx="2880360" cy="38404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46703" y="3703320"/>
            <a:ext cx="2743200" cy="320040"/>
          </a:xfrm>
          <a:prstGeom prst="rect">
            <a:avLst/>
          </a:prstGeom>
          <a:noFill/>
        </p:spPr>
        <p:txBody>
          <a:bodyPr wrap="square">
            <a:spAutoFit/>
          </a:bodyPr>
          <a:lstStyle/>
          <a:p>
            <a:pPr algn="l"/>
            <a:r>
              <a:rPr sz="1050" b="1" i="0">
                <a:solidFill>
                  <a:srgbClr val="FFFFFF"/>
                </a:solidFill>
              </a:rPr>
              <a:t>Explainability Deficit</a:t>
            </a:r>
          </a:p>
        </p:txBody>
      </p:sp>
      <p:sp>
        <p:nvSpPr>
          <p:cNvPr id="29" name="TextBox 28"/>
          <p:cNvSpPr txBox="1"/>
          <p:nvPr/>
        </p:nvSpPr>
        <p:spPr>
          <a:xfrm>
            <a:off x="3346703" y="4114800"/>
            <a:ext cx="2697480" cy="2286000"/>
          </a:xfrm>
          <a:prstGeom prst="rect">
            <a:avLst/>
          </a:prstGeom>
          <a:noFill/>
        </p:spPr>
        <p:txBody>
          <a:bodyPr wrap="square">
            <a:spAutoFit/>
          </a:bodyPr>
          <a:lstStyle/>
          <a:p>
            <a:pPr algn="l"/>
            <a:r>
              <a:rPr sz="900" b="0" i="0">
                <a:solidFill>
                  <a:srgbClr val="444455"/>
                </a:solidFill>
              </a:rPr>
              <a:t>Large language models are fundamentally opaque. Regulators in finance and healthcare demand explainable decisions, but AI systems cannot provide causal explanations. 'Why did the model say no?' remains unanswerable in most deployments.</a:t>
            </a:r>
          </a:p>
        </p:txBody>
      </p:sp>
      <p:sp>
        <p:nvSpPr>
          <p:cNvPr id="30" name="Rectangle 29"/>
          <p:cNvSpPr/>
          <p:nvPr/>
        </p:nvSpPr>
        <p:spPr>
          <a:xfrm>
            <a:off x="6236207" y="3657600"/>
            <a:ext cx="2880360" cy="2834640"/>
          </a:xfrm>
          <a:prstGeom prst="rect">
            <a:avLst/>
          </a:prstGeom>
          <a:solidFill>
            <a:srgbClr val="FFFFFF"/>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36207" y="3657600"/>
            <a:ext cx="288036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27647" y="3703320"/>
            <a:ext cx="2743200" cy="320040"/>
          </a:xfrm>
          <a:prstGeom prst="rect">
            <a:avLst/>
          </a:prstGeom>
          <a:noFill/>
        </p:spPr>
        <p:txBody>
          <a:bodyPr wrap="square">
            <a:spAutoFit/>
          </a:bodyPr>
          <a:lstStyle/>
          <a:p>
            <a:pPr algn="l"/>
            <a:r>
              <a:rPr sz="1050" b="1" i="0">
                <a:solidFill>
                  <a:srgbClr val="FFFFFF"/>
                </a:solidFill>
              </a:rPr>
              <a:t>Hallucination at Enterprise Scale</a:t>
            </a:r>
          </a:p>
        </p:txBody>
      </p:sp>
      <p:sp>
        <p:nvSpPr>
          <p:cNvPr id="33" name="TextBox 32"/>
          <p:cNvSpPr txBox="1"/>
          <p:nvPr/>
        </p:nvSpPr>
        <p:spPr>
          <a:xfrm>
            <a:off x="6327647" y="4114800"/>
            <a:ext cx="2697480" cy="2286000"/>
          </a:xfrm>
          <a:prstGeom prst="rect">
            <a:avLst/>
          </a:prstGeom>
          <a:noFill/>
        </p:spPr>
        <p:txBody>
          <a:bodyPr wrap="square">
            <a:spAutoFit/>
          </a:bodyPr>
          <a:lstStyle/>
          <a:p>
            <a:pPr algn="l"/>
            <a:r>
              <a:rPr sz="900" b="0" i="0">
                <a:solidFill>
                  <a:srgbClr val="444455"/>
                </a:solidFill>
              </a:rPr>
              <a:t>AI systems confidently generate false information. In legal/medical/financial contexts, this is not an inconvenience but a liability. AI search tools average 60% citation error rate. Microsoft Azure adds 18–25% cost overhead for hallucination detection alone.</a:t>
            </a:r>
          </a:p>
        </p:txBody>
      </p:sp>
      <p:sp>
        <p:nvSpPr>
          <p:cNvPr id="34" name="Rectangle 33"/>
          <p:cNvSpPr/>
          <p:nvPr/>
        </p:nvSpPr>
        <p:spPr>
          <a:xfrm>
            <a:off x="9217151" y="3657600"/>
            <a:ext cx="2880360" cy="2834640"/>
          </a:xfrm>
          <a:prstGeom prst="rect">
            <a:avLst/>
          </a:prstGeom>
          <a:solidFill>
            <a:srgbClr val="FFFFFF"/>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17151" y="3657600"/>
            <a:ext cx="2880360" cy="3840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08591" y="3703320"/>
            <a:ext cx="2743200" cy="320040"/>
          </a:xfrm>
          <a:prstGeom prst="rect">
            <a:avLst/>
          </a:prstGeom>
          <a:noFill/>
        </p:spPr>
        <p:txBody>
          <a:bodyPr wrap="square">
            <a:spAutoFit/>
          </a:bodyPr>
          <a:lstStyle/>
          <a:p>
            <a:pPr algn="l"/>
            <a:r>
              <a:rPr sz="1050" b="1" i="0">
                <a:solidFill>
                  <a:srgbClr val="FFFFFF"/>
                </a:solidFill>
              </a:rPr>
              <a:t>Accountability Vacuum</a:t>
            </a:r>
          </a:p>
        </p:txBody>
      </p:sp>
      <p:sp>
        <p:nvSpPr>
          <p:cNvPr id="37" name="TextBox 36"/>
          <p:cNvSpPr txBox="1"/>
          <p:nvPr/>
        </p:nvSpPr>
        <p:spPr>
          <a:xfrm>
            <a:off x="9308591" y="4114800"/>
            <a:ext cx="2697480" cy="2286000"/>
          </a:xfrm>
          <a:prstGeom prst="rect">
            <a:avLst/>
          </a:prstGeom>
          <a:noFill/>
        </p:spPr>
        <p:txBody>
          <a:bodyPr wrap="square">
            <a:spAutoFit/>
          </a:bodyPr>
          <a:lstStyle/>
          <a:p>
            <a:pPr algn="l"/>
            <a:r>
              <a:rPr sz="900" b="0" i="0">
                <a:solidFill>
                  <a:srgbClr val="444455"/>
                </a:solidFill>
              </a:rPr>
              <a:t>When multi-agent systems fail, no one knows who is responsible: vendor, integrator, or enterprise? PwC: nearly half say turning responsible AI principles into operational processes is a significant challenge. Governance exists on paper, not in practice.</a:t>
            </a:r>
          </a:p>
        </p:txBody>
      </p:sp>
      <p:sp>
        <p:nvSpPr>
          <p:cNvPr id="38" name="TextBox 37"/>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Sources: Stanford AI Index 2025 · EY Pulse Survey 2024 · PwC Responsible AI Survey 2025 · Deloitte State of AI 2026 · Gartner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Challenge 7 — The Prototype-to-Production Gap</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Fewer than 1 in 3 AI experiments move into production  — Multiple sources 2025</a:t>
            </a:r>
          </a:p>
        </p:txBody>
      </p:sp>
      <p:sp>
        <p:nvSpPr>
          <p:cNvPr id="5" name="TextBox 4"/>
          <p:cNvSpPr txBox="1"/>
          <p:nvPr/>
        </p:nvSpPr>
        <p:spPr>
          <a:xfrm>
            <a:off x="274320" y="1417320"/>
            <a:ext cx="6858000" cy="365760"/>
          </a:xfrm>
          <a:prstGeom prst="rect">
            <a:avLst/>
          </a:prstGeom>
          <a:noFill/>
        </p:spPr>
        <p:txBody>
          <a:bodyPr wrap="square">
            <a:spAutoFit/>
          </a:bodyPr>
          <a:lstStyle/>
          <a:p>
            <a:pPr algn="l"/>
            <a:r>
              <a:rPr sz="1100" b="1" i="0">
                <a:solidFill>
                  <a:srgbClr val="0D1B3E"/>
                </a:solidFill>
              </a:rPr>
              <a:t>THE AI DEPLOYMENT FUNNEL  (MIT NANDA, 2025)</a:t>
            </a:r>
          </a:p>
        </p:txBody>
      </p:sp>
      <p:sp>
        <p:nvSpPr>
          <p:cNvPr id="6" name="Rectangle 5"/>
          <p:cNvSpPr/>
          <p:nvPr/>
        </p:nvSpPr>
        <p:spPr>
          <a:xfrm>
            <a:off x="274320" y="1874519"/>
            <a:ext cx="9601200" cy="502920"/>
          </a:xfrm>
          <a:prstGeom prst="rect">
            <a:avLst/>
          </a:prstGeom>
          <a:solidFill>
            <a:srgbClr val="E8F0FE"/>
          </a:solidFill>
          <a:ln w="1905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65960"/>
            <a:ext cx="9326880" cy="320040"/>
          </a:xfrm>
          <a:prstGeom prst="rect">
            <a:avLst/>
          </a:prstGeom>
          <a:noFill/>
        </p:spPr>
        <p:txBody>
          <a:bodyPr wrap="square">
            <a:spAutoFit/>
          </a:bodyPr>
          <a:lstStyle/>
          <a:p>
            <a:pPr algn="l"/>
            <a:r>
              <a:rPr sz="950" b="1" i="0">
                <a:solidFill>
                  <a:srgbClr val="1A56CC"/>
                </a:solidFill>
              </a:rPr>
              <a:t>Organizations evaluating enterprise-grade AI tools</a:t>
            </a:r>
          </a:p>
        </p:txBody>
      </p:sp>
      <p:sp>
        <p:nvSpPr>
          <p:cNvPr id="8" name="TextBox 7"/>
          <p:cNvSpPr txBox="1"/>
          <p:nvPr/>
        </p:nvSpPr>
        <p:spPr>
          <a:xfrm>
            <a:off x="9966960" y="1965960"/>
            <a:ext cx="914400" cy="320040"/>
          </a:xfrm>
          <a:prstGeom prst="rect">
            <a:avLst/>
          </a:prstGeom>
          <a:noFill/>
        </p:spPr>
        <p:txBody>
          <a:bodyPr wrap="square">
            <a:spAutoFit/>
          </a:bodyPr>
          <a:lstStyle/>
          <a:p>
            <a:pPr algn="l"/>
            <a:r>
              <a:rPr sz="1800" b="1" i="0">
                <a:solidFill>
                  <a:srgbClr val="1A56CC"/>
                </a:solidFill>
              </a:rPr>
              <a:t>60%</a:t>
            </a:r>
          </a:p>
        </p:txBody>
      </p:sp>
      <p:sp>
        <p:nvSpPr>
          <p:cNvPr id="9" name="Rectangle 8"/>
          <p:cNvSpPr/>
          <p:nvPr/>
        </p:nvSpPr>
        <p:spPr>
          <a:xfrm>
            <a:off x="274320" y="2532887"/>
            <a:ext cx="6400800" cy="502920"/>
          </a:xfrm>
          <a:prstGeom prst="rect">
            <a:avLst/>
          </a:prstGeom>
          <a:solidFill>
            <a:srgbClr val="FFF0D8"/>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24327"/>
            <a:ext cx="6126480" cy="320040"/>
          </a:xfrm>
          <a:prstGeom prst="rect">
            <a:avLst/>
          </a:prstGeom>
          <a:noFill/>
        </p:spPr>
        <p:txBody>
          <a:bodyPr wrap="square">
            <a:spAutoFit/>
          </a:bodyPr>
          <a:lstStyle/>
          <a:p>
            <a:pPr algn="l"/>
            <a:r>
              <a:rPr sz="950" b="1" i="0">
                <a:solidFill>
                  <a:srgbClr val="E67E22"/>
                </a:solidFill>
              </a:rPr>
              <a:t>Organizations reaching pilot stage</a:t>
            </a:r>
          </a:p>
        </p:txBody>
      </p:sp>
      <p:sp>
        <p:nvSpPr>
          <p:cNvPr id="11" name="TextBox 10"/>
          <p:cNvSpPr txBox="1"/>
          <p:nvPr/>
        </p:nvSpPr>
        <p:spPr>
          <a:xfrm>
            <a:off x="6766560" y="2624327"/>
            <a:ext cx="914400" cy="320040"/>
          </a:xfrm>
          <a:prstGeom prst="rect">
            <a:avLst/>
          </a:prstGeom>
          <a:noFill/>
        </p:spPr>
        <p:txBody>
          <a:bodyPr wrap="square">
            <a:spAutoFit/>
          </a:bodyPr>
          <a:lstStyle/>
          <a:p>
            <a:pPr algn="l"/>
            <a:r>
              <a:rPr sz="1800" b="1" i="0">
                <a:solidFill>
                  <a:srgbClr val="E67E22"/>
                </a:solidFill>
              </a:rPr>
              <a:t>20%</a:t>
            </a:r>
          </a:p>
        </p:txBody>
      </p:sp>
      <p:sp>
        <p:nvSpPr>
          <p:cNvPr id="12" name="Rectangle 11"/>
          <p:cNvSpPr/>
          <p:nvPr/>
        </p:nvSpPr>
        <p:spPr>
          <a:xfrm>
            <a:off x="274320" y="3191255"/>
            <a:ext cx="4114800" cy="502920"/>
          </a:xfrm>
          <a:prstGeom prst="rect">
            <a:avLst/>
          </a:prstGeom>
          <a:solidFill>
            <a:srgbClr val="FFE8E5"/>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82695"/>
            <a:ext cx="3840480" cy="320040"/>
          </a:xfrm>
          <a:prstGeom prst="rect">
            <a:avLst/>
          </a:prstGeom>
          <a:noFill/>
        </p:spPr>
        <p:txBody>
          <a:bodyPr wrap="square">
            <a:spAutoFit/>
          </a:bodyPr>
          <a:lstStyle/>
          <a:p>
            <a:pPr algn="l"/>
            <a:r>
              <a:rPr sz="950" b="1" i="0">
                <a:solidFill>
                  <a:srgbClr val="C0392B"/>
                </a:solidFill>
              </a:rPr>
              <a:t>Organizations with production deployment</a:t>
            </a:r>
          </a:p>
        </p:txBody>
      </p:sp>
      <p:sp>
        <p:nvSpPr>
          <p:cNvPr id="14" name="TextBox 13"/>
          <p:cNvSpPr txBox="1"/>
          <p:nvPr/>
        </p:nvSpPr>
        <p:spPr>
          <a:xfrm>
            <a:off x="4480560" y="3282695"/>
            <a:ext cx="914400" cy="320040"/>
          </a:xfrm>
          <a:prstGeom prst="rect">
            <a:avLst/>
          </a:prstGeom>
          <a:noFill/>
        </p:spPr>
        <p:txBody>
          <a:bodyPr wrap="square">
            <a:spAutoFit/>
          </a:bodyPr>
          <a:lstStyle/>
          <a:p>
            <a:pPr algn="l"/>
            <a:r>
              <a:rPr sz="1800" b="1" i="0">
                <a:solidFill>
                  <a:srgbClr val="C0392B"/>
                </a:solidFill>
              </a:rPr>
              <a:t>10%</a:t>
            </a:r>
          </a:p>
        </p:txBody>
      </p:sp>
      <p:sp>
        <p:nvSpPr>
          <p:cNvPr id="15" name="Rectangle 14"/>
          <p:cNvSpPr/>
          <p:nvPr/>
        </p:nvSpPr>
        <p:spPr>
          <a:xfrm>
            <a:off x="274320" y="3849623"/>
            <a:ext cx="2286000" cy="502920"/>
          </a:xfrm>
          <a:prstGeom prst="rect">
            <a:avLst/>
          </a:prstGeom>
          <a:solidFill>
            <a:srgbClr val="FFDDDD"/>
          </a:solidFill>
          <a:ln w="1905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941063"/>
            <a:ext cx="2011680" cy="320040"/>
          </a:xfrm>
          <a:prstGeom prst="rect">
            <a:avLst/>
          </a:prstGeom>
          <a:noFill/>
        </p:spPr>
        <p:txBody>
          <a:bodyPr wrap="square">
            <a:spAutoFit/>
          </a:bodyPr>
          <a:lstStyle/>
          <a:p>
            <a:pPr algn="l"/>
            <a:r>
              <a:rPr sz="950" b="1" i="0">
                <a:solidFill>
                  <a:srgbClr val="8B0000"/>
                </a:solidFill>
              </a:rPr>
              <a:t>Organizations with measurable operational/financial impact</a:t>
            </a:r>
          </a:p>
        </p:txBody>
      </p:sp>
      <p:sp>
        <p:nvSpPr>
          <p:cNvPr id="17" name="TextBox 16"/>
          <p:cNvSpPr txBox="1"/>
          <p:nvPr/>
        </p:nvSpPr>
        <p:spPr>
          <a:xfrm>
            <a:off x="2651760" y="3941063"/>
            <a:ext cx="914400" cy="320040"/>
          </a:xfrm>
          <a:prstGeom prst="rect">
            <a:avLst/>
          </a:prstGeom>
          <a:noFill/>
        </p:spPr>
        <p:txBody>
          <a:bodyPr wrap="square">
            <a:spAutoFit/>
          </a:bodyPr>
          <a:lstStyle/>
          <a:p>
            <a:pPr algn="l"/>
            <a:r>
              <a:rPr sz="1800" b="1" i="0">
                <a:solidFill>
                  <a:srgbClr val="8B0000"/>
                </a:solidFill>
              </a:rPr>
              <a:t>5%</a:t>
            </a:r>
          </a:p>
        </p:txBody>
      </p:sp>
      <p:sp>
        <p:nvSpPr>
          <p:cNvPr id="18" name="TextBox 17"/>
          <p:cNvSpPr txBox="1"/>
          <p:nvPr/>
        </p:nvSpPr>
        <p:spPr>
          <a:xfrm>
            <a:off x="7498079" y="1417320"/>
            <a:ext cx="4389120" cy="365760"/>
          </a:xfrm>
          <a:prstGeom prst="rect">
            <a:avLst/>
          </a:prstGeom>
          <a:noFill/>
        </p:spPr>
        <p:txBody>
          <a:bodyPr wrap="square">
            <a:spAutoFit/>
          </a:bodyPr>
          <a:lstStyle/>
          <a:p>
            <a:pPr algn="l"/>
            <a:r>
              <a:rPr sz="1100" b="1" i="0">
                <a:solidFill>
                  <a:srgbClr val="C0392B"/>
                </a:solidFill>
              </a:rPr>
              <a:t>WHY SCALING FAILS</a:t>
            </a:r>
          </a:p>
        </p:txBody>
      </p:sp>
      <p:sp>
        <p:nvSpPr>
          <p:cNvPr id="19" name="Rectangle 18"/>
          <p:cNvSpPr/>
          <p:nvPr/>
        </p:nvSpPr>
        <p:spPr>
          <a:xfrm>
            <a:off x="7498079" y="1828800"/>
            <a:ext cx="4389120" cy="68580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1874519"/>
            <a:ext cx="1188720" cy="274320"/>
          </a:xfrm>
          <a:prstGeom prst="rect">
            <a:avLst/>
          </a:prstGeom>
          <a:noFill/>
        </p:spPr>
        <p:txBody>
          <a:bodyPr wrap="square">
            <a:spAutoFit/>
          </a:bodyPr>
          <a:lstStyle/>
          <a:p>
            <a:pPr algn="l"/>
            <a:r>
              <a:rPr sz="900" b="1" i="0">
                <a:solidFill>
                  <a:srgbClr val="C0392B"/>
                </a:solidFill>
              </a:rPr>
              <a:t>Learning Gap</a:t>
            </a:r>
          </a:p>
        </p:txBody>
      </p:sp>
      <p:sp>
        <p:nvSpPr>
          <p:cNvPr id="21" name="TextBox 20"/>
          <p:cNvSpPr txBox="1"/>
          <p:nvPr/>
        </p:nvSpPr>
        <p:spPr>
          <a:xfrm>
            <a:off x="8869680" y="1865376"/>
            <a:ext cx="2926080" cy="594360"/>
          </a:xfrm>
          <a:prstGeom prst="rect">
            <a:avLst/>
          </a:prstGeom>
          <a:noFill/>
        </p:spPr>
        <p:txBody>
          <a:bodyPr wrap="square">
            <a:spAutoFit/>
          </a:bodyPr>
          <a:lstStyle/>
          <a:p>
            <a:pPr algn="l"/>
            <a:r>
              <a:rPr sz="850" b="0" i="0">
                <a:solidFill>
                  <a:srgbClr val="444455"/>
                </a:solidFill>
              </a:rPr>
              <a:t>AI systems don't retain feedback or adapt over time in enterprise deployments</a:t>
            </a:r>
          </a:p>
        </p:txBody>
      </p:sp>
      <p:sp>
        <p:nvSpPr>
          <p:cNvPr id="22" name="Rectangle 21"/>
          <p:cNvSpPr/>
          <p:nvPr/>
        </p:nvSpPr>
        <p:spPr>
          <a:xfrm>
            <a:off x="7498079" y="2578608"/>
            <a:ext cx="4389120" cy="68580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35240" y="2624327"/>
            <a:ext cx="1188720" cy="274320"/>
          </a:xfrm>
          <a:prstGeom prst="rect">
            <a:avLst/>
          </a:prstGeom>
          <a:noFill/>
        </p:spPr>
        <p:txBody>
          <a:bodyPr wrap="square">
            <a:spAutoFit/>
          </a:bodyPr>
          <a:lstStyle/>
          <a:p>
            <a:pPr algn="l"/>
            <a:r>
              <a:rPr sz="900" b="1" i="0">
                <a:solidFill>
                  <a:srgbClr val="C0392B"/>
                </a:solidFill>
              </a:rPr>
              <a:t>Build vs. Buy</a:t>
            </a:r>
          </a:p>
        </p:txBody>
      </p:sp>
      <p:sp>
        <p:nvSpPr>
          <p:cNvPr id="24" name="TextBox 23"/>
          <p:cNvSpPr txBox="1"/>
          <p:nvPr/>
        </p:nvSpPr>
        <p:spPr>
          <a:xfrm>
            <a:off x="8869680" y="2615184"/>
            <a:ext cx="2926080" cy="594360"/>
          </a:xfrm>
          <a:prstGeom prst="rect">
            <a:avLst/>
          </a:prstGeom>
          <a:noFill/>
        </p:spPr>
        <p:txBody>
          <a:bodyPr wrap="square">
            <a:spAutoFit/>
          </a:bodyPr>
          <a:lstStyle/>
          <a:p>
            <a:pPr algn="l"/>
            <a:r>
              <a:rPr sz="850" b="0" i="0">
                <a:solidFill>
                  <a:srgbClr val="444455"/>
                </a:solidFill>
              </a:rPr>
              <a:t>Internal builds succeed ⅓ as often as vendor solutions (MIT NANDA)</a:t>
            </a:r>
          </a:p>
        </p:txBody>
      </p:sp>
      <p:sp>
        <p:nvSpPr>
          <p:cNvPr id="25" name="Rectangle 24"/>
          <p:cNvSpPr/>
          <p:nvPr/>
        </p:nvSpPr>
        <p:spPr>
          <a:xfrm>
            <a:off x="7498079" y="3328415"/>
            <a:ext cx="4389120" cy="68580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3374135"/>
            <a:ext cx="1188720" cy="274320"/>
          </a:xfrm>
          <a:prstGeom prst="rect">
            <a:avLst/>
          </a:prstGeom>
          <a:noFill/>
        </p:spPr>
        <p:txBody>
          <a:bodyPr wrap="square">
            <a:spAutoFit/>
          </a:bodyPr>
          <a:lstStyle/>
          <a:p>
            <a:pPr algn="l"/>
            <a:r>
              <a:rPr sz="900" b="1" i="0">
                <a:solidFill>
                  <a:srgbClr val="C0392B"/>
                </a:solidFill>
              </a:rPr>
              <a:t>Org Resistance</a:t>
            </a:r>
          </a:p>
        </p:txBody>
      </p:sp>
      <p:sp>
        <p:nvSpPr>
          <p:cNvPr id="27" name="TextBox 26"/>
          <p:cNvSpPr txBox="1"/>
          <p:nvPr/>
        </p:nvSpPr>
        <p:spPr>
          <a:xfrm>
            <a:off x="8869680" y="3364991"/>
            <a:ext cx="2926080" cy="594360"/>
          </a:xfrm>
          <a:prstGeom prst="rect">
            <a:avLst/>
          </a:prstGeom>
          <a:noFill/>
        </p:spPr>
        <p:txBody>
          <a:bodyPr wrap="square">
            <a:spAutoFit/>
          </a:bodyPr>
          <a:lstStyle/>
          <a:p>
            <a:pPr algn="l"/>
            <a:r>
              <a:rPr sz="850" b="0" i="0">
                <a:solidFill>
                  <a:srgbClr val="444455"/>
                </a:solidFill>
              </a:rPr>
              <a:t>60% cite legacy integration; process redesign requires cross-dept consensus</a:t>
            </a:r>
          </a:p>
        </p:txBody>
      </p:sp>
      <p:sp>
        <p:nvSpPr>
          <p:cNvPr id="28" name="Rectangle 27"/>
          <p:cNvSpPr/>
          <p:nvPr/>
        </p:nvSpPr>
        <p:spPr>
          <a:xfrm>
            <a:off x="7498079" y="4078224"/>
            <a:ext cx="4389120" cy="68580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35240" y="4123944"/>
            <a:ext cx="1188720" cy="274320"/>
          </a:xfrm>
          <a:prstGeom prst="rect">
            <a:avLst/>
          </a:prstGeom>
          <a:noFill/>
        </p:spPr>
        <p:txBody>
          <a:bodyPr wrap="square">
            <a:spAutoFit/>
          </a:bodyPr>
          <a:lstStyle/>
          <a:p>
            <a:pPr algn="l"/>
            <a:r>
              <a:rPr sz="900" b="1" i="0">
                <a:solidFill>
                  <a:srgbClr val="C0392B"/>
                </a:solidFill>
              </a:rPr>
              <a:t>Measurement</a:t>
            </a:r>
          </a:p>
        </p:txBody>
      </p:sp>
      <p:sp>
        <p:nvSpPr>
          <p:cNvPr id="30" name="TextBox 29"/>
          <p:cNvSpPr txBox="1"/>
          <p:nvPr/>
        </p:nvSpPr>
        <p:spPr>
          <a:xfrm>
            <a:off x="8869680" y="4114800"/>
            <a:ext cx="2926080" cy="594360"/>
          </a:xfrm>
          <a:prstGeom prst="rect">
            <a:avLst/>
          </a:prstGeom>
          <a:noFill/>
        </p:spPr>
        <p:txBody>
          <a:bodyPr wrap="square">
            <a:spAutoFit/>
          </a:bodyPr>
          <a:lstStyle/>
          <a:p>
            <a:pPr algn="l"/>
            <a:r>
              <a:rPr sz="850" b="0" i="0">
                <a:solidFill>
                  <a:srgbClr val="444455"/>
                </a:solidFill>
              </a:rPr>
              <a:t>Success criteria undefined at pilot — impossible to declare production 'ready'</a:t>
            </a:r>
          </a:p>
        </p:txBody>
      </p:sp>
      <p:sp>
        <p:nvSpPr>
          <p:cNvPr id="31" name="Rectangle 30"/>
          <p:cNvSpPr/>
          <p:nvPr/>
        </p:nvSpPr>
        <p:spPr>
          <a:xfrm>
            <a:off x="7498079" y="4828032"/>
            <a:ext cx="4389120" cy="68580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35240" y="4873752"/>
            <a:ext cx="1188720" cy="274320"/>
          </a:xfrm>
          <a:prstGeom prst="rect">
            <a:avLst/>
          </a:prstGeom>
          <a:noFill/>
        </p:spPr>
        <p:txBody>
          <a:bodyPr wrap="square">
            <a:spAutoFit/>
          </a:bodyPr>
          <a:lstStyle/>
          <a:p>
            <a:pPr algn="l"/>
            <a:r>
              <a:rPr sz="900" b="1" i="0">
                <a:solidFill>
                  <a:srgbClr val="C0392B"/>
                </a:solidFill>
              </a:rPr>
              <a:t>Cost Escalation</a:t>
            </a:r>
          </a:p>
        </p:txBody>
      </p:sp>
      <p:sp>
        <p:nvSpPr>
          <p:cNvPr id="33" name="TextBox 32"/>
          <p:cNvSpPr txBox="1"/>
          <p:nvPr/>
        </p:nvSpPr>
        <p:spPr>
          <a:xfrm>
            <a:off x="8869680" y="4864608"/>
            <a:ext cx="2926080" cy="594360"/>
          </a:xfrm>
          <a:prstGeom prst="rect">
            <a:avLst/>
          </a:prstGeom>
          <a:noFill/>
        </p:spPr>
        <p:txBody>
          <a:bodyPr wrap="square">
            <a:spAutoFit/>
          </a:bodyPr>
          <a:lstStyle/>
          <a:p>
            <a:pPr algn="l"/>
            <a:r>
              <a:rPr sz="850" b="0" i="0">
                <a:solidFill>
                  <a:srgbClr val="444455"/>
                </a:solidFill>
              </a:rPr>
              <a:t>Token costs at scale 3–10× of pilot estimates</a:t>
            </a:r>
          </a:p>
        </p:txBody>
      </p:sp>
      <p:sp>
        <p:nvSpPr>
          <p:cNvPr id="34" name="Rectangle 33"/>
          <p:cNvSpPr/>
          <p:nvPr/>
        </p:nvSpPr>
        <p:spPr>
          <a:xfrm>
            <a:off x="7498079" y="5577840"/>
            <a:ext cx="4389120" cy="68580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35240" y="5623560"/>
            <a:ext cx="1188720" cy="274320"/>
          </a:xfrm>
          <a:prstGeom prst="rect">
            <a:avLst/>
          </a:prstGeom>
          <a:noFill/>
        </p:spPr>
        <p:txBody>
          <a:bodyPr wrap="square">
            <a:spAutoFit/>
          </a:bodyPr>
          <a:lstStyle/>
          <a:p>
            <a:pPr algn="l"/>
            <a:r>
              <a:rPr sz="900" b="1" i="0">
                <a:solidFill>
                  <a:srgbClr val="C0392B"/>
                </a:solidFill>
              </a:rPr>
              <a:t>Reliability Gap</a:t>
            </a:r>
          </a:p>
        </p:txBody>
      </p:sp>
      <p:sp>
        <p:nvSpPr>
          <p:cNvPr id="36" name="TextBox 35"/>
          <p:cNvSpPr txBox="1"/>
          <p:nvPr/>
        </p:nvSpPr>
        <p:spPr>
          <a:xfrm>
            <a:off x="8869680" y="5614416"/>
            <a:ext cx="2926080" cy="594360"/>
          </a:xfrm>
          <a:prstGeom prst="rect">
            <a:avLst/>
          </a:prstGeom>
          <a:noFill/>
        </p:spPr>
        <p:txBody>
          <a:bodyPr wrap="square">
            <a:spAutoFit/>
          </a:bodyPr>
          <a:lstStyle/>
          <a:p>
            <a:pPr algn="l"/>
            <a:r>
              <a:rPr sz="850" b="0" i="0">
                <a:solidFill>
                  <a:srgbClr val="444455"/>
                </a:solidFill>
              </a:rPr>
              <a:t>POC: 80% accuracy. Production requirement: 99%+ — a fundamental mismatch</a:t>
            </a:r>
          </a:p>
        </p:txBody>
      </p:sp>
      <p:sp>
        <p:nvSpPr>
          <p:cNvPr id="37" name="TextBox 36"/>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Sources: MIT NANDA 'GenAI Divide' 2025 · S&amp;P Global Market Intelligence 2025 · McKinsey State of AI 2025 · Deloitte · Gartner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Real-World Case Studies — U.S. AI Deployment Failures</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What actually went wrong: documented failures from major U.S. enterprises</a:t>
            </a:r>
          </a:p>
        </p:txBody>
      </p:sp>
      <p:sp>
        <p:nvSpPr>
          <p:cNvPr id="5" name="Rectangle 4"/>
          <p:cNvSpPr/>
          <p:nvPr/>
        </p:nvSpPr>
        <p:spPr>
          <a:xfrm>
            <a:off x="274320" y="1417320"/>
            <a:ext cx="3840480" cy="5166360"/>
          </a:xfrm>
          <a:prstGeom prst="rect">
            <a:avLst/>
          </a:prstGeom>
          <a:solidFill>
            <a:srgbClr val="FFF0EE"/>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17320"/>
            <a:ext cx="3840480" cy="7772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463040"/>
            <a:ext cx="3657600" cy="384048"/>
          </a:xfrm>
          <a:prstGeom prst="rect">
            <a:avLst/>
          </a:prstGeom>
          <a:noFill/>
        </p:spPr>
        <p:txBody>
          <a:bodyPr wrap="square">
            <a:spAutoFit/>
          </a:bodyPr>
          <a:lstStyle/>
          <a:p>
            <a:pPr algn="l"/>
            <a:r>
              <a:rPr sz="1200" b="1" i="0">
                <a:solidFill>
                  <a:srgbClr val="FFFFFF"/>
                </a:solidFill>
              </a:rPr>
              <a:t>IBM Watson for Oncology</a:t>
            </a:r>
          </a:p>
        </p:txBody>
      </p:sp>
      <p:sp>
        <p:nvSpPr>
          <p:cNvPr id="8" name="TextBox 7"/>
          <p:cNvSpPr txBox="1"/>
          <p:nvPr/>
        </p:nvSpPr>
        <p:spPr>
          <a:xfrm>
            <a:off x="384048" y="1847088"/>
            <a:ext cx="3657600" cy="320040"/>
          </a:xfrm>
          <a:prstGeom prst="rect">
            <a:avLst/>
          </a:prstGeom>
          <a:noFill/>
        </p:spPr>
        <p:txBody>
          <a:bodyPr wrap="square">
            <a:spAutoFit/>
          </a:bodyPr>
          <a:lstStyle/>
          <a:p>
            <a:pPr algn="l"/>
            <a:r>
              <a:rPr sz="1100" b="1" i="0">
                <a:solidFill>
                  <a:srgbClr val="FFD700"/>
                </a:solidFill>
              </a:rPr>
              <a:t>$4 BILLION LOSS</a:t>
            </a:r>
          </a:p>
        </p:txBody>
      </p:sp>
      <p:sp>
        <p:nvSpPr>
          <p:cNvPr id="9" name="TextBox 8"/>
          <p:cNvSpPr txBox="1"/>
          <p:nvPr/>
        </p:nvSpPr>
        <p:spPr>
          <a:xfrm>
            <a:off x="384048" y="2267712"/>
            <a:ext cx="3657600" cy="274320"/>
          </a:xfrm>
          <a:prstGeom prst="rect">
            <a:avLst/>
          </a:prstGeom>
          <a:noFill/>
        </p:spPr>
        <p:txBody>
          <a:bodyPr wrap="square">
            <a:spAutoFit/>
          </a:bodyPr>
          <a:lstStyle/>
          <a:p>
            <a:pPr algn="l"/>
            <a:r>
              <a:rPr sz="900" b="0" i="1">
                <a:solidFill>
                  <a:srgbClr val="C0392B"/>
                </a:solidFill>
              </a:rPr>
              <a:t>IBM's flagship AI healthcare product</a:t>
            </a:r>
          </a:p>
        </p:txBody>
      </p:sp>
      <p:sp>
        <p:nvSpPr>
          <p:cNvPr id="10" name="TextBox 9"/>
          <p:cNvSpPr txBox="1"/>
          <p:nvPr/>
        </p:nvSpPr>
        <p:spPr>
          <a:xfrm>
            <a:off x="411479" y="2606040"/>
            <a:ext cx="3611880" cy="603504"/>
          </a:xfrm>
          <a:prstGeom prst="rect">
            <a:avLst/>
          </a:prstGeom>
          <a:noFill/>
        </p:spPr>
        <p:txBody>
          <a:bodyPr wrap="square">
            <a:spAutoFit/>
          </a:bodyPr>
          <a:lstStyle/>
          <a:p>
            <a:pPr algn="l"/>
            <a:r>
              <a:rPr sz="900" b="0" i="0">
                <a:solidFill>
                  <a:srgbClr val="444455"/>
                </a:solidFill>
              </a:rPr>
              <a:t>• MD Anderson spent $62M over 2 years before termination (2015)</a:t>
            </a:r>
          </a:p>
        </p:txBody>
      </p:sp>
      <p:sp>
        <p:nvSpPr>
          <p:cNvPr id="11" name="TextBox 10"/>
          <p:cNvSpPr txBox="1"/>
          <p:nvPr/>
        </p:nvSpPr>
        <p:spPr>
          <a:xfrm>
            <a:off x="411479" y="3246120"/>
            <a:ext cx="3611880" cy="603504"/>
          </a:xfrm>
          <a:prstGeom prst="rect">
            <a:avLst/>
          </a:prstGeom>
          <a:noFill/>
        </p:spPr>
        <p:txBody>
          <a:bodyPr wrap="square">
            <a:spAutoFit/>
          </a:bodyPr>
          <a:lstStyle/>
          <a:p>
            <a:pPr algn="l"/>
            <a:r>
              <a:rPr sz="900" b="0" i="0">
                <a:solidFill>
                  <a:srgbClr val="444455"/>
                </a:solidFill>
              </a:rPr>
              <a:t>• Memorial Sloan Kettering: 'recommendations were useless and dangerous'</a:t>
            </a:r>
          </a:p>
        </p:txBody>
      </p:sp>
      <p:sp>
        <p:nvSpPr>
          <p:cNvPr id="12" name="TextBox 11"/>
          <p:cNvSpPr txBox="1"/>
          <p:nvPr/>
        </p:nvSpPr>
        <p:spPr>
          <a:xfrm>
            <a:off x="411479" y="3886200"/>
            <a:ext cx="3611880" cy="603504"/>
          </a:xfrm>
          <a:prstGeom prst="rect">
            <a:avLst/>
          </a:prstGeom>
          <a:noFill/>
        </p:spPr>
        <p:txBody>
          <a:bodyPr wrap="square">
            <a:spAutoFit/>
          </a:bodyPr>
          <a:lstStyle/>
          <a:p>
            <a:pPr algn="l"/>
            <a:r>
              <a:rPr sz="900" b="0" i="0">
                <a:solidFill>
                  <a:srgbClr val="444455"/>
                </a:solidFill>
              </a:rPr>
              <a:t>• Trained on synthetic hypothetical cases, not real patient data</a:t>
            </a:r>
          </a:p>
        </p:txBody>
      </p:sp>
      <p:sp>
        <p:nvSpPr>
          <p:cNvPr id="13" name="TextBox 12"/>
          <p:cNvSpPr txBox="1"/>
          <p:nvPr/>
        </p:nvSpPr>
        <p:spPr>
          <a:xfrm>
            <a:off x="411479" y="4526279"/>
            <a:ext cx="3611880" cy="603504"/>
          </a:xfrm>
          <a:prstGeom prst="rect">
            <a:avLst/>
          </a:prstGeom>
          <a:noFill/>
        </p:spPr>
        <p:txBody>
          <a:bodyPr wrap="square">
            <a:spAutoFit/>
          </a:bodyPr>
          <a:lstStyle/>
          <a:p>
            <a:pPr algn="l"/>
            <a:r>
              <a:rPr sz="900" b="0" i="0">
                <a:solidFill>
                  <a:srgbClr val="444455"/>
                </a:solidFill>
              </a:rPr>
              <a:t>• Could not integrate with existing EHR systems</a:t>
            </a:r>
          </a:p>
        </p:txBody>
      </p:sp>
      <p:sp>
        <p:nvSpPr>
          <p:cNvPr id="14" name="TextBox 13"/>
          <p:cNvSpPr txBox="1"/>
          <p:nvPr/>
        </p:nvSpPr>
        <p:spPr>
          <a:xfrm>
            <a:off x="411479" y="5166360"/>
            <a:ext cx="3611880" cy="603504"/>
          </a:xfrm>
          <a:prstGeom prst="rect">
            <a:avLst/>
          </a:prstGeom>
          <a:noFill/>
        </p:spPr>
        <p:txBody>
          <a:bodyPr wrap="square">
            <a:spAutoFit/>
          </a:bodyPr>
          <a:lstStyle/>
          <a:p>
            <a:pPr algn="l"/>
            <a:r>
              <a:rPr sz="900" b="0" i="0">
                <a:solidFill>
                  <a:srgbClr val="444455"/>
                </a:solidFill>
              </a:rPr>
              <a:t>• Only 38% of physicians trusted its recommendations (JAMA 2024)</a:t>
            </a:r>
          </a:p>
        </p:txBody>
      </p:sp>
      <p:sp>
        <p:nvSpPr>
          <p:cNvPr id="15" name="TextBox 14"/>
          <p:cNvSpPr txBox="1"/>
          <p:nvPr/>
        </p:nvSpPr>
        <p:spPr>
          <a:xfrm>
            <a:off x="411479" y="5806440"/>
            <a:ext cx="3611880" cy="603504"/>
          </a:xfrm>
          <a:prstGeom prst="rect">
            <a:avLst/>
          </a:prstGeom>
          <a:noFill/>
        </p:spPr>
        <p:txBody>
          <a:bodyPr wrap="square">
            <a:spAutoFit/>
          </a:bodyPr>
          <a:lstStyle/>
          <a:p>
            <a:pPr algn="l"/>
            <a:r>
              <a:rPr sz="900" b="0" i="0">
                <a:solidFill>
                  <a:srgbClr val="444455"/>
                </a:solidFill>
              </a:rPr>
              <a:t>• IBM health division sold for ~$1B after $5B+ investment (2022)</a:t>
            </a:r>
          </a:p>
        </p:txBody>
      </p:sp>
      <p:sp>
        <p:nvSpPr>
          <p:cNvPr id="16" name="Rectangle 15"/>
          <p:cNvSpPr/>
          <p:nvPr/>
        </p:nvSpPr>
        <p:spPr>
          <a:xfrm>
            <a:off x="4251959" y="1417320"/>
            <a:ext cx="3840480" cy="5166360"/>
          </a:xfrm>
          <a:prstGeom prst="rect">
            <a:avLst/>
          </a:prstGeom>
          <a:solidFill>
            <a:srgbClr val="FFF6ED"/>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51959" y="1417320"/>
            <a:ext cx="3840480" cy="7772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61688" y="1463040"/>
            <a:ext cx="3657600" cy="384048"/>
          </a:xfrm>
          <a:prstGeom prst="rect">
            <a:avLst/>
          </a:prstGeom>
          <a:noFill/>
        </p:spPr>
        <p:txBody>
          <a:bodyPr wrap="square">
            <a:spAutoFit/>
          </a:bodyPr>
          <a:lstStyle/>
          <a:p>
            <a:pPr algn="l"/>
            <a:r>
              <a:rPr sz="1200" b="1" i="0">
                <a:solidFill>
                  <a:srgbClr val="FFFFFF"/>
                </a:solidFill>
              </a:rPr>
              <a:t>Amazon Just Walk Out</a:t>
            </a:r>
          </a:p>
        </p:txBody>
      </p:sp>
      <p:sp>
        <p:nvSpPr>
          <p:cNvPr id="19" name="TextBox 18"/>
          <p:cNvSpPr txBox="1"/>
          <p:nvPr/>
        </p:nvSpPr>
        <p:spPr>
          <a:xfrm>
            <a:off x="4361688" y="1847088"/>
            <a:ext cx="3657600" cy="320040"/>
          </a:xfrm>
          <a:prstGeom prst="rect">
            <a:avLst/>
          </a:prstGeom>
          <a:noFill/>
        </p:spPr>
        <p:txBody>
          <a:bodyPr wrap="square">
            <a:spAutoFit/>
          </a:bodyPr>
          <a:lstStyle/>
          <a:p>
            <a:pPr algn="l"/>
            <a:r>
              <a:rPr sz="1100" b="1" i="0">
                <a:solidFill>
                  <a:srgbClr val="FFFFFF"/>
                </a:solidFill>
              </a:rPr>
              <a:t>SHUT DOWN 2024</a:t>
            </a:r>
          </a:p>
        </p:txBody>
      </p:sp>
      <p:sp>
        <p:nvSpPr>
          <p:cNvPr id="20" name="TextBox 19"/>
          <p:cNvSpPr txBox="1"/>
          <p:nvPr/>
        </p:nvSpPr>
        <p:spPr>
          <a:xfrm>
            <a:off x="4361688" y="2267712"/>
            <a:ext cx="3657600" cy="274320"/>
          </a:xfrm>
          <a:prstGeom prst="rect">
            <a:avLst/>
          </a:prstGeom>
          <a:noFill/>
        </p:spPr>
        <p:txBody>
          <a:bodyPr wrap="square">
            <a:spAutoFit/>
          </a:bodyPr>
          <a:lstStyle/>
          <a:p>
            <a:pPr algn="l"/>
            <a:r>
              <a:rPr sz="900" b="0" i="1">
                <a:solidFill>
                  <a:srgbClr val="E67E22"/>
                </a:solidFill>
              </a:rPr>
              <a:t>AI-powered cashierless grocery checkout</a:t>
            </a:r>
          </a:p>
        </p:txBody>
      </p:sp>
      <p:sp>
        <p:nvSpPr>
          <p:cNvPr id="21" name="TextBox 20"/>
          <p:cNvSpPr txBox="1"/>
          <p:nvPr/>
        </p:nvSpPr>
        <p:spPr>
          <a:xfrm>
            <a:off x="4389120" y="2606040"/>
            <a:ext cx="3611880" cy="603504"/>
          </a:xfrm>
          <a:prstGeom prst="rect">
            <a:avLst/>
          </a:prstGeom>
          <a:noFill/>
        </p:spPr>
        <p:txBody>
          <a:bodyPr wrap="square">
            <a:spAutoFit/>
          </a:bodyPr>
          <a:lstStyle/>
          <a:p>
            <a:pPr algn="l"/>
            <a:r>
              <a:rPr sz="900" b="0" i="0">
                <a:solidFill>
                  <a:srgbClr val="444455"/>
                </a:solidFill>
              </a:rPr>
              <a:t>• Discontinued from all US Amazon Fresh stores — April 2024</a:t>
            </a:r>
          </a:p>
        </p:txBody>
      </p:sp>
      <p:sp>
        <p:nvSpPr>
          <p:cNvPr id="22" name="TextBox 21"/>
          <p:cNvSpPr txBox="1"/>
          <p:nvPr/>
        </p:nvSpPr>
        <p:spPr>
          <a:xfrm>
            <a:off x="4389120" y="3246120"/>
            <a:ext cx="3611880" cy="603504"/>
          </a:xfrm>
          <a:prstGeom prst="rect">
            <a:avLst/>
          </a:prstGeom>
          <a:noFill/>
        </p:spPr>
        <p:txBody>
          <a:bodyPr wrap="square">
            <a:spAutoFit/>
          </a:bodyPr>
          <a:lstStyle/>
          <a:p>
            <a:pPr algn="l"/>
            <a:r>
              <a:rPr sz="900" b="0" i="0">
                <a:solidFill>
                  <a:srgbClr val="444455"/>
                </a:solidFill>
              </a:rPr>
              <a:t>• Amazon Go closed all US &amp; UK stores by January 2026</a:t>
            </a:r>
          </a:p>
        </p:txBody>
      </p:sp>
      <p:sp>
        <p:nvSpPr>
          <p:cNvPr id="23" name="TextBox 22"/>
          <p:cNvSpPr txBox="1"/>
          <p:nvPr/>
        </p:nvSpPr>
        <p:spPr>
          <a:xfrm>
            <a:off x="4389120" y="3886200"/>
            <a:ext cx="3611880" cy="603504"/>
          </a:xfrm>
          <a:prstGeom prst="rect">
            <a:avLst/>
          </a:prstGeom>
          <a:noFill/>
        </p:spPr>
        <p:txBody>
          <a:bodyPr wrap="square">
            <a:spAutoFit/>
          </a:bodyPr>
          <a:lstStyle/>
          <a:p>
            <a:pPr algn="l"/>
            <a:r>
              <a:rPr sz="900" b="0" i="0">
                <a:solidFill>
                  <a:srgbClr val="444455"/>
                </a:solidFill>
              </a:rPr>
              <a:t>• Hidden: ~1,000 remote workers manually reviewing footage (India)</a:t>
            </a:r>
          </a:p>
        </p:txBody>
      </p:sp>
      <p:sp>
        <p:nvSpPr>
          <p:cNvPr id="24" name="TextBox 23"/>
          <p:cNvSpPr txBox="1"/>
          <p:nvPr/>
        </p:nvSpPr>
        <p:spPr>
          <a:xfrm>
            <a:off x="4389120" y="4526279"/>
            <a:ext cx="3611880" cy="603504"/>
          </a:xfrm>
          <a:prstGeom prst="rect">
            <a:avLst/>
          </a:prstGeom>
          <a:noFill/>
        </p:spPr>
        <p:txBody>
          <a:bodyPr wrap="square">
            <a:spAutoFit/>
          </a:bodyPr>
          <a:lstStyle/>
          <a:p>
            <a:pPr algn="l"/>
            <a:r>
              <a:rPr sz="900" b="0" i="0">
                <a:solidFill>
                  <a:srgbClr val="444455"/>
                </a:solidFill>
              </a:rPr>
              <a:t>• Labor savings were largely illusory — costs just moved offshore</a:t>
            </a:r>
          </a:p>
        </p:txBody>
      </p:sp>
      <p:sp>
        <p:nvSpPr>
          <p:cNvPr id="25" name="TextBox 24"/>
          <p:cNvSpPr txBox="1"/>
          <p:nvPr/>
        </p:nvSpPr>
        <p:spPr>
          <a:xfrm>
            <a:off x="4389120" y="5166360"/>
            <a:ext cx="3611880" cy="603504"/>
          </a:xfrm>
          <a:prstGeom prst="rect">
            <a:avLst/>
          </a:prstGeom>
          <a:noFill/>
        </p:spPr>
        <p:txBody>
          <a:bodyPr wrap="square">
            <a:spAutoFit/>
          </a:bodyPr>
          <a:lstStyle/>
          <a:p>
            <a:pPr algn="l"/>
            <a:r>
              <a:rPr sz="900" b="0" i="0">
                <a:solidFill>
                  <a:srgbClr val="444455"/>
                </a:solidFill>
              </a:rPr>
              <a:t>• Technology worked at small scale; failed to generalize to full grocery</a:t>
            </a:r>
          </a:p>
        </p:txBody>
      </p:sp>
      <p:sp>
        <p:nvSpPr>
          <p:cNvPr id="26" name="TextBox 25"/>
          <p:cNvSpPr txBox="1"/>
          <p:nvPr/>
        </p:nvSpPr>
        <p:spPr>
          <a:xfrm>
            <a:off x="4389120" y="5806440"/>
            <a:ext cx="3611880" cy="603504"/>
          </a:xfrm>
          <a:prstGeom prst="rect">
            <a:avLst/>
          </a:prstGeom>
          <a:noFill/>
        </p:spPr>
        <p:txBody>
          <a:bodyPr wrap="square">
            <a:spAutoFit/>
          </a:bodyPr>
          <a:lstStyle/>
          <a:p>
            <a:pPr algn="l"/>
            <a:r>
              <a:rPr sz="900" b="0" i="0">
                <a:solidFill>
                  <a:srgbClr val="444455"/>
                </a:solidFill>
              </a:rPr>
              <a:t>• Grocery's razor-thin margins made even small AI errors unsustainable</a:t>
            </a:r>
          </a:p>
        </p:txBody>
      </p:sp>
      <p:sp>
        <p:nvSpPr>
          <p:cNvPr id="27" name="Rectangle 26"/>
          <p:cNvSpPr/>
          <p:nvPr/>
        </p:nvSpPr>
        <p:spPr>
          <a:xfrm>
            <a:off x="8229600" y="1417320"/>
            <a:ext cx="3840480" cy="5166360"/>
          </a:xfrm>
          <a:prstGeom prst="rect">
            <a:avLst/>
          </a:prstGeom>
          <a:solidFill>
            <a:srgbClr val="EEF2FF"/>
          </a:solidFill>
          <a:ln w="2540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0" y="1417320"/>
            <a:ext cx="3840480" cy="7772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9327" y="1463040"/>
            <a:ext cx="3657600" cy="384048"/>
          </a:xfrm>
          <a:prstGeom prst="rect">
            <a:avLst/>
          </a:prstGeom>
          <a:noFill/>
        </p:spPr>
        <p:txBody>
          <a:bodyPr wrap="square">
            <a:spAutoFit/>
          </a:bodyPr>
          <a:lstStyle/>
          <a:p>
            <a:pPr algn="l"/>
            <a:r>
              <a:rPr sz="1200" b="1" i="0">
                <a:solidFill>
                  <a:srgbClr val="FFFFFF"/>
                </a:solidFill>
              </a:rPr>
              <a:t>U.S. Federal Agencies</a:t>
            </a:r>
          </a:p>
        </p:txBody>
      </p:sp>
      <p:sp>
        <p:nvSpPr>
          <p:cNvPr id="30" name="TextBox 29"/>
          <p:cNvSpPr txBox="1"/>
          <p:nvPr/>
        </p:nvSpPr>
        <p:spPr>
          <a:xfrm>
            <a:off x="8339327" y="1847088"/>
            <a:ext cx="3657600" cy="320040"/>
          </a:xfrm>
          <a:prstGeom prst="rect">
            <a:avLst/>
          </a:prstGeom>
          <a:noFill/>
        </p:spPr>
        <p:txBody>
          <a:bodyPr wrap="square">
            <a:spAutoFit/>
          </a:bodyPr>
          <a:lstStyle/>
          <a:p>
            <a:pPr algn="l"/>
            <a:r>
              <a:rPr sz="1100" b="1" i="0">
                <a:solidFill>
                  <a:srgbClr val="FFFFFF"/>
                </a:solidFill>
              </a:rPr>
              <a:t>SYSTEMIC FAILURE</a:t>
            </a:r>
          </a:p>
        </p:txBody>
      </p:sp>
      <p:sp>
        <p:nvSpPr>
          <p:cNvPr id="31" name="TextBox 30"/>
          <p:cNvSpPr txBox="1"/>
          <p:nvPr/>
        </p:nvSpPr>
        <p:spPr>
          <a:xfrm>
            <a:off x="8339327" y="2267712"/>
            <a:ext cx="3657600" cy="274320"/>
          </a:xfrm>
          <a:prstGeom prst="rect">
            <a:avLst/>
          </a:prstGeom>
          <a:noFill/>
        </p:spPr>
        <p:txBody>
          <a:bodyPr wrap="square">
            <a:spAutoFit/>
          </a:bodyPr>
          <a:lstStyle/>
          <a:p>
            <a:pPr algn="l"/>
            <a:r>
              <a:rPr sz="900" b="0" i="1">
                <a:solidFill>
                  <a:srgbClr val="0D1B3E"/>
                </a:solidFill>
              </a:rPr>
              <a:t>IRS, Pentagon, and federal AI programs</a:t>
            </a:r>
          </a:p>
        </p:txBody>
      </p:sp>
      <p:sp>
        <p:nvSpPr>
          <p:cNvPr id="32" name="TextBox 31"/>
          <p:cNvSpPr txBox="1"/>
          <p:nvPr/>
        </p:nvSpPr>
        <p:spPr>
          <a:xfrm>
            <a:off x="8366760" y="2606040"/>
            <a:ext cx="3611880" cy="603504"/>
          </a:xfrm>
          <a:prstGeom prst="rect">
            <a:avLst/>
          </a:prstGeom>
          <a:noFill/>
        </p:spPr>
        <p:txBody>
          <a:bodyPr wrap="square">
            <a:spAutoFit/>
          </a:bodyPr>
          <a:lstStyle/>
          <a:p>
            <a:pPr algn="l"/>
            <a:r>
              <a:rPr sz="900" b="0" i="0">
                <a:solidFill>
                  <a:srgbClr val="444455"/>
                </a:solidFill>
              </a:rPr>
              <a:t>• IRS: 50% of AI team staff lost by May 2025; 75% of governance team gone</a:t>
            </a:r>
          </a:p>
        </p:txBody>
      </p:sp>
      <p:sp>
        <p:nvSpPr>
          <p:cNvPr id="33" name="TextBox 32"/>
          <p:cNvSpPr txBox="1"/>
          <p:nvPr/>
        </p:nvSpPr>
        <p:spPr>
          <a:xfrm>
            <a:off x="8366760" y="3246120"/>
            <a:ext cx="3611880" cy="603504"/>
          </a:xfrm>
          <a:prstGeom prst="rect">
            <a:avLst/>
          </a:prstGeom>
          <a:noFill/>
        </p:spPr>
        <p:txBody>
          <a:bodyPr wrap="square">
            <a:spAutoFit/>
          </a:bodyPr>
          <a:lstStyle/>
          <a:p>
            <a:pPr algn="l"/>
            <a:r>
              <a:rPr sz="900" b="0" i="0">
                <a:solidFill>
                  <a:srgbClr val="444455"/>
                </a:solidFill>
              </a:rPr>
              <a:t>• GAO: IRS may not be able to use its AI audit model — no staff for audits</a:t>
            </a:r>
          </a:p>
        </p:txBody>
      </p:sp>
      <p:sp>
        <p:nvSpPr>
          <p:cNvPr id="34" name="TextBox 33"/>
          <p:cNvSpPr txBox="1"/>
          <p:nvPr/>
        </p:nvSpPr>
        <p:spPr>
          <a:xfrm>
            <a:off x="8366760" y="3886200"/>
            <a:ext cx="3611880" cy="603504"/>
          </a:xfrm>
          <a:prstGeom prst="rect">
            <a:avLst/>
          </a:prstGeom>
          <a:noFill/>
        </p:spPr>
        <p:txBody>
          <a:bodyPr wrap="square">
            <a:spAutoFit/>
          </a:bodyPr>
          <a:lstStyle/>
          <a:p>
            <a:pPr algn="l"/>
            <a:r>
              <a:rPr sz="900" b="0" i="0">
                <a:solidFill>
                  <a:srgbClr val="444455"/>
                </a:solidFill>
              </a:rPr>
              <a:t>• 8 of 12 agencies: trouble obtaining compute resources (GAO review)</a:t>
            </a:r>
          </a:p>
        </p:txBody>
      </p:sp>
      <p:sp>
        <p:nvSpPr>
          <p:cNvPr id="35" name="TextBox 34"/>
          <p:cNvSpPr txBox="1"/>
          <p:nvPr/>
        </p:nvSpPr>
        <p:spPr>
          <a:xfrm>
            <a:off x="8366760" y="4526279"/>
            <a:ext cx="3611880" cy="603504"/>
          </a:xfrm>
          <a:prstGeom prst="rect">
            <a:avLst/>
          </a:prstGeom>
          <a:noFill/>
        </p:spPr>
        <p:txBody>
          <a:bodyPr wrap="square">
            <a:spAutoFit/>
          </a:bodyPr>
          <a:lstStyle/>
          <a:p>
            <a:pPr algn="l"/>
            <a:r>
              <a:rPr sz="900" b="0" i="0">
                <a:solidFill>
                  <a:srgbClr val="444455"/>
                </a:solidFill>
              </a:rPr>
              <a:t>• Pentagon demoted AI office from senior leadership into R&amp;D division</a:t>
            </a:r>
          </a:p>
        </p:txBody>
      </p:sp>
      <p:sp>
        <p:nvSpPr>
          <p:cNvPr id="36" name="TextBox 35"/>
          <p:cNvSpPr txBox="1"/>
          <p:nvPr/>
        </p:nvSpPr>
        <p:spPr>
          <a:xfrm>
            <a:off x="8366760" y="5166360"/>
            <a:ext cx="3611880" cy="603504"/>
          </a:xfrm>
          <a:prstGeom prst="rect">
            <a:avLst/>
          </a:prstGeom>
          <a:noFill/>
        </p:spPr>
        <p:txBody>
          <a:bodyPr wrap="square">
            <a:spAutoFit/>
          </a:bodyPr>
          <a:lstStyle/>
          <a:p>
            <a:pPr algn="l"/>
            <a:r>
              <a:rPr sz="900" b="0" i="0">
                <a:solidFill>
                  <a:srgbClr val="444455"/>
                </a:solidFill>
              </a:rPr>
              <a:t>• Federal AI investment: massive but without execution capacity</a:t>
            </a:r>
          </a:p>
        </p:txBody>
      </p:sp>
      <p:sp>
        <p:nvSpPr>
          <p:cNvPr id="37" name="TextBox 36"/>
          <p:cNvSpPr txBox="1"/>
          <p:nvPr/>
        </p:nvSpPr>
        <p:spPr>
          <a:xfrm>
            <a:off x="8366760" y="5806440"/>
            <a:ext cx="3611880" cy="603504"/>
          </a:xfrm>
          <a:prstGeom prst="rect">
            <a:avLst/>
          </a:prstGeom>
          <a:noFill/>
        </p:spPr>
        <p:txBody>
          <a:bodyPr wrap="square">
            <a:spAutoFit/>
          </a:bodyPr>
          <a:lstStyle/>
          <a:p>
            <a:pPr algn="l"/>
            <a:r>
              <a:rPr sz="900" b="0" i="0">
                <a:solidFill>
                  <a:srgbClr val="444455"/>
                </a:solidFill>
              </a:rPr>
              <a:t>• Political disruption dismantled AI capabilities faster than they were built</a:t>
            </a:r>
          </a:p>
        </p:txBody>
      </p:sp>
      <p:sp>
        <p:nvSpPr>
          <p:cNvPr id="38" name="TextBox 37"/>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Sources: Henrico Dolfing Case Study · JAMA Network Open · Axios/Fast Company · The Information · Nextgov/FCW · GAO Watchdog Reports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Industry-Specific AI Deployment Challenges</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Sector barriers beyond the universal challenges — U.S. market context</a:t>
            </a:r>
          </a:p>
        </p:txBody>
      </p:sp>
      <p:sp>
        <p:nvSpPr>
          <p:cNvPr id="5" name="TextBox 4"/>
          <p:cNvSpPr txBox="1"/>
          <p:nvPr/>
        </p:nvSpPr>
        <p:spPr>
          <a:xfrm>
            <a:off x="274320" y="1417320"/>
            <a:ext cx="11612880" cy="347472"/>
          </a:xfrm>
          <a:prstGeom prst="rect">
            <a:avLst/>
          </a:prstGeom>
          <a:noFill/>
        </p:spPr>
        <p:txBody>
          <a:bodyPr wrap="square">
            <a:spAutoFit/>
          </a:bodyPr>
          <a:lstStyle/>
          <a:p>
            <a:pPr algn="l"/>
            <a:r>
              <a:rPr sz="1100" b="1" i="0">
                <a:solidFill>
                  <a:srgbClr val="0D1B3E"/>
                </a:solidFill>
              </a:rPr>
              <a:t>SECTOR DEEP DIVES</a:t>
            </a:r>
          </a:p>
        </p:txBody>
      </p:sp>
      <p:sp>
        <p:nvSpPr>
          <p:cNvPr id="6" name="Rectangle 5"/>
          <p:cNvSpPr/>
          <p:nvPr/>
        </p:nvSpPr>
        <p:spPr>
          <a:xfrm>
            <a:off x="274320" y="1828800"/>
            <a:ext cx="5852160" cy="2377440"/>
          </a:xfrm>
          <a:prstGeom prst="rect">
            <a:avLst/>
          </a:prstGeom>
          <a:solidFill>
            <a:srgbClr val="FFF2F0"/>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828800"/>
            <a:ext cx="5852160" cy="3657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1874519"/>
            <a:ext cx="5669280" cy="292608"/>
          </a:xfrm>
          <a:prstGeom prst="rect">
            <a:avLst/>
          </a:prstGeom>
          <a:noFill/>
        </p:spPr>
        <p:txBody>
          <a:bodyPr wrap="square">
            <a:spAutoFit/>
          </a:bodyPr>
          <a:lstStyle/>
          <a:p>
            <a:pPr algn="l"/>
            <a:r>
              <a:rPr sz="1100" b="1" i="0">
                <a:solidFill>
                  <a:srgbClr val="FFFFFF"/>
                </a:solidFill>
              </a:rPr>
              <a:t>Healthcare</a:t>
            </a:r>
          </a:p>
        </p:txBody>
      </p:sp>
      <p:sp>
        <p:nvSpPr>
          <p:cNvPr id="9" name="TextBox 8"/>
          <p:cNvSpPr txBox="1"/>
          <p:nvPr/>
        </p:nvSpPr>
        <p:spPr>
          <a:xfrm>
            <a:off x="411479" y="2267712"/>
            <a:ext cx="5577840" cy="301752"/>
          </a:xfrm>
          <a:prstGeom prst="rect">
            <a:avLst/>
          </a:prstGeom>
          <a:noFill/>
        </p:spPr>
        <p:txBody>
          <a:bodyPr wrap="square">
            <a:spAutoFit/>
          </a:bodyPr>
          <a:lstStyle/>
          <a:p>
            <a:pPr algn="l"/>
            <a:r>
              <a:rPr sz="900" b="0" i="0">
                <a:solidFill>
                  <a:srgbClr val="444455"/>
                </a:solidFill>
              </a:rPr>
              <a:t>• HIPAA: any patient data in AI = regulatory minefield</a:t>
            </a:r>
          </a:p>
        </p:txBody>
      </p:sp>
      <p:sp>
        <p:nvSpPr>
          <p:cNvPr id="10" name="TextBox 9"/>
          <p:cNvSpPr txBox="1"/>
          <p:nvPr/>
        </p:nvSpPr>
        <p:spPr>
          <a:xfrm>
            <a:off x="411479" y="2592324"/>
            <a:ext cx="5577840" cy="301752"/>
          </a:xfrm>
          <a:prstGeom prst="rect">
            <a:avLst/>
          </a:prstGeom>
          <a:noFill/>
        </p:spPr>
        <p:txBody>
          <a:bodyPr wrap="square">
            <a:spAutoFit/>
          </a:bodyPr>
          <a:lstStyle/>
          <a:p>
            <a:pPr algn="l"/>
            <a:r>
              <a:rPr sz="900" b="0" i="0">
                <a:solidFill>
                  <a:srgbClr val="444455"/>
                </a:solidFill>
              </a:rPr>
              <a:t>• Liability: wrong AI recommendation = malpractice exposure</a:t>
            </a:r>
          </a:p>
        </p:txBody>
      </p:sp>
      <p:sp>
        <p:nvSpPr>
          <p:cNvPr id="11" name="TextBox 10"/>
          <p:cNvSpPr txBox="1"/>
          <p:nvPr/>
        </p:nvSpPr>
        <p:spPr>
          <a:xfrm>
            <a:off x="411479" y="2916936"/>
            <a:ext cx="5577840" cy="301752"/>
          </a:xfrm>
          <a:prstGeom prst="rect">
            <a:avLst/>
          </a:prstGeom>
          <a:noFill/>
        </p:spPr>
        <p:txBody>
          <a:bodyPr wrap="square">
            <a:spAutoFit/>
          </a:bodyPr>
          <a:lstStyle/>
          <a:p>
            <a:pPr algn="l"/>
            <a:r>
              <a:rPr sz="900" b="0" i="0">
                <a:solidFill>
                  <a:srgbClr val="444455"/>
                </a:solidFill>
              </a:rPr>
              <a:t>• EHR systems highly fragmented across vendors</a:t>
            </a:r>
          </a:p>
        </p:txBody>
      </p:sp>
      <p:sp>
        <p:nvSpPr>
          <p:cNvPr id="12" name="TextBox 11"/>
          <p:cNvSpPr txBox="1"/>
          <p:nvPr/>
        </p:nvSpPr>
        <p:spPr>
          <a:xfrm>
            <a:off x="411479" y="3241548"/>
            <a:ext cx="5577840" cy="301752"/>
          </a:xfrm>
          <a:prstGeom prst="rect">
            <a:avLst/>
          </a:prstGeom>
          <a:noFill/>
        </p:spPr>
        <p:txBody>
          <a:bodyPr wrap="square">
            <a:spAutoFit/>
          </a:bodyPr>
          <a:lstStyle/>
          <a:p>
            <a:pPr algn="l"/>
            <a:r>
              <a:rPr sz="900" b="0" i="0">
                <a:solidFill>
                  <a:srgbClr val="444455"/>
                </a:solidFill>
              </a:rPr>
              <a:t>• Clinical workflow adoption — doctors resist AI override</a:t>
            </a:r>
          </a:p>
        </p:txBody>
      </p:sp>
      <p:sp>
        <p:nvSpPr>
          <p:cNvPr id="13" name="TextBox 12"/>
          <p:cNvSpPr txBox="1"/>
          <p:nvPr/>
        </p:nvSpPr>
        <p:spPr>
          <a:xfrm>
            <a:off x="411479" y="3566160"/>
            <a:ext cx="5577840" cy="301752"/>
          </a:xfrm>
          <a:prstGeom prst="rect">
            <a:avLst/>
          </a:prstGeom>
          <a:noFill/>
        </p:spPr>
        <p:txBody>
          <a:bodyPr wrap="square">
            <a:spAutoFit/>
          </a:bodyPr>
          <a:lstStyle/>
          <a:p>
            <a:pPr algn="l"/>
            <a:r>
              <a:rPr sz="900" b="0" i="0">
                <a:solidFill>
                  <a:srgbClr val="444455"/>
                </a:solidFill>
              </a:rPr>
              <a:t>• FDA clearance required for diagnostic AI (18–36 month process)</a:t>
            </a:r>
          </a:p>
        </p:txBody>
      </p:sp>
      <p:sp>
        <p:nvSpPr>
          <p:cNvPr id="14" name="TextBox 13"/>
          <p:cNvSpPr txBox="1"/>
          <p:nvPr/>
        </p:nvSpPr>
        <p:spPr>
          <a:xfrm>
            <a:off x="411479" y="3890772"/>
            <a:ext cx="5577840" cy="301752"/>
          </a:xfrm>
          <a:prstGeom prst="rect">
            <a:avLst/>
          </a:prstGeom>
          <a:noFill/>
        </p:spPr>
        <p:txBody>
          <a:bodyPr wrap="square">
            <a:spAutoFit/>
          </a:bodyPr>
          <a:lstStyle/>
          <a:p>
            <a:pPr algn="l"/>
            <a:r>
              <a:rPr sz="900" b="0" i="0">
                <a:solidFill>
                  <a:srgbClr val="444455"/>
                </a:solidFill>
              </a:rPr>
              <a:t>• Bias in training data → disparate outcomes across populations</a:t>
            </a:r>
          </a:p>
        </p:txBody>
      </p:sp>
      <p:sp>
        <p:nvSpPr>
          <p:cNvPr id="15" name="Rectangle 14"/>
          <p:cNvSpPr/>
          <p:nvPr/>
        </p:nvSpPr>
        <p:spPr>
          <a:xfrm>
            <a:off x="6309359" y="1828800"/>
            <a:ext cx="5852160" cy="2377440"/>
          </a:xfrm>
          <a:prstGeom prst="rect">
            <a:avLst/>
          </a:prstGeom>
          <a:solidFill>
            <a:srgbClr val="FFF8F0"/>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59" y="1828800"/>
            <a:ext cx="5852160" cy="365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874519"/>
            <a:ext cx="5669280" cy="292608"/>
          </a:xfrm>
          <a:prstGeom prst="rect">
            <a:avLst/>
          </a:prstGeom>
          <a:noFill/>
        </p:spPr>
        <p:txBody>
          <a:bodyPr wrap="square">
            <a:spAutoFit/>
          </a:bodyPr>
          <a:lstStyle/>
          <a:p>
            <a:pPr algn="l"/>
            <a:r>
              <a:rPr sz="1100" b="1" i="0">
                <a:solidFill>
                  <a:srgbClr val="FFFFFF"/>
                </a:solidFill>
              </a:rPr>
              <a:t>Financial Services</a:t>
            </a:r>
          </a:p>
        </p:txBody>
      </p:sp>
      <p:sp>
        <p:nvSpPr>
          <p:cNvPr id="18" name="TextBox 17"/>
          <p:cNvSpPr txBox="1"/>
          <p:nvPr/>
        </p:nvSpPr>
        <p:spPr>
          <a:xfrm>
            <a:off x="6446520" y="2267712"/>
            <a:ext cx="5577840" cy="301752"/>
          </a:xfrm>
          <a:prstGeom prst="rect">
            <a:avLst/>
          </a:prstGeom>
          <a:noFill/>
        </p:spPr>
        <p:txBody>
          <a:bodyPr wrap="square">
            <a:spAutoFit/>
          </a:bodyPr>
          <a:lstStyle/>
          <a:p>
            <a:pPr algn="l"/>
            <a:r>
              <a:rPr sz="900" b="0" i="0">
                <a:solidFill>
                  <a:srgbClr val="444455"/>
                </a:solidFill>
              </a:rPr>
              <a:t>• FINRA: AI outputs = regulated communications (2025)</a:t>
            </a:r>
          </a:p>
        </p:txBody>
      </p:sp>
      <p:sp>
        <p:nvSpPr>
          <p:cNvPr id="19" name="TextBox 18"/>
          <p:cNvSpPr txBox="1"/>
          <p:nvPr/>
        </p:nvSpPr>
        <p:spPr>
          <a:xfrm>
            <a:off x="6446520" y="2592324"/>
            <a:ext cx="5577840" cy="301752"/>
          </a:xfrm>
          <a:prstGeom prst="rect">
            <a:avLst/>
          </a:prstGeom>
          <a:noFill/>
        </p:spPr>
        <p:txBody>
          <a:bodyPr wrap="square">
            <a:spAutoFit/>
          </a:bodyPr>
          <a:lstStyle/>
          <a:p>
            <a:pPr algn="l"/>
            <a:r>
              <a:rPr sz="900" b="0" i="0">
                <a:solidFill>
                  <a:srgbClr val="444455"/>
                </a:solidFill>
              </a:rPr>
              <a:t>• SOX: AI agents touching financials = internal control risk</a:t>
            </a:r>
          </a:p>
        </p:txBody>
      </p:sp>
      <p:sp>
        <p:nvSpPr>
          <p:cNvPr id="20" name="TextBox 19"/>
          <p:cNvSpPr txBox="1"/>
          <p:nvPr/>
        </p:nvSpPr>
        <p:spPr>
          <a:xfrm>
            <a:off x="6446520" y="2916936"/>
            <a:ext cx="5577840" cy="301752"/>
          </a:xfrm>
          <a:prstGeom prst="rect">
            <a:avLst/>
          </a:prstGeom>
          <a:noFill/>
        </p:spPr>
        <p:txBody>
          <a:bodyPr wrap="square">
            <a:spAutoFit/>
          </a:bodyPr>
          <a:lstStyle/>
          <a:p>
            <a:pPr algn="l"/>
            <a:r>
              <a:rPr sz="900" b="0" i="0">
                <a:solidFill>
                  <a:srgbClr val="444455"/>
                </a:solidFill>
              </a:rPr>
              <a:t>• Model explainability required for credit decisions</a:t>
            </a:r>
          </a:p>
        </p:txBody>
      </p:sp>
      <p:sp>
        <p:nvSpPr>
          <p:cNvPr id="21" name="TextBox 20"/>
          <p:cNvSpPr txBox="1"/>
          <p:nvPr/>
        </p:nvSpPr>
        <p:spPr>
          <a:xfrm>
            <a:off x="6446520" y="3241548"/>
            <a:ext cx="5577840" cy="301752"/>
          </a:xfrm>
          <a:prstGeom prst="rect">
            <a:avLst/>
          </a:prstGeom>
          <a:noFill/>
        </p:spPr>
        <p:txBody>
          <a:bodyPr wrap="square">
            <a:spAutoFit/>
          </a:bodyPr>
          <a:lstStyle/>
          <a:p>
            <a:pPr algn="l"/>
            <a:r>
              <a:rPr sz="900" b="0" i="0">
                <a:solidFill>
                  <a:srgbClr val="444455"/>
                </a:solidFill>
              </a:rPr>
              <a:t>• Real-time fraud detection: latency vs. accuracy tradeoffs</a:t>
            </a:r>
          </a:p>
        </p:txBody>
      </p:sp>
      <p:sp>
        <p:nvSpPr>
          <p:cNvPr id="22" name="TextBox 21"/>
          <p:cNvSpPr txBox="1"/>
          <p:nvPr/>
        </p:nvSpPr>
        <p:spPr>
          <a:xfrm>
            <a:off x="6446520" y="3566160"/>
            <a:ext cx="5577840" cy="301752"/>
          </a:xfrm>
          <a:prstGeom prst="rect">
            <a:avLst/>
          </a:prstGeom>
          <a:noFill/>
        </p:spPr>
        <p:txBody>
          <a:bodyPr wrap="square">
            <a:spAutoFit/>
          </a:bodyPr>
          <a:lstStyle/>
          <a:p>
            <a:pPr algn="l"/>
            <a:r>
              <a:rPr sz="900" b="0" i="0">
                <a:solidFill>
                  <a:srgbClr val="444455"/>
                </a:solidFill>
              </a:rPr>
              <a:t>• Regulatory change velocity outpaces model retraining cycles</a:t>
            </a:r>
          </a:p>
        </p:txBody>
      </p:sp>
      <p:sp>
        <p:nvSpPr>
          <p:cNvPr id="23" name="TextBox 22"/>
          <p:cNvSpPr txBox="1"/>
          <p:nvPr/>
        </p:nvSpPr>
        <p:spPr>
          <a:xfrm>
            <a:off x="6446520" y="3890772"/>
            <a:ext cx="5577840" cy="301752"/>
          </a:xfrm>
          <a:prstGeom prst="rect">
            <a:avLst/>
          </a:prstGeom>
          <a:noFill/>
        </p:spPr>
        <p:txBody>
          <a:bodyPr wrap="square">
            <a:spAutoFit/>
          </a:bodyPr>
          <a:lstStyle/>
          <a:p>
            <a:pPr algn="l"/>
            <a:r>
              <a:rPr sz="900" b="0" i="0">
                <a:solidFill>
                  <a:srgbClr val="444455"/>
                </a:solidFill>
              </a:rPr>
              <a:t>• FSOC 2024: AI named as systemic financial stability risk</a:t>
            </a:r>
          </a:p>
        </p:txBody>
      </p:sp>
      <p:sp>
        <p:nvSpPr>
          <p:cNvPr id="24" name="Rectangle 23"/>
          <p:cNvSpPr/>
          <p:nvPr/>
        </p:nvSpPr>
        <p:spPr>
          <a:xfrm>
            <a:off x="274320" y="4389120"/>
            <a:ext cx="5852160" cy="2377440"/>
          </a:xfrm>
          <a:prstGeom prst="rect">
            <a:avLst/>
          </a:prstGeom>
          <a:solidFill>
            <a:srgbClr val="E8F0FE"/>
          </a:solidFill>
          <a:ln w="1905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4389120"/>
            <a:ext cx="5852160" cy="365760"/>
          </a:xfrm>
          <a:prstGeom prst="rect">
            <a:avLst/>
          </a:prstGeom>
          <a:solidFill>
            <a:srgbClr val="1A5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4434840"/>
            <a:ext cx="5669280" cy="292608"/>
          </a:xfrm>
          <a:prstGeom prst="rect">
            <a:avLst/>
          </a:prstGeom>
          <a:noFill/>
        </p:spPr>
        <p:txBody>
          <a:bodyPr wrap="square">
            <a:spAutoFit/>
          </a:bodyPr>
          <a:lstStyle/>
          <a:p>
            <a:pPr algn="l"/>
            <a:r>
              <a:rPr sz="1100" b="1" i="0">
                <a:solidFill>
                  <a:srgbClr val="FFFFFF"/>
                </a:solidFill>
              </a:rPr>
              <a:t>Manufacturing</a:t>
            </a:r>
          </a:p>
        </p:txBody>
      </p:sp>
      <p:sp>
        <p:nvSpPr>
          <p:cNvPr id="27" name="TextBox 26"/>
          <p:cNvSpPr txBox="1"/>
          <p:nvPr/>
        </p:nvSpPr>
        <p:spPr>
          <a:xfrm>
            <a:off x="411479" y="4828031"/>
            <a:ext cx="5577840" cy="301752"/>
          </a:xfrm>
          <a:prstGeom prst="rect">
            <a:avLst/>
          </a:prstGeom>
          <a:noFill/>
        </p:spPr>
        <p:txBody>
          <a:bodyPr wrap="square">
            <a:spAutoFit/>
          </a:bodyPr>
          <a:lstStyle/>
          <a:p>
            <a:pPr algn="l"/>
            <a:r>
              <a:rPr sz="900" b="0" i="0">
                <a:solidFill>
                  <a:srgbClr val="444455"/>
                </a:solidFill>
              </a:rPr>
              <a:t>• OT/IT gap: factory floor systems not designed for AI connectivity</a:t>
            </a:r>
          </a:p>
        </p:txBody>
      </p:sp>
      <p:sp>
        <p:nvSpPr>
          <p:cNvPr id="28" name="TextBox 27"/>
          <p:cNvSpPr txBox="1"/>
          <p:nvPr/>
        </p:nvSpPr>
        <p:spPr>
          <a:xfrm>
            <a:off x="411479" y="5152644"/>
            <a:ext cx="5577840" cy="301752"/>
          </a:xfrm>
          <a:prstGeom prst="rect">
            <a:avLst/>
          </a:prstGeom>
          <a:noFill/>
        </p:spPr>
        <p:txBody>
          <a:bodyPr wrap="square">
            <a:spAutoFit/>
          </a:bodyPr>
          <a:lstStyle/>
          <a:p>
            <a:pPr algn="l"/>
            <a:r>
              <a:rPr sz="900" b="0" i="0">
                <a:solidFill>
                  <a:srgbClr val="444455"/>
                </a:solidFill>
              </a:rPr>
              <a:t>• Physical safety: AI error in production = equipment damage/injury</a:t>
            </a:r>
          </a:p>
        </p:txBody>
      </p:sp>
      <p:sp>
        <p:nvSpPr>
          <p:cNvPr id="29" name="TextBox 28"/>
          <p:cNvSpPr txBox="1"/>
          <p:nvPr/>
        </p:nvSpPr>
        <p:spPr>
          <a:xfrm>
            <a:off x="411479" y="5477255"/>
            <a:ext cx="5577840" cy="301752"/>
          </a:xfrm>
          <a:prstGeom prst="rect">
            <a:avLst/>
          </a:prstGeom>
          <a:noFill/>
        </p:spPr>
        <p:txBody>
          <a:bodyPr wrap="square">
            <a:spAutoFit/>
          </a:bodyPr>
          <a:lstStyle/>
          <a:p>
            <a:pPr algn="l"/>
            <a:r>
              <a:rPr sz="900" b="0" i="0">
                <a:solidFill>
                  <a:srgbClr val="444455"/>
                </a:solidFill>
              </a:rPr>
              <a:t>• Unstructured machine data: sensor streams hard to label</a:t>
            </a:r>
          </a:p>
        </p:txBody>
      </p:sp>
      <p:sp>
        <p:nvSpPr>
          <p:cNvPr id="30" name="TextBox 29"/>
          <p:cNvSpPr txBox="1"/>
          <p:nvPr/>
        </p:nvSpPr>
        <p:spPr>
          <a:xfrm>
            <a:off x="411479" y="5801867"/>
            <a:ext cx="5577840" cy="301752"/>
          </a:xfrm>
          <a:prstGeom prst="rect">
            <a:avLst/>
          </a:prstGeom>
          <a:noFill/>
        </p:spPr>
        <p:txBody>
          <a:bodyPr wrap="square">
            <a:spAutoFit/>
          </a:bodyPr>
          <a:lstStyle/>
          <a:p>
            <a:pPr algn="l"/>
            <a:r>
              <a:rPr sz="900" b="0" i="0">
                <a:solidFill>
                  <a:srgbClr val="444455"/>
                </a:solidFill>
              </a:rPr>
              <a:t>• Skilled trades shortage (2M+ unfilled jobs by 2030) limits human-AI teaming</a:t>
            </a:r>
          </a:p>
        </p:txBody>
      </p:sp>
      <p:sp>
        <p:nvSpPr>
          <p:cNvPr id="31" name="TextBox 30"/>
          <p:cNvSpPr txBox="1"/>
          <p:nvPr/>
        </p:nvSpPr>
        <p:spPr>
          <a:xfrm>
            <a:off x="411479" y="6126479"/>
            <a:ext cx="5577840" cy="301752"/>
          </a:xfrm>
          <a:prstGeom prst="rect">
            <a:avLst/>
          </a:prstGeom>
          <a:noFill/>
        </p:spPr>
        <p:txBody>
          <a:bodyPr wrap="square">
            <a:spAutoFit/>
          </a:bodyPr>
          <a:lstStyle/>
          <a:p>
            <a:pPr algn="l"/>
            <a:r>
              <a:rPr sz="900" b="0" i="0">
                <a:solidFill>
                  <a:srgbClr val="444455"/>
                </a:solidFill>
              </a:rPr>
              <a:t>• 34% YoY increase in cyberattacks on AI-integrated plants</a:t>
            </a:r>
          </a:p>
        </p:txBody>
      </p:sp>
      <p:sp>
        <p:nvSpPr>
          <p:cNvPr id="32" name="TextBox 31"/>
          <p:cNvSpPr txBox="1"/>
          <p:nvPr/>
        </p:nvSpPr>
        <p:spPr>
          <a:xfrm>
            <a:off x="411479" y="6451092"/>
            <a:ext cx="5577840" cy="301752"/>
          </a:xfrm>
          <a:prstGeom prst="rect">
            <a:avLst/>
          </a:prstGeom>
          <a:noFill/>
        </p:spPr>
        <p:txBody>
          <a:bodyPr wrap="square">
            <a:spAutoFit/>
          </a:bodyPr>
          <a:lstStyle/>
          <a:p>
            <a:pPr algn="l"/>
            <a:r>
              <a:rPr sz="900" b="0" i="0">
                <a:solidFill>
                  <a:srgbClr val="444455"/>
                </a:solidFill>
              </a:rPr>
              <a:t>• Long ROI cycles: equipment investment amortizes over decades</a:t>
            </a:r>
          </a:p>
        </p:txBody>
      </p:sp>
      <p:sp>
        <p:nvSpPr>
          <p:cNvPr id="33" name="Rectangle 32"/>
          <p:cNvSpPr/>
          <p:nvPr/>
        </p:nvSpPr>
        <p:spPr>
          <a:xfrm>
            <a:off x="6309359" y="4389120"/>
            <a:ext cx="5852160" cy="2377440"/>
          </a:xfrm>
          <a:prstGeom prst="rect">
            <a:avLst/>
          </a:prstGeom>
          <a:solidFill>
            <a:srgbClr val="F0FFF4"/>
          </a:solidFill>
          <a:ln w="19050">
            <a:solidFill>
              <a:srgbClr val="1E8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09359" y="4389120"/>
            <a:ext cx="5852160" cy="365760"/>
          </a:xfrm>
          <a:prstGeom prst="rect">
            <a:avLst/>
          </a:prstGeom>
          <a:solidFill>
            <a:srgbClr val="1E8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19088" y="4434840"/>
            <a:ext cx="5669280" cy="292608"/>
          </a:xfrm>
          <a:prstGeom prst="rect">
            <a:avLst/>
          </a:prstGeom>
          <a:noFill/>
        </p:spPr>
        <p:txBody>
          <a:bodyPr wrap="square">
            <a:spAutoFit/>
          </a:bodyPr>
          <a:lstStyle/>
          <a:p>
            <a:pPr algn="l"/>
            <a:r>
              <a:rPr sz="1100" b="1" i="0">
                <a:solidFill>
                  <a:srgbClr val="FFFFFF"/>
                </a:solidFill>
              </a:rPr>
              <a:t>Retail</a:t>
            </a:r>
          </a:p>
        </p:txBody>
      </p:sp>
      <p:sp>
        <p:nvSpPr>
          <p:cNvPr id="36" name="TextBox 35"/>
          <p:cNvSpPr txBox="1"/>
          <p:nvPr/>
        </p:nvSpPr>
        <p:spPr>
          <a:xfrm>
            <a:off x="6446520" y="4828031"/>
            <a:ext cx="5577840" cy="301752"/>
          </a:xfrm>
          <a:prstGeom prst="rect">
            <a:avLst/>
          </a:prstGeom>
          <a:noFill/>
        </p:spPr>
        <p:txBody>
          <a:bodyPr wrap="square">
            <a:spAutoFit/>
          </a:bodyPr>
          <a:lstStyle/>
          <a:p>
            <a:pPr algn="l"/>
            <a:r>
              <a:rPr sz="900" b="0" i="0">
                <a:solidFill>
                  <a:srgbClr val="444455"/>
                </a:solidFill>
              </a:rPr>
              <a:t>• Amazon Go collapse: AI cashierless at scale → hidden labor costs</a:t>
            </a:r>
          </a:p>
        </p:txBody>
      </p:sp>
      <p:sp>
        <p:nvSpPr>
          <p:cNvPr id="37" name="TextBox 36"/>
          <p:cNvSpPr txBox="1"/>
          <p:nvPr/>
        </p:nvSpPr>
        <p:spPr>
          <a:xfrm>
            <a:off x="6446520" y="5152644"/>
            <a:ext cx="5577840" cy="301752"/>
          </a:xfrm>
          <a:prstGeom prst="rect">
            <a:avLst/>
          </a:prstGeom>
          <a:noFill/>
        </p:spPr>
        <p:txBody>
          <a:bodyPr wrap="square">
            <a:spAutoFit/>
          </a:bodyPr>
          <a:lstStyle/>
          <a:p>
            <a:pPr algn="l"/>
            <a:r>
              <a:rPr sz="900" b="0" i="0">
                <a:solidFill>
                  <a:srgbClr val="444455"/>
                </a:solidFill>
              </a:rPr>
              <a:t>• Personalization at scale vs. privacy regulations (CCPA)</a:t>
            </a:r>
          </a:p>
        </p:txBody>
      </p:sp>
      <p:sp>
        <p:nvSpPr>
          <p:cNvPr id="38" name="TextBox 37"/>
          <p:cNvSpPr txBox="1"/>
          <p:nvPr/>
        </p:nvSpPr>
        <p:spPr>
          <a:xfrm>
            <a:off x="6446520" y="5477255"/>
            <a:ext cx="5577840" cy="301752"/>
          </a:xfrm>
          <a:prstGeom prst="rect">
            <a:avLst/>
          </a:prstGeom>
          <a:noFill/>
        </p:spPr>
        <p:txBody>
          <a:bodyPr wrap="square">
            <a:spAutoFit/>
          </a:bodyPr>
          <a:lstStyle/>
          <a:p>
            <a:pPr algn="l"/>
            <a:r>
              <a:rPr sz="900" b="0" i="0">
                <a:solidFill>
                  <a:srgbClr val="444455"/>
                </a:solidFill>
              </a:rPr>
              <a:t>• Real-time inventory AI: supply chain data is messy &amp; delayed</a:t>
            </a:r>
          </a:p>
        </p:txBody>
      </p:sp>
      <p:sp>
        <p:nvSpPr>
          <p:cNvPr id="39" name="TextBox 38"/>
          <p:cNvSpPr txBox="1"/>
          <p:nvPr/>
        </p:nvSpPr>
        <p:spPr>
          <a:xfrm>
            <a:off x="6446520" y="5801867"/>
            <a:ext cx="5577840" cy="301752"/>
          </a:xfrm>
          <a:prstGeom prst="rect">
            <a:avLst/>
          </a:prstGeom>
          <a:noFill/>
        </p:spPr>
        <p:txBody>
          <a:bodyPr wrap="square">
            <a:spAutoFit/>
          </a:bodyPr>
          <a:lstStyle/>
          <a:p>
            <a:pPr algn="l"/>
            <a:r>
              <a:rPr sz="900" b="0" i="0">
                <a:solidFill>
                  <a:srgbClr val="444455"/>
                </a:solidFill>
              </a:rPr>
              <a:t>• Consumer trust: customers increasingly wary of AI pricing</a:t>
            </a:r>
          </a:p>
        </p:txBody>
      </p:sp>
      <p:sp>
        <p:nvSpPr>
          <p:cNvPr id="40" name="TextBox 39"/>
          <p:cNvSpPr txBox="1"/>
          <p:nvPr/>
        </p:nvSpPr>
        <p:spPr>
          <a:xfrm>
            <a:off x="6446520" y="6126479"/>
            <a:ext cx="5577840" cy="301752"/>
          </a:xfrm>
          <a:prstGeom prst="rect">
            <a:avLst/>
          </a:prstGeom>
          <a:noFill/>
        </p:spPr>
        <p:txBody>
          <a:bodyPr wrap="square">
            <a:spAutoFit/>
          </a:bodyPr>
          <a:lstStyle/>
          <a:p>
            <a:pPr algn="l"/>
            <a:r>
              <a:rPr sz="900" b="0" i="0">
                <a:solidFill>
                  <a:srgbClr val="444455"/>
                </a:solidFill>
              </a:rPr>
              <a:t>• Returns fraud: AI detection models easily gamed by repeat actors</a:t>
            </a:r>
          </a:p>
        </p:txBody>
      </p:sp>
      <p:sp>
        <p:nvSpPr>
          <p:cNvPr id="41" name="TextBox 40"/>
          <p:cNvSpPr txBox="1"/>
          <p:nvPr/>
        </p:nvSpPr>
        <p:spPr>
          <a:xfrm>
            <a:off x="6446520" y="6451092"/>
            <a:ext cx="5577840" cy="301752"/>
          </a:xfrm>
          <a:prstGeom prst="rect">
            <a:avLst/>
          </a:prstGeom>
          <a:noFill/>
        </p:spPr>
        <p:txBody>
          <a:bodyPr wrap="square">
            <a:spAutoFit/>
          </a:bodyPr>
          <a:lstStyle/>
          <a:p>
            <a:pPr algn="l"/>
            <a:r>
              <a:rPr sz="900" b="0" i="0">
                <a:solidFill>
                  <a:srgbClr val="444455"/>
                </a:solidFill>
              </a:rPr>
              <a:t>• Thin margins: even 1–2% AI error rate is economically destructive</a:t>
            </a:r>
          </a:p>
        </p:txBody>
      </p:sp>
      <p:sp>
        <p:nvSpPr>
          <p:cNvPr id="42" name="TextBox 41"/>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Sources: HIPAA Journal · FINRA 2025 Report · ERP Today Manufacturing Report · Axios/Fast Company Amazon Go · FSOC Annual Report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Challenge Severity Matrix — Summary</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7 universal challenges ranked by enterprise impact  |  U.S. AI Deployment 2024–2026</a:t>
            </a:r>
          </a:p>
        </p:txBody>
      </p:sp>
      <p:sp>
        <p:nvSpPr>
          <p:cNvPr id="5" name="Rectangle 4"/>
          <p:cNvSpPr/>
          <p:nvPr/>
        </p:nvSpPr>
        <p:spPr>
          <a:xfrm>
            <a:off x="228600" y="1417320"/>
            <a:ext cx="1170432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01752" y="1463040"/>
            <a:ext cx="3017520" cy="320040"/>
          </a:xfrm>
          <a:prstGeom prst="rect">
            <a:avLst/>
          </a:prstGeom>
          <a:noFill/>
        </p:spPr>
        <p:txBody>
          <a:bodyPr wrap="square">
            <a:spAutoFit/>
          </a:bodyPr>
          <a:lstStyle/>
          <a:p>
            <a:pPr algn="l"/>
            <a:r>
              <a:rPr sz="950" b="1" i="0">
                <a:solidFill>
                  <a:srgbClr val="FFFFFF"/>
                </a:solidFill>
              </a:rPr>
              <a:t>Challenge</a:t>
            </a:r>
          </a:p>
        </p:txBody>
      </p:sp>
      <p:sp>
        <p:nvSpPr>
          <p:cNvPr id="7" name="TextBox 6"/>
          <p:cNvSpPr txBox="1"/>
          <p:nvPr/>
        </p:nvSpPr>
        <p:spPr>
          <a:xfrm>
            <a:off x="3364991" y="1463040"/>
            <a:ext cx="914400" cy="320040"/>
          </a:xfrm>
          <a:prstGeom prst="rect">
            <a:avLst/>
          </a:prstGeom>
          <a:noFill/>
        </p:spPr>
        <p:txBody>
          <a:bodyPr wrap="square">
            <a:spAutoFit/>
          </a:bodyPr>
          <a:lstStyle/>
          <a:p>
            <a:pPr algn="l"/>
            <a:r>
              <a:rPr sz="950" b="1" i="0">
                <a:solidFill>
                  <a:srgbClr val="FFFFFF"/>
                </a:solidFill>
              </a:rPr>
              <a:t>Severity</a:t>
            </a:r>
          </a:p>
        </p:txBody>
      </p:sp>
      <p:sp>
        <p:nvSpPr>
          <p:cNvPr id="8" name="TextBox 7"/>
          <p:cNvSpPr txBox="1"/>
          <p:nvPr/>
        </p:nvSpPr>
        <p:spPr>
          <a:xfrm>
            <a:off x="4325112" y="1463040"/>
            <a:ext cx="1005840" cy="320040"/>
          </a:xfrm>
          <a:prstGeom prst="rect">
            <a:avLst/>
          </a:prstGeom>
          <a:noFill/>
        </p:spPr>
        <p:txBody>
          <a:bodyPr wrap="square">
            <a:spAutoFit/>
          </a:bodyPr>
          <a:lstStyle/>
          <a:p>
            <a:pPr algn="l"/>
            <a:r>
              <a:rPr sz="950" b="1" i="0">
                <a:solidFill>
                  <a:srgbClr val="FFFFFF"/>
                </a:solidFill>
              </a:rPr>
              <a:t>Prevalence</a:t>
            </a:r>
          </a:p>
        </p:txBody>
      </p:sp>
      <p:sp>
        <p:nvSpPr>
          <p:cNvPr id="9" name="TextBox 8"/>
          <p:cNvSpPr txBox="1"/>
          <p:nvPr/>
        </p:nvSpPr>
        <p:spPr>
          <a:xfrm>
            <a:off x="5376672" y="1463040"/>
            <a:ext cx="4846320" cy="320040"/>
          </a:xfrm>
          <a:prstGeom prst="rect">
            <a:avLst/>
          </a:prstGeom>
          <a:noFill/>
        </p:spPr>
        <p:txBody>
          <a:bodyPr wrap="square">
            <a:spAutoFit/>
          </a:bodyPr>
          <a:lstStyle/>
          <a:p>
            <a:pPr algn="l"/>
            <a:r>
              <a:rPr sz="950" b="1" i="0">
                <a:solidFill>
                  <a:srgbClr val="FFFFFF"/>
                </a:solidFill>
              </a:rPr>
              <a:t>Key Statistic</a:t>
            </a:r>
          </a:p>
        </p:txBody>
      </p:sp>
      <p:sp>
        <p:nvSpPr>
          <p:cNvPr id="10" name="TextBox 9"/>
          <p:cNvSpPr txBox="1"/>
          <p:nvPr/>
        </p:nvSpPr>
        <p:spPr>
          <a:xfrm>
            <a:off x="10268712" y="1463040"/>
            <a:ext cx="2011680" cy="320040"/>
          </a:xfrm>
          <a:prstGeom prst="rect">
            <a:avLst/>
          </a:prstGeom>
          <a:noFill/>
        </p:spPr>
        <p:txBody>
          <a:bodyPr wrap="square">
            <a:spAutoFit/>
          </a:bodyPr>
          <a:lstStyle/>
          <a:p>
            <a:pPr algn="l"/>
            <a:r>
              <a:rPr sz="950" b="1" i="0">
                <a:solidFill>
                  <a:srgbClr val="FFFFFF"/>
                </a:solidFill>
              </a:rPr>
              <a:t>Primary Source</a:t>
            </a:r>
          </a:p>
        </p:txBody>
      </p:sp>
      <p:sp>
        <p:nvSpPr>
          <p:cNvPr id="11" name="Rectangle 10"/>
          <p:cNvSpPr/>
          <p:nvPr/>
        </p:nvSpPr>
        <p:spPr>
          <a:xfrm>
            <a:off x="228600" y="1874519"/>
            <a:ext cx="11704320" cy="6217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 y="1984248"/>
            <a:ext cx="2926079" cy="411480"/>
          </a:xfrm>
          <a:prstGeom prst="rect">
            <a:avLst/>
          </a:prstGeom>
          <a:noFill/>
        </p:spPr>
        <p:txBody>
          <a:bodyPr wrap="square">
            <a:spAutoFit/>
          </a:bodyPr>
          <a:lstStyle/>
          <a:p>
            <a:pPr algn="l"/>
            <a:r>
              <a:rPr sz="950" b="0" i="0">
                <a:solidFill>
                  <a:srgbClr val="444455"/>
                </a:solidFill>
              </a:rPr>
              <a:t>Data Quality &amp; Infrastructure</a:t>
            </a:r>
          </a:p>
        </p:txBody>
      </p:sp>
      <p:sp>
        <p:nvSpPr>
          <p:cNvPr id="13" name="TextBox 12"/>
          <p:cNvSpPr txBox="1"/>
          <p:nvPr/>
        </p:nvSpPr>
        <p:spPr>
          <a:xfrm>
            <a:off x="3364991" y="1984248"/>
            <a:ext cx="822960" cy="411480"/>
          </a:xfrm>
          <a:prstGeom prst="rect">
            <a:avLst/>
          </a:prstGeom>
          <a:noFill/>
        </p:spPr>
        <p:txBody>
          <a:bodyPr wrap="square">
            <a:spAutoFit/>
          </a:bodyPr>
          <a:lstStyle/>
          <a:p>
            <a:pPr algn="l"/>
            <a:r>
              <a:rPr sz="900" b="1" i="0">
                <a:solidFill>
                  <a:srgbClr val="C0392B"/>
                </a:solidFill>
              </a:rPr>
              <a:t>CRITICAL</a:t>
            </a:r>
          </a:p>
        </p:txBody>
      </p:sp>
      <p:sp>
        <p:nvSpPr>
          <p:cNvPr id="14" name="TextBox 13"/>
          <p:cNvSpPr txBox="1"/>
          <p:nvPr/>
        </p:nvSpPr>
        <p:spPr>
          <a:xfrm>
            <a:off x="4325112" y="1984248"/>
            <a:ext cx="914400" cy="411480"/>
          </a:xfrm>
          <a:prstGeom prst="rect">
            <a:avLst/>
          </a:prstGeom>
          <a:noFill/>
        </p:spPr>
        <p:txBody>
          <a:bodyPr wrap="square">
            <a:spAutoFit/>
          </a:bodyPr>
          <a:lstStyle/>
          <a:p>
            <a:pPr algn="l"/>
            <a:r>
              <a:rPr sz="950" b="0" i="0">
                <a:solidFill>
                  <a:srgbClr val="444455"/>
                </a:solidFill>
              </a:rPr>
              <a:t>73%</a:t>
            </a:r>
          </a:p>
        </p:txBody>
      </p:sp>
      <p:sp>
        <p:nvSpPr>
          <p:cNvPr id="15" name="TextBox 14"/>
          <p:cNvSpPr txBox="1"/>
          <p:nvPr/>
        </p:nvSpPr>
        <p:spPr>
          <a:xfrm>
            <a:off x="5376672" y="1984248"/>
            <a:ext cx="4754880" cy="411480"/>
          </a:xfrm>
          <a:prstGeom prst="rect">
            <a:avLst/>
          </a:prstGeom>
          <a:noFill/>
        </p:spPr>
        <p:txBody>
          <a:bodyPr wrap="square">
            <a:spAutoFit/>
          </a:bodyPr>
          <a:lstStyle/>
          <a:p>
            <a:pPr algn="l"/>
            <a:r>
              <a:rPr sz="950" b="0" i="0">
                <a:solidFill>
                  <a:srgbClr val="444455"/>
                </a:solidFill>
              </a:rPr>
              <a:t>73% cite data quality as #1 barrier (Forrester)</a:t>
            </a:r>
          </a:p>
        </p:txBody>
      </p:sp>
      <p:sp>
        <p:nvSpPr>
          <p:cNvPr id="16" name="TextBox 15"/>
          <p:cNvSpPr txBox="1"/>
          <p:nvPr/>
        </p:nvSpPr>
        <p:spPr>
          <a:xfrm>
            <a:off x="10268712" y="1984248"/>
            <a:ext cx="1920240" cy="411480"/>
          </a:xfrm>
          <a:prstGeom prst="rect">
            <a:avLst/>
          </a:prstGeom>
          <a:noFill/>
        </p:spPr>
        <p:txBody>
          <a:bodyPr wrap="square">
            <a:spAutoFit/>
          </a:bodyPr>
          <a:lstStyle/>
          <a:p>
            <a:pPr algn="l"/>
            <a:r>
              <a:rPr sz="950" b="0" i="0">
                <a:solidFill>
                  <a:srgbClr val="444455"/>
                </a:solidFill>
              </a:rPr>
              <a:t>Gartner / Forrester</a:t>
            </a:r>
          </a:p>
        </p:txBody>
      </p:sp>
      <p:sp>
        <p:nvSpPr>
          <p:cNvPr id="17" name="Rectangle 16"/>
          <p:cNvSpPr/>
          <p:nvPr/>
        </p:nvSpPr>
        <p:spPr>
          <a:xfrm>
            <a:off x="228600" y="2514600"/>
            <a:ext cx="11704320" cy="621792"/>
          </a:xfrm>
          <a:prstGeom prst="rect">
            <a:avLst/>
          </a:prstGeom>
          <a:solidFill>
            <a:srgbClr val="F4F6F9"/>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 y="2624328"/>
            <a:ext cx="2926079" cy="411480"/>
          </a:xfrm>
          <a:prstGeom prst="rect">
            <a:avLst/>
          </a:prstGeom>
          <a:noFill/>
        </p:spPr>
        <p:txBody>
          <a:bodyPr wrap="square">
            <a:spAutoFit/>
          </a:bodyPr>
          <a:lstStyle/>
          <a:p>
            <a:pPr algn="l"/>
            <a:r>
              <a:rPr sz="950" b="0" i="0">
                <a:solidFill>
                  <a:srgbClr val="444455"/>
                </a:solidFill>
              </a:rPr>
              <a:t>Legacy System Integration</a:t>
            </a:r>
          </a:p>
        </p:txBody>
      </p:sp>
      <p:sp>
        <p:nvSpPr>
          <p:cNvPr id="19" name="TextBox 18"/>
          <p:cNvSpPr txBox="1"/>
          <p:nvPr/>
        </p:nvSpPr>
        <p:spPr>
          <a:xfrm>
            <a:off x="3364991" y="2624328"/>
            <a:ext cx="822960" cy="411480"/>
          </a:xfrm>
          <a:prstGeom prst="rect">
            <a:avLst/>
          </a:prstGeom>
          <a:noFill/>
        </p:spPr>
        <p:txBody>
          <a:bodyPr wrap="square">
            <a:spAutoFit/>
          </a:bodyPr>
          <a:lstStyle/>
          <a:p>
            <a:pPr algn="l"/>
            <a:r>
              <a:rPr sz="900" b="1" i="0">
                <a:solidFill>
                  <a:srgbClr val="C0392B"/>
                </a:solidFill>
              </a:rPr>
              <a:t>CRITICAL</a:t>
            </a:r>
          </a:p>
        </p:txBody>
      </p:sp>
      <p:sp>
        <p:nvSpPr>
          <p:cNvPr id="20" name="TextBox 19"/>
          <p:cNvSpPr txBox="1"/>
          <p:nvPr/>
        </p:nvSpPr>
        <p:spPr>
          <a:xfrm>
            <a:off x="4325112" y="2624328"/>
            <a:ext cx="914400" cy="411480"/>
          </a:xfrm>
          <a:prstGeom prst="rect">
            <a:avLst/>
          </a:prstGeom>
          <a:noFill/>
        </p:spPr>
        <p:txBody>
          <a:bodyPr wrap="square">
            <a:spAutoFit/>
          </a:bodyPr>
          <a:lstStyle/>
          <a:p>
            <a:pPr algn="l"/>
            <a:r>
              <a:rPr sz="950" b="0" i="0">
                <a:solidFill>
                  <a:srgbClr val="444455"/>
                </a:solidFill>
              </a:rPr>
              <a:t>95%</a:t>
            </a:r>
          </a:p>
        </p:txBody>
      </p:sp>
      <p:sp>
        <p:nvSpPr>
          <p:cNvPr id="21" name="TextBox 20"/>
          <p:cNvSpPr txBox="1"/>
          <p:nvPr/>
        </p:nvSpPr>
        <p:spPr>
          <a:xfrm>
            <a:off x="5376672" y="2624328"/>
            <a:ext cx="4754880" cy="411480"/>
          </a:xfrm>
          <a:prstGeom prst="rect">
            <a:avLst/>
          </a:prstGeom>
          <a:noFill/>
        </p:spPr>
        <p:txBody>
          <a:bodyPr wrap="square">
            <a:spAutoFit/>
          </a:bodyPr>
          <a:lstStyle/>
          <a:p>
            <a:pPr algn="l"/>
            <a:r>
              <a:rPr sz="950" b="0" i="0">
                <a:solidFill>
                  <a:srgbClr val="444455"/>
                </a:solidFill>
              </a:rPr>
              <a:t>95% of IT leaders face integration hurdles (MuleSoft)</a:t>
            </a:r>
          </a:p>
        </p:txBody>
      </p:sp>
      <p:sp>
        <p:nvSpPr>
          <p:cNvPr id="22" name="TextBox 21"/>
          <p:cNvSpPr txBox="1"/>
          <p:nvPr/>
        </p:nvSpPr>
        <p:spPr>
          <a:xfrm>
            <a:off x="10268712" y="2624328"/>
            <a:ext cx="1920240" cy="411480"/>
          </a:xfrm>
          <a:prstGeom prst="rect">
            <a:avLst/>
          </a:prstGeom>
          <a:noFill/>
        </p:spPr>
        <p:txBody>
          <a:bodyPr wrap="square">
            <a:spAutoFit/>
          </a:bodyPr>
          <a:lstStyle/>
          <a:p>
            <a:pPr algn="l"/>
            <a:r>
              <a:rPr sz="950" b="0" i="0">
                <a:solidFill>
                  <a:srgbClr val="444455"/>
                </a:solidFill>
              </a:rPr>
              <a:t>MuleSoft 2025</a:t>
            </a:r>
          </a:p>
        </p:txBody>
      </p:sp>
      <p:sp>
        <p:nvSpPr>
          <p:cNvPr id="23" name="Rectangle 22"/>
          <p:cNvSpPr/>
          <p:nvPr/>
        </p:nvSpPr>
        <p:spPr>
          <a:xfrm>
            <a:off x="228600" y="3154679"/>
            <a:ext cx="11704320" cy="6217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 y="3264408"/>
            <a:ext cx="2926079" cy="411480"/>
          </a:xfrm>
          <a:prstGeom prst="rect">
            <a:avLst/>
          </a:prstGeom>
          <a:noFill/>
        </p:spPr>
        <p:txBody>
          <a:bodyPr wrap="square">
            <a:spAutoFit/>
          </a:bodyPr>
          <a:lstStyle/>
          <a:p>
            <a:pPr algn="l"/>
            <a:r>
              <a:rPr sz="950" b="0" i="0">
                <a:solidFill>
                  <a:srgbClr val="444455"/>
                </a:solidFill>
              </a:rPr>
              <a:t>ROI Measurement &amp; Cost Overruns</a:t>
            </a:r>
          </a:p>
        </p:txBody>
      </p:sp>
      <p:sp>
        <p:nvSpPr>
          <p:cNvPr id="25" name="TextBox 24"/>
          <p:cNvSpPr txBox="1"/>
          <p:nvPr/>
        </p:nvSpPr>
        <p:spPr>
          <a:xfrm>
            <a:off x="3364991" y="3264408"/>
            <a:ext cx="822960" cy="411480"/>
          </a:xfrm>
          <a:prstGeom prst="rect">
            <a:avLst/>
          </a:prstGeom>
          <a:noFill/>
        </p:spPr>
        <p:txBody>
          <a:bodyPr wrap="square">
            <a:spAutoFit/>
          </a:bodyPr>
          <a:lstStyle/>
          <a:p>
            <a:pPr algn="l"/>
            <a:r>
              <a:rPr sz="900" b="1" i="0">
                <a:solidFill>
                  <a:srgbClr val="E67E22"/>
                </a:solidFill>
              </a:rPr>
              <a:t>HIGH</a:t>
            </a:r>
          </a:p>
        </p:txBody>
      </p:sp>
      <p:sp>
        <p:nvSpPr>
          <p:cNvPr id="26" name="TextBox 25"/>
          <p:cNvSpPr txBox="1"/>
          <p:nvPr/>
        </p:nvSpPr>
        <p:spPr>
          <a:xfrm>
            <a:off x="4325112" y="3264408"/>
            <a:ext cx="914400" cy="411480"/>
          </a:xfrm>
          <a:prstGeom prst="rect">
            <a:avLst/>
          </a:prstGeom>
          <a:noFill/>
        </p:spPr>
        <p:txBody>
          <a:bodyPr wrap="square">
            <a:spAutoFit/>
          </a:bodyPr>
          <a:lstStyle/>
          <a:p>
            <a:pPr algn="l"/>
            <a:r>
              <a:rPr sz="950" b="0" i="0">
                <a:solidFill>
                  <a:srgbClr val="444455"/>
                </a:solidFill>
              </a:rPr>
              <a:t>85%</a:t>
            </a:r>
          </a:p>
        </p:txBody>
      </p:sp>
      <p:sp>
        <p:nvSpPr>
          <p:cNvPr id="27" name="TextBox 26"/>
          <p:cNvSpPr txBox="1"/>
          <p:nvPr/>
        </p:nvSpPr>
        <p:spPr>
          <a:xfrm>
            <a:off x="5376672" y="3264408"/>
            <a:ext cx="4754880" cy="411480"/>
          </a:xfrm>
          <a:prstGeom prst="rect">
            <a:avLst/>
          </a:prstGeom>
          <a:noFill/>
        </p:spPr>
        <p:txBody>
          <a:bodyPr wrap="square">
            <a:spAutoFit/>
          </a:bodyPr>
          <a:lstStyle/>
          <a:p>
            <a:pPr algn="l"/>
            <a:r>
              <a:rPr sz="950" b="0" i="0">
                <a:solidFill>
                  <a:srgbClr val="444455"/>
                </a:solidFill>
              </a:rPr>
              <a:t>85% misestimate costs &gt;10%; 43% report overruns</a:t>
            </a:r>
          </a:p>
        </p:txBody>
      </p:sp>
      <p:sp>
        <p:nvSpPr>
          <p:cNvPr id="28" name="TextBox 27"/>
          <p:cNvSpPr txBox="1"/>
          <p:nvPr/>
        </p:nvSpPr>
        <p:spPr>
          <a:xfrm>
            <a:off x="10268712" y="3264408"/>
            <a:ext cx="1920240" cy="411480"/>
          </a:xfrm>
          <a:prstGeom prst="rect">
            <a:avLst/>
          </a:prstGeom>
          <a:noFill/>
        </p:spPr>
        <p:txBody>
          <a:bodyPr wrap="square">
            <a:spAutoFit/>
          </a:bodyPr>
          <a:lstStyle/>
          <a:p>
            <a:pPr algn="l"/>
            <a:r>
              <a:rPr sz="950" b="0" i="0">
                <a:solidFill>
                  <a:srgbClr val="444455"/>
                </a:solidFill>
              </a:rPr>
              <a:t>Benchmarkit / Deloitte</a:t>
            </a:r>
          </a:p>
        </p:txBody>
      </p:sp>
      <p:sp>
        <p:nvSpPr>
          <p:cNvPr id="29" name="Rectangle 28"/>
          <p:cNvSpPr/>
          <p:nvPr/>
        </p:nvSpPr>
        <p:spPr>
          <a:xfrm>
            <a:off x="228600" y="3794759"/>
            <a:ext cx="11704320" cy="621792"/>
          </a:xfrm>
          <a:prstGeom prst="rect">
            <a:avLst/>
          </a:prstGeom>
          <a:solidFill>
            <a:srgbClr val="F4F6F9"/>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1752" y="3904487"/>
            <a:ext cx="2926079" cy="411480"/>
          </a:xfrm>
          <a:prstGeom prst="rect">
            <a:avLst/>
          </a:prstGeom>
          <a:noFill/>
        </p:spPr>
        <p:txBody>
          <a:bodyPr wrap="square">
            <a:spAutoFit/>
          </a:bodyPr>
          <a:lstStyle/>
          <a:p>
            <a:pPr algn="l"/>
            <a:r>
              <a:rPr sz="950" b="0" i="0">
                <a:solidFill>
                  <a:srgbClr val="444455"/>
                </a:solidFill>
              </a:rPr>
              <a:t>AI Talent Gap</a:t>
            </a:r>
          </a:p>
        </p:txBody>
      </p:sp>
      <p:sp>
        <p:nvSpPr>
          <p:cNvPr id="31" name="TextBox 30"/>
          <p:cNvSpPr txBox="1"/>
          <p:nvPr/>
        </p:nvSpPr>
        <p:spPr>
          <a:xfrm>
            <a:off x="3364991" y="3904487"/>
            <a:ext cx="822960" cy="411480"/>
          </a:xfrm>
          <a:prstGeom prst="rect">
            <a:avLst/>
          </a:prstGeom>
          <a:noFill/>
        </p:spPr>
        <p:txBody>
          <a:bodyPr wrap="square">
            <a:spAutoFit/>
          </a:bodyPr>
          <a:lstStyle/>
          <a:p>
            <a:pPr algn="l"/>
            <a:r>
              <a:rPr sz="900" b="1" i="0">
                <a:solidFill>
                  <a:srgbClr val="E67E22"/>
                </a:solidFill>
              </a:rPr>
              <a:t>HIGH</a:t>
            </a:r>
          </a:p>
        </p:txBody>
      </p:sp>
      <p:sp>
        <p:nvSpPr>
          <p:cNvPr id="32" name="TextBox 31"/>
          <p:cNvSpPr txBox="1"/>
          <p:nvPr/>
        </p:nvSpPr>
        <p:spPr>
          <a:xfrm>
            <a:off x="4325112" y="3904487"/>
            <a:ext cx="914400" cy="411480"/>
          </a:xfrm>
          <a:prstGeom prst="rect">
            <a:avLst/>
          </a:prstGeom>
          <a:noFill/>
        </p:spPr>
        <p:txBody>
          <a:bodyPr wrap="square">
            <a:spAutoFit/>
          </a:bodyPr>
          <a:lstStyle/>
          <a:p>
            <a:pPr algn="l"/>
            <a:r>
              <a:rPr sz="950" b="0" i="0">
                <a:solidFill>
                  <a:srgbClr val="444455"/>
                </a:solidFill>
              </a:rPr>
              <a:t>94%</a:t>
            </a:r>
          </a:p>
        </p:txBody>
      </p:sp>
      <p:sp>
        <p:nvSpPr>
          <p:cNvPr id="33" name="TextBox 32"/>
          <p:cNvSpPr txBox="1"/>
          <p:nvPr/>
        </p:nvSpPr>
        <p:spPr>
          <a:xfrm>
            <a:off x="5376672" y="3904487"/>
            <a:ext cx="4754880" cy="411480"/>
          </a:xfrm>
          <a:prstGeom prst="rect">
            <a:avLst/>
          </a:prstGeom>
          <a:noFill/>
        </p:spPr>
        <p:txBody>
          <a:bodyPr wrap="square">
            <a:spAutoFit/>
          </a:bodyPr>
          <a:lstStyle/>
          <a:p>
            <a:pPr algn="l"/>
            <a:r>
              <a:rPr sz="950" b="0" i="0">
                <a:solidFill>
                  <a:srgbClr val="444455"/>
                </a:solidFill>
              </a:rPr>
              <a:t>94% of leaders face critical skill shortages (IBM)</a:t>
            </a:r>
          </a:p>
        </p:txBody>
      </p:sp>
      <p:sp>
        <p:nvSpPr>
          <p:cNvPr id="34" name="TextBox 33"/>
          <p:cNvSpPr txBox="1"/>
          <p:nvPr/>
        </p:nvSpPr>
        <p:spPr>
          <a:xfrm>
            <a:off x="10268712" y="3904487"/>
            <a:ext cx="1920240" cy="411480"/>
          </a:xfrm>
          <a:prstGeom prst="rect">
            <a:avLst/>
          </a:prstGeom>
          <a:noFill/>
        </p:spPr>
        <p:txBody>
          <a:bodyPr wrap="square">
            <a:spAutoFit/>
          </a:bodyPr>
          <a:lstStyle/>
          <a:p>
            <a:pPr algn="l"/>
            <a:r>
              <a:rPr sz="950" b="0" i="0">
                <a:solidFill>
                  <a:srgbClr val="444455"/>
                </a:solidFill>
              </a:rPr>
              <a:t>IBM / Second Talent</a:t>
            </a:r>
          </a:p>
        </p:txBody>
      </p:sp>
      <p:sp>
        <p:nvSpPr>
          <p:cNvPr id="35" name="Rectangle 34"/>
          <p:cNvSpPr/>
          <p:nvPr/>
        </p:nvSpPr>
        <p:spPr>
          <a:xfrm>
            <a:off x="228600" y="4434840"/>
            <a:ext cx="11704320" cy="6217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1752" y="4544568"/>
            <a:ext cx="2926079" cy="411480"/>
          </a:xfrm>
          <a:prstGeom prst="rect">
            <a:avLst/>
          </a:prstGeom>
          <a:noFill/>
        </p:spPr>
        <p:txBody>
          <a:bodyPr wrap="square">
            <a:spAutoFit/>
          </a:bodyPr>
          <a:lstStyle/>
          <a:p>
            <a:pPr algn="l"/>
            <a:r>
              <a:rPr sz="950" b="0" i="0">
                <a:solidFill>
                  <a:srgbClr val="444455"/>
                </a:solidFill>
              </a:rPr>
              <a:t>Regulatory &amp; Compliance</a:t>
            </a:r>
          </a:p>
        </p:txBody>
      </p:sp>
      <p:sp>
        <p:nvSpPr>
          <p:cNvPr id="37" name="TextBox 36"/>
          <p:cNvSpPr txBox="1"/>
          <p:nvPr/>
        </p:nvSpPr>
        <p:spPr>
          <a:xfrm>
            <a:off x="3364991" y="4544568"/>
            <a:ext cx="822960" cy="411480"/>
          </a:xfrm>
          <a:prstGeom prst="rect">
            <a:avLst/>
          </a:prstGeom>
          <a:noFill/>
        </p:spPr>
        <p:txBody>
          <a:bodyPr wrap="square">
            <a:spAutoFit/>
          </a:bodyPr>
          <a:lstStyle/>
          <a:p>
            <a:pPr algn="l"/>
            <a:r>
              <a:rPr sz="900" b="1" i="0">
                <a:solidFill>
                  <a:srgbClr val="E67E22"/>
                </a:solidFill>
              </a:rPr>
              <a:t>HIGH</a:t>
            </a:r>
          </a:p>
        </p:txBody>
      </p:sp>
      <p:sp>
        <p:nvSpPr>
          <p:cNvPr id="38" name="TextBox 37"/>
          <p:cNvSpPr txBox="1"/>
          <p:nvPr/>
        </p:nvSpPr>
        <p:spPr>
          <a:xfrm>
            <a:off x="4325112" y="4544568"/>
            <a:ext cx="914400" cy="411480"/>
          </a:xfrm>
          <a:prstGeom prst="rect">
            <a:avLst/>
          </a:prstGeom>
          <a:noFill/>
        </p:spPr>
        <p:txBody>
          <a:bodyPr wrap="square">
            <a:spAutoFit/>
          </a:bodyPr>
          <a:lstStyle/>
          <a:p>
            <a:pPr algn="l"/>
            <a:r>
              <a:rPr sz="950" b="0" i="0">
                <a:solidFill>
                  <a:srgbClr val="444455"/>
                </a:solidFill>
              </a:rPr>
              <a:t>131+</a:t>
            </a:r>
          </a:p>
        </p:txBody>
      </p:sp>
      <p:sp>
        <p:nvSpPr>
          <p:cNvPr id="39" name="TextBox 38"/>
          <p:cNvSpPr txBox="1"/>
          <p:nvPr/>
        </p:nvSpPr>
        <p:spPr>
          <a:xfrm>
            <a:off x="5376672" y="4544568"/>
            <a:ext cx="4754880" cy="411480"/>
          </a:xfrm>
          <a:prstGeom prst="rect">
            <a:avLst/>
          </a:prstGeom>
          <a:noFill/>
        </p:spPr>
        <p:txBody>
          <a:bodyPr wrap="square">
            <a:spAutoFit/>
          </a:bodyPr>
          <a:lstStyle/>
          <a:p>
            <a:pPr algn="l"/>
            <a:r>
              <a:rPr sz="950" b="0" i="0">
                <a:solidFill>
                  <a:srgbClr val="444455"/>
                </a:solidFill>
              </a:rPr>
              <a:t>131 state AI laws; 3 major industry frameworks active</a:t>
            </a:r>
          </a:p>
        </p:txBody>
      </p:sp>
      <p:sp>
        <p:nvSpPr>
          <p:cNvPr id="40" name="TextBox 39"/>
          <p:cNvSpPr txBox="1"/>
          <p:nvPr/>
        </p:nvSpPr>
        <p:spPr>
          <a:xfrm>
            <a:off x="10268712" y="4544568"/>
            <a:ext cx="1920240" cy="411480"/>
          </a:xfrm>
          <a:prstGeom prst="rect">
            <a:avLst/>
          </a:prstGeom>
          <a:noFill/>
        </p:spPr>
        <p:txBody>
          <a:bodyPr wrap="square">
            <a:spAutoFit/>
          </a:bodyPr>
          <a:lstStyle/>
          <a:p>
            <a:pPr algn="l"/>
            <a:r>
              <a:rPr sz="950" b="0" i="0">
                <a:solidFill>
                  <a:srgbClr val="444455"/>
                </a:solidFill>
              </a:rPr>
              <a:t>Stanford AI Index 2025</a:t>
            </a:r>
          </a:p>
        </p:txBody>
      </p:sp>
      <p:sp>
        <p:nvSpPr>
          <p:cNvPr id="41" name="Rectangle 40"/>
          <p:cNvSpPr/>
          <p:nvPr/>
        </p:nvSpPr>
        <p:spPr>
          <a:xfrm>
            <a:off x="228600" y="5074920"/>
            <a:ext cx="11704320" cy="621792"/>
          </a:xfrm>
          <a:prstGeom prst="rect">
            <a:avLst/>
          </a:prstGeom>
          <a:solidFill>
            <a:srgbClr val="F4F6F9"/>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1752" y="5184648"/>
            <a:ext cx="2926079" cy="411480"/>
          </a:xfrm>
          <a:prstGeom prst="rect">
            <a:avLst/>
          </a:prstGeom>
          <a:noFill/>
        </p:spPr>
        <p:txBody>
          <a:bodyPr wrap="square">
            <a:spAutoFit/>
          </a:bodyPr>
          <a:lstStyle/>
          <a:p>
            <a:pPr algn="l"/>
            <a:r>
              <a:rPr sz="950" b="0" i="0">
                <a:solidFill>
                  <a:srgbClr val="444455"/>
                </a:solidFill>
              </a:rPr>
              <a:t>AI Governance &amp; Ethics</a:t>
            </a:r>
          </a:p>
        </p:txBody>
      </p:sp>
      <p:sp>
        <p:nvSpPr>
          <p:cNvPr id="43" name="TextBox 42"/>
          <p:cNvSpPr txBox="1"/>
          <p:nvPr/>
        </p:nvSpPr>
        <p:spPr>
          <a:xfrm>
            <a:off x="3364991" y="5184648"/>
            <a:ext cx="822960" cy="411480"/>
          </a:xfrm>
          <a:prstGeom prst="rect">
            <a:avLst/>
          </a:prstGeom>
          <a:noFill/>
        </p:spPr>
        <p:txBody>
          <a:bodyPr wrap="square">
            <a:spAutoFit/>
          </a:bodyPr>
          <a:lstStyle/>
          <a:p>
            <a:pPr algn="l"/>
            <a:r>
              <a:rPr sz="900" b="1" i="0">
                <a:solidFill>
                  <a:srgbClr val="1E8A4A"/>
                </a:solidFill>
              </a:rPr>
              <a:t>MODERATE</a:t>
            </a:r>
          </a:p>
        </p:txBody>
      </p:sp>
      <p:sp>
        <p:nvSpPr>
          <p:cNvPr id="44" name="TextBox 43"/>
          <p:cNvSpPr txBox="1"/>
          <p:nvPr/>
        </p:nvSpPr>
        <p:spPr>
          <a:xfrm>
            <a:off x="4325112" y="5184648"/>
            <a:ext cx="914400" cy="411480"/>
          </a:xfrm>
          <a:prstGeom prst="rect">
            <a:avLst/>
          </a:prstGeom>
          <a:noFill/>
        </p:spPr>
        <p:txBody>
          <a:bodyPr wrap="square">
            <a:spAutoFit/>
          </a:bodyPr>
          <a:lstStyle/>
          <a:p>
            <a:pPr algn="l"/>
            <a:r>
              <a:rPr sz="950" b="0" i="0">
                <a:solidFill>
                  <a:srgbClr val="444455"/>
                </a:solidFill>
              </a:rPr>
              <a:t>89%</a:t>
            </a:r>
          </a:p>
        </p:txBody>
      </p:sp>
      <p:sp>
        <p:nvSpPr>
          <p:cNvPr id="45" name="TextBox 44"/>
          <p:cNvSpPr txBox="1"/>
          <p:nvPr/>
        </p:nvSpPr>
        <p:spPr>
          <a:xfrm>
            <a:off x="5376672" y="5184648"/>
            <a:ext cx="4754880" cy="411480"/>
          </a:xfrm>
          <a:prstGeom prst="rect">
            <a:avLst/>
          </a:prstGeom>
          <a:noFill/>
        </p:spPr>
        <p:txBody>
          <a:bodyPr wrap="square">
            <a:spAutoFit/>
          </a:bodyPr>
          <a:lstStyle/>
          <a:p>
            <a:pPr algn="l"/>
            <a:r>
              <a:rPr sz="950" b="0" i="0">
                <a:solidFill>
                  <a:srgbClr val="444455"/>
                </a:solidFill>
              </a:rPr>
              <a:t>Only 11% fully implemented responsible AI (Stanford)</a:t>
            </a:r>
          </a:p>
        </p:txBody>
      </p:sp>
      <p:sp>
        <p:nvSpPr>
          <p:cNvPr id="46" name="TextBox 45"/>
          <p:cNvSpPr txBox="1"/>
          <p:nvPr/>
        </p:nvSpPr>
        <p:spPr>
          <a:xfrm>
            <a:off x="10268712" y="5184648"/>
            <a:ext cx="1920240" cy="411480"/>
          </a:xfrm>
          <a:prstGeom prst="rect">
            <a:avLst/>
          </a:prstGeom>
          <a:noFill/>
        </p:spPr>
        <p:txBody>
          <a:bodyPr wrap="square">
            <a:spAutoFit/>
          </a:bodyPr>
          <a:lstStyle/>
          <a:p>
            <a:pPr algn="l"/>
            <a:r>
              <a:rPr sz="950" b="0" i="0">
                <a:solidFill>
                  <a:srgbClr val="444455"/>
                </a:solidFill>
              </a:rPr>
              <a:t>Stanford / EY / PwC</a:t>
            </a:r>
          </a:p>
        </p:txBody>
      </p:sp>
      <p:sp>
        <p:nvSpPr>
          <p:cNvPr id="47" name="Rectangle 46"/>
          <p:cNvSpPr/>
          <p:nvPr/>
        </p:nvSpPr>
        <p:spPr>
          <a:xfrm>
            <a:off x="228600" y="5714999"/>
            <a:ext cx="11704320" cy="621792"/>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1752" y="5824727"/>
            <a:ext cx="2926079" cy="411480"/>
          </a:xfrm>
          <a:prstGeom prst="rect">
            <a:avLst/>
          </a:prstGeom>
          <a:noFill/>
        </p:spPr>
        <p:txBody>
          <a:bodyPr wrap="square">
            <a:spAutoFit/>
          </a:bodyPr>
          <a:lstStyle/>
          <a:p>
            <a:pPr algn="l"/>
            <a:r>
              <a:rPr sz="950" b="0" i="0">
                <a:solidFill>
                  <a:srgbClr val="444455"/>
                </a:solidFill>
              </a:rPr>
              <a:t>POC-to-Production Gap</a:t>
            </a:r>
          </a:p>
        </p:txBody>
      </p:sp>
      <p:sp>
        <p:nvSpPr>
          <p:cNvPr id="49" name="TextBox 48"/>
          <p:cNvSpPr txBox="1"/>
          <p:nvPr/>
        </p:nvSpPr>
        <p:spPr>
          <a:xfrm>
            <a:off x="3364991" y="5824727"/>
            <a:ext cx="822960" cy="411480"/>
          </a:xfrm>
          <a:prstGeom prst="rect">
            <a:avLst/>
          </a:prstGeom>
          <a:noFill/>
        </p:spPr>
        <p:txBody>
          <a:bodyPr wrap="square">
            <a:spAutoFit/>
          </a:bodyPr>
          <a:lstStyle/>
          <a:p>
            <a:pPr algn="l"/>
            <a:r>
              <a:rPr sz="900" b="1" i="0">
                <a:solidFill>
                  <a:srgbClr val="C0392B"/>
                </a:solidFill>
              </a:rPr>
              <a:t>CRITICAL</a:t>
            </a:r>
          </a:p>
        </p:txBody>
      </p:sp>
      <p:sp>
        <p:nvSpPr>
          <p:cNvPr id="50" name="TextBox 49"/>
          <p:cNvSpPr txBox="1"/>
          <p:nvPr/>
        </p:nvSpPr>
        <p:spPr>
          <a:xfrm>
            <a:off x="4325112" y="5824727"/>
            <a:ext cx="914400" cy="411480"/>
          </a:xfrm>
          <a:prstGeom prst="rect">
            <a:avLst/>
          </a:prstGeom>
          <a:noFill/>
        </p:spPr>
        <p:txBody>
          <a:bodyPr wrap="square">
            <a:spAutoFit/>
          </a:bodyPr>
          <a:lstStyle/>
          <a:p>
            <a:pPr algn="l"/>
            <a:r>
              <a:rPr sz="950" b="0" i="0">
                <a:solidFill>
                  <a:srgbClr val="444455"/>
                </a:solidFill>
              </a:rPr>
              <a:t>95%</a:t>
            </a:r>
          </a:p>
        </p:txBody>
      </p:sp>
      <p:sp>
        <p:nvSpPr>
          <p:cNvPr id="51" name="TextBox 50"/>
          <p:cNvSpPr txBox="1"/>
          <p:nvPr/>
        </p:nvSpPr>
        <p:spPr>
          <a:xfrm>
            <a:off x="5376672" y="5824727"/>
            <a:ext cx="4754880" cy="411480"/>
          </a:xfrm>
          <a:prstGeom prst="rect">
            <a:avLst/>
          </a:prstGeom>
          <a:noFill/>
        </p:spPr>
        <p:txBody>
          <a:bodyPr wrap="square">
            <a:spAutoFit/>
          </a:bodyPr>
          <a:lstStyle/>
          <a:p>
            <a:pPr algn="l"/>
            <a:r>
              <a:rPr sz="950" b="0" i="0">
                <a:solidFill>
                  <a:srgbClr val="444455"/>
                </a:solidFill>
              </a:rPr>
              <a:t>95% of GenAI pilots fail to deliver measurable ROI</a:t>
            </a:r>
          </a:p>
        </p:txBody>
      </p:sp>
      <p:sp>
        <p:nvSpPr>
          <p:cNvPr id="52" name="TextBox 51"/>
          <p:cNvSpPr txBox="1"/>
          <p:nvPr/>
        </p:nvSpPr>
        <p:spPr>
          <a:xfrm>
            <a:off x="10268712" y="5824727"/>
            <a:ext cx="1920240" cy="411480"/>
          </a:xfrm>
          <a:prstGeom prst="rect">
            <a:avLst/>
          </a:prstGeom>
          <a:noFill/>
        </p:spPr>
        <p:txBody>
          <a:bodyPr wrap="square">
            <a:spAutoFit/>
          </a:bodyPr>
          <a:lstStyle/>
          <a:p>
            <a:pPr algn="l"/>
            <a:r>
              <a:rPr sz="950" b="0" i="0">
                <a:solidFill>
                  <a:srgbClr val="444455"/>
                </a:solidFill>
              </a:rPr>
              <a:t>MIT NANDA 2025</a:t>
            </a:r>
          </a:p>
        </p:txBody>
      </p:sp>
      <p:sp>
        <p:nvSpPr>
          <p:cNvPr id="53" name="TextBox 52"/>
          <p:cNvSpPr txBox="1"/>
          <p:nvPr/>
        </p:nvSpPr>
        <p:spPr>
          <a:xfrm>
            <a:off x="228600" y="6355080"/>
            <a:ext cx="11704320" cy="320040"/>
          </a:xfrm>
          <a:prstGeom prst="rect">
            <a:avLst/>
          </a:prstGeom>
          <a:noFill/>
        </p:spPr>
        <p:txBody>
          <a:bodyPr wrap="square">
            <a:spAutoFit/>
          </a:bodyPr>
          <a:lstStyle/>
          <a:p>
            <a:pPr algn="l"/>
            <a:r>
              <a:rPr sz="850" b="0" i="1">
                <a:solidFill>
                  <a:srgbClr val="888899"/>
                </a:solidFill>
              </a:rPr>
              <a:t>All statistics from named research bodies. Severity ratings based on enterprise impact breadth × remediation difficulty.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0972800" cy="640080"/>
          </a:xfrm>
          <a:prstGeom prst="rect">
            <a:avLst/>
          </a:prstGeom>
          <a:noFill/>
        </p:spPr>
        <p:txBody>
          <a:bodyPr wrap="square">
            <a:spAutoFit/>
          </a:bodyPr>
          <a:lstStyle/>
          <a:p>
            <a:pPr algn="l"/>
            <a:r>
              <a:rPr sz="2400" b="1" i="0">
                <a:solidFill>
                  <a:srgbClr val="FFFFFF"/>
                </a:solidFill>
              </a:rPr>
              <a:t>Strategic Recommendations</a:t>
            </a:r>
          </a:p>
        </p:txBody>
      </p:sp>
      <p:sp>
        <p:nvSpPr>
          <p:cNvPr id="4" name="TextBox 3"/>
          <p:cNvSpPr txBox="1"/>
          <p:nvPr/>
        </p:nvSpPr>
        <p:spPr>
          <a:xfrm>
            <a:off x="365760" y="749808"/>
            <a:ext cx="10972800" cy="411480"/>
          </a:xfrm>
          <a:prstGeom prst="rect">
            <a:avLst/>
          </a:prstGeom>
          <a:noFill/>
        </p:spPr>
        <p:txBody>
          <a:bodyPr wrap="square">
            <a:spAutoFit/>
          </a:bodyPr>
          <a:lstStyle/>
          <a:p>
            <a:pPr algn="l"/>
            <a:r>
              <a:rPr sz="1200" b="0" i="0">
                <a:solidFill>
                  <a:srgbClr val="AABBDD"/>
                </a:solidFill>
              </a:rPr>
              <a:t>Evidence-based actions to break through each barrier</a:t>
            </a:r>
          </a:p>
        </p:txBody>
      </p:sp>
      <p:sp>
        <p:nvSpPr>
          <p:cNvPr id="5" name="Rectangle 4"/>
          <p:cNvSpPr/>
          <p:nvPr/>
        </p:nvSpPr>
        <p:spPr>
          <a:xfrm>
            <a:off x="274320" y="1417320"/>
            <a:ext cx="3840480" cy="2377440"/>
          </a:xfrm>
          <a:prstGeom prst="rect">
            <a:avLst/>
          </a:prstGeom>
          <a:solidFill>
            <a:srgbClr val="EAF2FF"/>
          </a:solidFill>
          <a:ln w="19050">
            <a:solidFill>
              <a:srgbClr val="1A5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17320"/>
            <a:ext cx="384048" cy="2377440"/>
          </a:xfrm>
          <a:prstGeom prst="rect">
            <a:avLst/>
          </a:prstGeom>
          <a:solidFill>
            <a:srgbClr val="1A5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1527048"/>
            <a:ext cx="256032" cy="411480"/>
          </a:xfrm>
          <a:prstGeom prst="rect">
            <a:avLst/>
          </a:prstGeom>
          <a:noFill/>
        </p:spPr>
        <p:txBody>
          <a:bodyPr wrap="square">
            <a:spAutoFit/>
          </a:bodyPr>
          <a:lstStyle/>
          <a:p>
            <a:pPr algn="ctr"/>
            <a:r>
              <a:rPr sz="2200" b="1" i="0">
                <a:solidFill>
                  <a:srgbClr val="FFFFFF"/>
                </a:solidFill>
              </a:rPr>
              <a:t>1</a:t>
            </a:r>
          </a:p>
        </p:txBody>
      </p:sp>
      <p:sp>
        <p:nvSpPr>
          <p:cNvPr id="8" name="TextBox 7"/>
          <p:cNvSpPr txBox="1"/>
          <p:nvPr/>
        </p:nvSpPr>
        <p:spPr>
          <a:xfrm>
            <a:off x="777240" y="1508760"/>
            <a:ext cx="3246120" cy="411480"/>
          </a:xfrm>
          <a:prstGeom prst="rect">
            <a:avLst/>
          </a:prstGeom>
          <a:noFill/>
        </p:spPr>
        <p:txBody>
          <a:bodyPr wrap="square">
            <a:spAutoFit/>
          </a:bodyPr>
          <a:lstStyle/>
          <a:p>
            <a:pPr algn="l"/>
            <a:r>
              <a:rPr sz="1100" b="1" i="0">
                <a:solidFill>
                  <a:srgbClr val="1A56CC"/>
                </a:solidFill>
              </a:rPr>
              <a:t>Fix Data First</a:t>
            </a:r>
          </a:p>
        </p:txBody>
      </p:sp>
      <p:sp>
        <p:nvSpPr>
          <p:cNvPr id="9" name="TextBox 8"/>
          <p:cNvSpPr txBox="1"/>
          <p:nvPr/>
        </p:nvSpPr>
        <p:spPr>
          <a:xfrm>
            <a:off x="777240" y="1965960"/>
            <a:ext cx="3246120" cy="530352"/>
          </a:xfrm>
          <a:prstGeom prst="rect">
            <a:avLst/>
          </a:prstGeom>
          <a:noFill/>
        </p:spPr>
        <p:txBody>
          <a:bodyPr wrap="square">
            <a:spAutoFit/>
          </a:bodyPr>
          <a:lstStyle/>
          <a:p>
            <a:pPr algn="l"/>
            <a:r>
              <a:rPr sz="900" b="0" i="0">
                <a:solidFill>
                  <a:srgbClr val="444455"/>
                </a:solidFill>
              </a:rPr>
              <a:t>• Audit data quality before any AI investment — not after</a:t>
            </a:r>
          </a:p>
        </p:txBody>
      </p:sp>
      <p:sp>
        <p:nvSpPr>
          <p:cNvPr id="10" name="TextBox 9"/>
          <p:cNvSpPr txBox="1"/>
          <p:nvPr/>
        </p:nvSpPr>
        <p:spPr>
          <a:xfrm>
            <a:off x="777240" y="2532888"/>
            <a:ext cx="3246120" cy="530352"/>
          </a:xfrm>
          <a:prstGeom prst="rect">
            <a:avLst/>
          </a:prstGeom>
          <a:noFill/>
        </p:spPr>
        <p:txBody>
          <a:bodyPr wrap="square">
            <a:spAutoFit/>
          </a:bodyPr>
          <a:lstStyle/>
          <a:p>
            <a:pPr algn="l"/>
            <a:r>
              <a:rPr sz="900" b="0" i="0">
                <a:solidFill>
                  <a:srgbClr val="444455"/>
                </a:solidFill>
              </a:rPr>
              <a:t>• Build data pipelines as a first-class engineering product</a:t>
            </a:r>
          </a:p>
        </p:txBody>
      </p:sp>
      <p:sp>
        <p:nvSpPr>
          <p:cNvPr id="11" name="TextBox 10"/>
          <p:cNvSpPr txBox="1"/>
          <p:nvPr/>
        </p:nvSpPr>
        <p:spPr>
          <a:xfrm>
            <a:off x="777240" y="3099815"/>
            <a:ext cx="3246120" cy="530352"/>
          </a:xfrm>
          <a:prstGeom prst="rect">
            <a:avLst/>
          </a:prstGeom>
          <a:noFill/>
        </p:spPr>
        <p:txBody>
          <a:bodyPr wrap="square">
            <a:spAutoFit/>
          </a:bodyPr>
          <a:lstStyle/>
          <a:p>
            <a:pPr algn="l"/>
            <a:r>
              <a:rPr sz="900" b="0" i="0">
                <a:solidFill>
                  <a:srgbClr val="444455"/>
                </a:solidFill>
              </a:rPr>
              <a:t>• Establish data governance with enforcement, not just policies</a:t>
            </a:r>
          </a:p>
        </p:txBody>
      </p:sp>
      <p:sp>
        <p:nvSpPr>
          <p:cNvPr id="12" name="Rectangle 11"/>
          <p:cNvSpPr/>
          <p:nvPr/>
        </p:nvSpPr>
        <p:spPr>
          <a:xfrm>
            <a:off x="4251959" y="1417320"/>
            <a:ext cx="3840480" cy="2377440"/>
          </a:xfrm>
          <a:prstGeom prst="rect">
            <a:avLst/>
          </a:prstGeom>
          <a:solidFill>
            <a:srgbClr val="E8F0FE"/>
          </a:solidFill>
          <a:ln w="190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59" y="1417320"/>
            <a:ext cx="384048" cy="2377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1527048"/>
            <a:ext cx="256032" cy="411480"/>
          </a:xfrm>
          <a:prstGeom prst="rect">
            <a:avLst/>
          </a:prstGeom>
          <a:noFill/>
        </p:spPr>
        <p:txBody>
          <a:bodyPr wrap="square">
            <a:spAutoFit/>
          </a:bodyPr>
          <a:lstStyle/>
          <a:p>
            <a:pPr algn="ctr"/>
            <a:r>
              <a:rPr sz="2200" b="1" i="0">
                <a:solidFill>
                  <a:srgbClr val="FFFFFF"/>
                </a:solidFill>
              </a:rPr>
              <a:t>2</a:t>
            </a:r>
          </a:p>
        </p:txBody>
      </p:sp>
      <p:sp>
        <p:nvSpPr>
          <p:cNvPr id="15" name="TextBox 14"/>
          <p:cNvSpPr txBox="1"/>
          <p:nvPr/>
        </p:nvSpPr>
        <p:spPr>
          <a:xfrm>
            <a:off x="4754879" y="1508760"/>
            <a:ext cx="3246120" cy="411480"/>
          </a:xfrm>
          <a:prstGeom prst="rect">
            <a:avLst/>
          </a:prstGeom>
          <a:noFill/>
        </p:spPr>
        <p:txBody>
          <a:bodyPr wrap="square">
            <a:spAutoFit/>
          </a:bodyPr>
          <a:lstStyle/>
          <a:p>
            <a:pPr algn="l"/>
            <a:r>
              <a:rPr sz="1100" b="1" i="0">
                <a:solidFill>
                  <a:srgbClr val="0D1B3E"/>
                </a:solidFill>
              </a:rPr>
              <a:t>Modular Integration Strategy</a:t>
            </a:r>
          </a:p>
        </p:txBody>
      </p:sp>
      <p:sp>
        <p:nvSpPr>
          <p:cNvPr id="16" name="TextBox 15"/>
          <p:cNvSpPr txBox="1"/>
          <p:nvPr/>
        </p:nvSpPr>
        <p:spPr>
          <a:xfrm>
            <a:off x="4754879" y="1965960"/>
            <a:ext cx="3246120" cy="530352"/>
          </a:xfrm>
          <a:prstGeom prst="rect">
            <a:avLst/>
          </a:prstGeom>
          <a:noFill/>
        </p:spPr>
        <p:txBody>
          <a:bodyPr wrap="square">
            <a:spAutoFit/>
          </a:bodyPr>
          <a:lstStyle/>
          <a:p>
            <a:pPr algn="l"/>
            <a:r>
              <a:rPr sz="900" b="0" i="0">
                <a:solidFill>
                  <a:srgbClr val="444455"/>
                </a:solidFill>
              </a:rPr>
              <a:t>• Use API abstraction layers rather than direct legacy coupling</a:t>
            </a:r>
          </a:p>
        </p:txBody>
      </p:sp>
      <p:sp>
        <p:nvSpPr>
          <p:cNvPr id="17" name="TextBox 16"/>
          <p:cNvSpPr txBox="1"/>
          <p:nvPr/>
        </p:nvSpPr>
        <p:spPr>
          <a:xfrm>
            <a:off x="4754879" y="2532888"/>
            <a:ext cx="3246120" cy="530352"/>
          </a:xfrm>
          <a:prstGeom prst="rect">
            <a:avLst/>
          </a:prstGeom>
          <a:noFill/>
        </p:spPr>
        <p:txBody>
          <a:bodyPr wrap="square">
            <a:spAutoFit/>
          </a:bodyPr>
          <a:lstStyle/>
          <a:p>
            <a:pPr algn="l"/>
            <a:r>
              <a:rPr sz="900" b="0" i="0">
                <a:solidFill>
                  <a:srgbClr val="444455"/>
                </a:solidFill>
              </a:rPr>
              <a:t>• Prioritize fully-digital workflows (no physical conversion needed)</a:t>
            </a:r>
          </a:p>
        </p:txBody>
      </p:sp>
      <p:sp>
        <p:nvSpPr>
          <p:cNvPr id="18" name="TextBox 17"/>
          <p:cNvSpPr txBox="1"/>
          <p:nvPr/>
        </p:nvSpPr>
        <p:spPr>
          <a:xfrm>
            <a:off x="4754879" y="3099815"/>
            <a:ext cx="3246120" cy="530352"/>
          </a:xfrm>
          <a:prstGeom prst="rect">
            <a:avLst/>
          </a:prstGeom>
          <a:noFill/>
        </p:spPr>
        <p:txBody>
          <a:bodyPr wrap="square">
            <a:spAutoFit/>
          </a:bodyPr>
          <a:lstStyle/>
          <a:p>
            <a:pPr algn="l"/>
            <a:r>
              <a:rPr sz="900" b="0" i="0">
                <a:solidFill>
                  <a:srgbClr val="444455"/>
                </a:solidFill>
              </a:rPr>
              <a:t>• Vendor-led vs. internal build: vendor wins 2:1 in MIT research</a:t>
            </a:r>
          </a:p>
        </p:txBody>
      </p:sp>
      <p:sp>
        <p:nvSpPr>
          <p:cNvPr id="19" name="Rectangle 18"/>
          <p:cNvSpPr/>
          <p:nvPr/>
        </p:nvSpPr>
        <p:spPr>
          <a:xfrm>
            <a:off x="8229600" y="1417320"/>
            <a:ext cx="3840480" cy="2377440"/>
          </a:xfrm>
          <a:prstGeom prst="rect">
            <a:avLst/>
          </a:prstGeom>
          <a:solidFill>
            <a:srgbClr val="FFF5E6"/>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417320"/>
            <a:ext cx="384048" cy="23774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2752" y="1527048"/>
            <a:ext cx="256032" cy="411480"/>
          </a:xfrm>
          <a:prstGeom prst="rect">
            <a:avLst/>
          </a:prstGeom>
          <a:noFill/>
        </p:spPr>
        <p:txBody>
          <a:bodyPr wrap="square">
            <a:spAutoFit/>
          </a:bodyPr>
          <a:lstStyle/>
          <a:p>
            <a:pPr algn="ctr"/>
            <a:r>
              <a:rPr sz="2200" b="1" i="0">
                <a:solidFill>
                  <a:srgbClr val="FFFFFF"/>
                </a:solidFill>
              </a:rPr>
              <a:t>3</a:t>
            </a:r>
          </a:p>
        </p:txBody>
      </p:sp>
      <p:sp>
        <p:nvSpPr>
          <p:cNvPr id="22" name="TextBox 21"/>
          <p:cNvSpPr txBox="1"/>
          <p:nvPr/>
        </p:nvSpPr>
        <p:spPr>
          <a:xfrm>
            <a:off x="8732520" y="1508760"/>
            <a:ext cx="3246120" cy="411480"/>
          </a:xfrm>
          <a:prstGeom prst="rect">
            <a:avLst/>
          </a:prstGeom>
          <a:noFill/>
        </p:spPr>
        <p:txBody>
          <a:bodyPr wrap="square">
            <a:spAutoFit/>
          </a:bodyPr>
          <a:lstStyle/>
          <a:p>
            <a:pPr algn="l"/>
            <a:r>
              <a:rPr sz="1100" b="1" i="0">
                <a:solidFill>
                  <a:srgbClr val="E67E22"/>
                </a:solidFill>
              </a:rPr>
              <a:t>Define ROI Before You Build</a:t>
            </a:r>
          </a:p>
        </p:txBody>
      </p:sp>
      <p:sp>
        <p:nvSpPr>
          <p:cNvPr id="23" name="TextBox 22"/>
          <p:cNvSpPr txBox="1"/>
          <p:nvPr/>
        </p:nvSpPr>
        <p:spPr>
          <a:xfrm>
            <a:off x="8732520" y="1965960"/>
            <a:ext cx="3246120" cy="530352"/>
          </a:xfrm>
          <a:prstGeom prst="rect">
            <a:avLst/>
          </a:prstGeom>
          <a:noFill/>
        </p:spPr>
        <p:txBody>
          <a:bodyPr wrap="square">
            <a:spAutoFit/>
          </a:bodyPr>
          <a:lstStyle/>
          <a:p>
            <a:pPr algn="l"/>
            <a:r>
              <a:rPr sz="900" b="0" i="0">
                <a:solidFill>
                  <a:srgbClr val="444455"/>
                </a:solidFill>
              </a:rPr>
              <a:t>• Name specific, measurable business metrics upfront</a:t>
            </a:r>
          </a:p>
        </p:txBody>
      </p:sp>
      <p:sp>
        <p:nvSpPr>
          <p:cNvPr id="24" name="TextBox 23"/>
          <p:cNvSpPr txBox="1"/>
          <p:nvPr/>
        </p:nvSpPr>
        <p:spPr>
          <a:xfrm>
            <a:off x="8732520" y="2532888"/>
            <a:ext cx="3246120" cy="530352"/>
          </a:xfrm>
          <a:prstGeom prst="rect">
            <a:avLst/>
          </a:prstGeom>
          <a:noFill/>
        </p:spPr>
        <p:txBody>
          <a:bodyPr wrap="square">
            <a:spAutoFit/>
          </a:bodyPr>
          <a:lstStyle/>
          <a:p>
            <a:pPr algn="l"/>
            <a:r>
              <a:rPr sz="900" b="0" i="0">
                <a:solidFill>
                  <a:srgbClr val="444455"/>
                </a:solidFill>
              </a:rPr>
              <a:t>• Set 2–4 year payback expectation; don't apply 7-month IT standard</a:t>
            </a:r>
          </a:p>
        </p:txBody>
      </p:sp>
      <p:sp>
        <p:nvSpPr>
          <p:cNvPr id="25" name="TextBox 24"/>
          <p:cNvSpPr txBox="1"/>
          <p:nvPr/>
        </p:nvSpPr>
        <p:spPr>
          <a:xfrm>
            <a:off x="8732520" y="3099815"/>
            <a:ext cx="3246120" cy="530352"/>
          </a:xfrm>
          <a:prstGeom prst="rect">
            <a:avLst/>
          </a:prstGeom>
          <a:noFill/>
        </p:spPr>
        <p:txBody>
          <a:bodyPr wrap="square">
            <a:spAutoFit/>
          </a:bodyPr>
          <a:lstStyle/>
          <a:p>
            <a:pPr algn="l"/>
            <a:r>
              <a:rPr sz="900" b="0" i="0">
                <a:solidFill>
                  <a:srgbClr val="444455"/>
                </a:solidFill>
              </a:rPr>
              <a:t>• Include hidden costs: token usage, review staff, retraining cycles</a:t>
            </a:r>
          </a:p>
        </p:txBody>
      </p:sp>
      <p:sp>
        <p:nvSpPr>
          <p:cNvPr id="26" name="Rectangle 25"/>
          <p:cNvSpPr/>
          <p:nvPr/>
        </p:nvSpPr>
        <p:spPr>
          <a:xfrm>
            <a:off x="274320" y="3977639"/>
            <a:ext cx="3840480" cy="2377440"/>
          </a:xfrm>
          <a:prstGeom prst="rect">
            <a:avLst/>
          </a:prstGeom>
          <a:solidFill>
            <a:srgbClr val="F0FFF4"/>
          </a:solidFill>
          <a:ln w="19050">
            <a:solidFill>
              <a:srgbClr val="1E8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3977639"/>
            <a:ext cx="384048" cy="2377440"/>
          </a:xfrm>
          <a:prstGeom prst="rect">
            <a:avLst/>
          </a:prstGeom>
          <a:solidFill>
            <a:srgbClr val="1E8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 y="4087368"/>
            <a:ext cx="256032" cy="411480"/>
          </a:xfrm>
          <a:prstGeom prst="rect">
            <a:avLst/>
          </a:prstGeom>
          <a:noFill/>
        </p:spPr>
        <p:txBody>
          <a:bodyPr wrap="square">
            <a:spAutoFit/>
          </a:bodyPr>
          <a:lstStyle/>
          <a:p>
            <a:pPr algn="ctr"/>
            <a:r>
              <a:rPr sz="2200" b="1" i="0">
                <a:solidFill>
                  <a:srgbClr val="FFFFFF"/>
                </a:solidFill>
              </a:rPr>
              <a:t>4</a:t>
            </a:r>
          </a:p>
        </p:txBody>
      </p:sp>
      <p:sp>
        <p:nvSpPr>
          <p:cNvPr id="29" name="TextBox 28"/>
          <p:cNvSpPr txBox="1"/>
          <p:nvPr/>
        </p:nvSpPr>
        <p:spPr>
          <a:xfrm>
            <a:off x="777240" y="4069079"/>
            <a:ext cx="3246120" cy="411480"/>
          </a:xfrm>
          <a:prstGeom prst="rect">
            <a:avLst/>
          </a:prstGeom>
          <a:noFill/>
        </p:spPr>
        <p:txBody>
          <a:bodyPr wrap="square">
            <a:spAutoFit/>
          </a:bodyPr>
          <a:lstStyle/>
          <a:p>
            <a:pPr algn="l"/>
            <a:r>
              <a:rPr sz="1100" b="1" i="0">
                <a:solidFill>
                  <a:srgbClr val="1E8A4A"/>
                </a:solidFill>
              </a:rPr>
              <a:t>Invest in Bridge Talent</a:t>
            </a:r>
          </a:p>
        </p:txBody>
      </p:sp>
      <p:sp>
        <p:nvSpPr>
          <p:cNvPr id="30" name="TextBox 29"/>
          <p:cNvSpPr txBox="1"/>
          <p:nvPr/>
        </p:nvSpPr>
        <p:spPr>
          <a:xfrm>
            <a:off x="777240" y="4526279"/>
            <a:ext cx="3246120" cy="530352"/>
          </a:xfrm>
          <a:prstGeom prst="rect">
            <a:avLst/>
          </a:prstGeom>
          <a:noFill/>
        </p:spPr>
        <p:txBody>
          <a:bodyPr wrap="square">
            <a:spAutoFit/>
          </a:bodyPr>
          <a:lstStyle/>
          <a:p>
            <a:pPr algn="l"/>
            <a:r>
              <a:rPr sz="900" b="0" i="0">
                <a:solidFill>
                  <a:srgbClr val="444455"/>
                </a:solidFill>
              </a:rPr>
              <a:t>• Hire/develop 'translator' roles: domain expert + AI literacy</a:t>
            </a:r>
          </a:p>
        </p:txBody>
      </p:sp>
      <p:sp>
        <p:nvSpPr>
          <p:cNvPr id="31" name="TextBox 30"/>
          <p:cNvSpPr txBox="1"/>
          <p:nvPr/>
        </p:nvSpPr>
        <p:spPr>
          <a:xfrm>
            <a:off x="777240" y="5093207"/>
            <a:ext cx="3246120" cy="530352"/>
          </a:xfrm>
          <a:prstGeom prst="rect">
            <a:avLst/>
          </a:prstGeom>
          <a:noFill/>
        </p:spPr>
        <p:txBody>
          <a:bodyPr wrap="square">
            <a:spAutoFit/>
          </a:bodyPr>
          <a:lstStyle/>
          <a:p>
            <a:pPr algn="l"/>
            <a:r>
              <a:rPr sz="900" b="0" i="0">
                <a:solidFill>
                  <a:srgbClr val="444455"/>
                </a:solidFill>
              </a:rPr>
              <a:t>• Partner with universities for 3–6 month fellowship pipelines</a:t>
            </a:r>
          </a:p>
        </p:txBody>
      </p:sp>
      <p:sp>
        <p:nvSpPr>
          <p:cNvPr id="32" name="TextBox 31"/>
          <p:cNvSpPr txBox="1"/>
          <p:nvPr/>
        </p:nvSpPr>
        <p:spPr>
          <a:xfrm>
            <a:off x="777240" y="5660136"/>
            <a:ext cx="3246120" cy="530352"/>
          </a:xfrm>
          <a:prstGeom prst="rect">
            <a:avLst/>
          </a:prstGeom>
          <a:noFill/>
        </p:spPr>
        <p:txBody>
          <a:bodyPr wrap="square">
            <a:spAutoFit/>
          </a:bodyPr>
          <a:lstStyle/>
          <a:p>
            <a:pPr algn="l"/>
            <a:r>
              <a:rPr sz="900" b="0" i="0">
                <a:solidFill>
                  <a:srgbClr val="444455"/>
                </a:solidFill>
              </a:rPr>
              <a:t>• AI literacy training is table stakes — only 35% have it today</a:t>
            </a:r>
          </a:p>
        </p:txBody>
      </p:sp>
      <p:sp>
        <p:nvSpPr>
          <p:cNvPr id="33" name="Rectangle 32"/>
          <p:cNvSpPr/>
          <p:nvPr/>
        </p:nvSpPr>
        <p:spPr>
          <a:xfrm>
            <a:off x="4251959" y="3977639"/>
            <a:ext cx="3840480" cy="2377440"/>
          </a:xfrm>
          <a:prstGeom prst="rect">
            <a:avLst/>
          </a:prstGeom>
          <a:solidFill>
            <a:srgbClr val="FFEEEE"/>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51959" y="3977639"/>
            <a:ext cx="384048" cy="2377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25112" y="4087368"/>
            <a:ext cx="256032" cy="411480"/>
          </a:xfrm>
          <a:prstGeom prst="rect">
            <a:avLst/>
          </a:prstGeom>
          <a:noFill/>
        </p:spPr>
        <p:txBody>
          <a:bodyPr wrap="square">
            <a:spAutoFit/>
          </a:bodyPr>
          <a:lstStyle/>
          <a:p>
            <a:pPr algn="ctr"/>
            <a:r>
              <a:rPr sz="2200" b="1" i="0">
                <a:solidFill>
                  <a:srgbClr val="FFFFFF"/>
                </a:solidFill>
              </a:rPr>
              <a:t>5</a:t>
            </a:r>
          </a:p>
        </p:txBody>
      </p:sp>
      <p:sp>
        <p:nvSpPr>
          <p:cNvPr id="36" name="TextBox 35"/>
          <p:cNvSpPr txBox="1"/>
          <p:nvPr/>
        </p:nvSpPr>
        <p:spPr>
          <a:xfrm>
            <a:off x="4754879" y="4069079"/>
            <a:ext cx="3246120" cy="411480"/>
          </a:xfrm>
          <a:prstGeom prst="rect">
            <a:avLst/>
          </a:prstGeom>
          <a:noFill/>
        </p:spPr>
        <p:txBody>
          <a:bodyPr wrap="square">
            <a:spAutoFit/>
          </a:bodyPr>
          <a:lstStyle/>
          <a:p>
            <a:pPr algn="l"/>
            <a:r>
              <a:rPr sz="1100" b="1" i="0">
                <a:solidFill>
                  <a:srgbClr val="C0392B"/>
                </a:solidFill>
              </a:rPr>
              <a:t>Compliance-First Architecture</a:t>
            </a:r>
          </a:p>
        </p:txBody>
      </p:sp>
      <p:sp>
        <p:nvSpPr>
          <p:cNvPr id="37" name="TextBox 36"/>
          <p:cNvSpPr txBox="1"/>
          <p:nvPr/>
        </p:nvSpPr>
        <p:spPr>
          <a:xfrm>
            <a:off x="4754879" y="4526279"/>
            <a:ext cx="3246120" cy="530352"/>
          </a:xfrm>
          <a:prstGeom prst="rect">
            <a:avLst/>
          </a:prstGeom>
          <a:noFill/>
        </p:spPr>
        <p:txBody>
          <a:bodyPr wrap="square">
            <a:spAutoFit/>
          </a:bodyPr>
          <a:lstStyle/>
          <a:p>
            <a:pPr algn="l"/>
            <a:r>
              <a:rPr sz="900" b="0" i="0">
                <a:solidFill>
                  <a:srgbClr val="444455"/>
                </a:solidFill>
              </a:rPr>
              <a:t>• Embed HIPAA/SOX/FINRA requirements in AI system design, not later</a:t>
            </a:r>
          </a:p>
        </p:txBody>
      </p:sp>
      <p:sp>
        <p:nvSpPr>
          <p:cNvPr id="38" name="TextBox 37"/>
          <p:cNvSpPr txBox="1"/>
          <p:nvPr/>
        </p:nvSpPr>
        <p:spPr>
          <a:xfrm>
            <a:off x="4754879" y="5093207"/>
            <a:ext cx="3246120" cy="530352"/>
          </a:xfrm>
          <a:prstGeom prst="rect">
            <a:avLst/>
          </a:prstGeom>
          <a:noFill/>
        </p:spPr>
        <p:txBody>
          <a:bodyPr wrap="square">
            <a:spAutoFit/>
          </a:bodyPr>
          <a:lstStyle/>
          <a:p>
            <a:pPr algn="l"/>
            <a:r>
              <a:rPr sz="900" b="0" i="0">
                <a:solidFill>
                  <a:srgbClr val="444455"/>
                </a:solidFill>
              </a:rPr>
              <a:t>• Map every AI use case to applicable state laws before deployment</a:t>
            </a:r>
          </a:p>
        </p:txBody>
      </p:sp>
      <p:sp>
        <p:nvSpPr>
          <p:cNvPr id="39" name="TextBox 38"/>
          <p:cNvSpPr txBox="1"/>
          <p:nvPr/>
        </p:nvSpPr>
        <p:spPr>
          <a:xfrm>
            <a:off x="4754879" y="5660136"/>
            <a:ext cx="3246120" cy="530352"/>
          </a:xfrm>
          <a:prstGeom prst="rect">
            <a:avLst/>
          </a:prstGeom>
          <a:noFill/>
        </p:spPr>
        <p:txBody>
          <a:bodyPr wrap="square">
            <a:spAutoFit/>
          </a:bodyPr>
          <a:lstStyle/>
          <a:p>
            <a:pPr algn="l"/>
            <a:r>
              <a:rPr sz="900" b="0" i="0">
                <a:solidFill>
                  <a:srgbClr val="444455"/>
                </a:solidFill>
              </a:rPr>
              <a:t>• Governance framework = prerequisite, not optional upgrade</a:t>
            </a:r>
          </a:p>
        </p:txBody>
      </p:sp>
      <p:sp>
        <p:nvSpPr>
          <p:cNvPr id="40" name="Rectangle 39"/>
          <p:cNvSpPr/>
          <p:nvPr/>
        </p:nvSpPr>
        <p:spPr>
          <a:xfrm>
            <a:off x="8229600" y="3977639"/>
            <a:ext cx="3840480" cy="2377440"/>
          </a:xfrm>
          <a:prstGeom prst="rect">
            <a:avLst/>
          </a:prstGeom>
          <a:solidFill>
            <a:srgbClr val="F5EEFF"/>
          </a:solidFill>
          <a:ln w="19050">
            <a:solidFill>
              <a:srgbClr val="5522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29600" y="3977639"/>
            <a:ext cx="384048" cy="2377440"/>
          </a:xfrm>
          <a:prstGeom prst="rect">
            <a:avLst/>
          </a:prstGeom>
          <a:solidFill>
            <a:srgbClr val="5522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02752" y="4087368"/>
            <a:ext cx="256032" cy="411480"/>
          </a:xfrm>
          <a:prstGeom prst="rect">
            <a:avLst/>
          </a:prstGeom>
          <a:noFill/>
        </p:spPr>
        <p:txBody>
          <a:bodyPr wrap="square">
            <a:spAutoFit/>
          </a:bodyPr>
          <a:lstStyle/>
          <a:p>
            <a:pPr algn="ctr"/>
            <a:r>
              <a:rPr sz="2200" b="1" i="0">
                <a:solidFill>
                  <a:srgbClr val="FFFFFF"/>
                </a:solidFill>
              </a:rPr>
              <a:t>6</a:t>
            </a:r>
          </a:p>
        </p:txBody>
      </p:sp>
      <p:sp>
        <p:nvSpPr>
          <p:cNvPr id="43" name="TextBox 42"/>
          <p:cNvSpPr txBox="1"/>
          <p:nvPr/>
        </p:nvSpPr>
        <p:spPr>
          <a:xfrm>
            <a:off x="8732520" y="4069079"/>
            <a:ext cx="3246120" cy="411480"/>
          </a:xfrm>
          <a:prstGeom prst="rect">
            <a:avLst/>
          </a:prstGeom>
          <a:noFill/>
        </p:spPr>
        <p:txBody>
          <a:bodyPr wrap="square">
            <a:spAutoFit/>
          </a:bodyPr>
          <a:lstStyle/>
          <a:p>
            <a:pPr algn="l"/>
            <a:r>
              <a:rPr sz="1100" b="1" i="0">
                <a:solidFill>
                  <a:srgbClr val="552288"/>
                </a:solidFill>
              </a:rPr>
              <a:t>Governance Before Scale</a:t>
            </a:r>
          </a:p>
        </p:txBody>
      </p:sp>
      <p:sp>
        <p:nvSpPr>
          <p:cNvPr id="44" name="TextBox 43"/>
          <p:cNvSpPr txBox="1"/>
          <p:nvPr/>
        </p:nvSpPr>
        <p:spPr>
          <a:xfrm>
            <a:off x="8732520" y="4526279"/>
            <a:ext cx="3246120" cy="530352"/>
          </a:xfrm>
          <a:prstGeom prst="rect">
            <a:avLst/>
          </a:prstGeom>
          <a:noFill/>
        </p:spPr>
        <p:txBody>
          <a:bodyPr wrap="square">
            <a:spAutoFit/>
          </a:bodyPr>
          <a:lstStyle/>
          <a:p>
            <a:pPr algn="l"/>
            <a:r>
              <a:rPr sz="900" b="0" i="0">
                <a:solidFill>
                  <a:srgbClr val="444455"/>
                </a:solidFill>
              </a:rPr>
              <a:t>• Establish AI ethics board / review process before broad rollout</a:t>
            </a:r>
          </a:p>
        </p:txBody>
      </p:sp>
      <p:sp>
        <p:nvSpPr>
          <p:cNvPr id="45" name="TextBox 44"/>
          <p:cNvSpPr txBox="1"/>
          <p:nvPr/>
        </p:nvSpPr>
        <p:spPr>
          <a:xfrm>
            <a:off x="8732520" y="5093207"/>
            <a:ext cx="3246120" cy="530352"/>
          </a:xfrm>
          <a:prstGeom prst="rect">
            <a:avLst/>
          </a:prstGeom>
          <a:noFill/>
        </p:spPr>
        <p:txBody>
          <a:bodyPr wrap="square">
            <a:spAutoFit/>
          </a:bodyPr>
          <a:lstStyle/>
          <a:p>
            <a:pPr algn="l"/>
            <a:r>
              <a:rPr sz="900" b="0" i="0">
                <a:solidFill>
                  <a:srgbClr val="444455"/>
                </a:solidFill>
              </a:rPr>
              <a:t>• Require hallucination testing and bias audits for high-stakes systems</a:t>
            </a:r>
          </a:p>
        </p:txBody>
      </p:sp>
      <p:sp>
        <p:nvSpPr>
          <p:cNvPr id="46" name="TextBox 45"/>
          <p:cNvSpPr txBox="1"/>
          <p:nvPr/>
        </p:nvSpPr>
        <p:spPr>
          <a:xfrm>
            <a:off x="8732520" y="5660136"/>
            <a:ext cx="3246120" cy="530352"/>
          </a:xfrm>
          <a:prstGeom prst="rect">
            <a:avLst/>
          </a:prstGeom>
          <a:noFill/>
        </p:spPr>
        <p:txBody>
          <a:bodyPr wrap="square">
            <a:spAutoFit/>
          </a:bodyPr>
          <a:lstStyle/>
          <a:p>
            <a:pPr algn="l"/>
            <a:r>
              <a:rPr sz="900" b="0" i="0">
                <a:solidFill>
                  <a:srgbClr val="444455"/>
                </a:solidFill>
              </a:rPr>
              <a:t>• Document decision rationale for all AI outputs touching customers</a:t>
            </a:r>
          </a:p>
        </p:txBody>
      </p:sp>
      <p:sp>
        <p:nvSpPr>
          <p:cNvPr id="47" name="TextBox 46"/>
          <p:cNvSpPr txBox="1"/>
          <p:nvPr/>
        </p:nvSpPr>
        <p:spPr>
          <a:xfrm>
            <a:off x="274320" y="6492240"/>
            <a:ext cx="11612880" cy="274320"/>
          </a:xfrm>
          <a:prstGeom prst="rect">
            <a:avLst/>
          </a:prstGeom>
          <a:noFill/>
        </p:spPr>
        <p:txBody>
          <a:bodyPr wrap="square">
            <a:spAutoFit/>
          </a:bodyPr>
          <a:lstStyle/>
          <a:p>
            <a:pPr algn="l"/>
            <a:r>
              <a:rPr sz="750" b="0" i="0">
                <a:solidFill>
                  <a:srgbClr val="888899"/>
                </a:solidFill>
              </a:rPr>
              <a:t>Derived from McKinsey · MIT NANDA · Gartner · S&amp;P Global · Deloitte · PwC research 2024–2026  |  U.S. Enterprise AI Context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731520" y="457200"/>
            <a:ext cx="10515600" cy="457200"/>
          </a:xfrm>
          <a:prstGeom prst="rect">
            <a:avLst/>
          </a:prstGeom>
          <a:noFill/>
        </p:spPr>
        <p:txBody>
          <a:bodyPr wrap="square">
            <a:spAutoFit/>
          </a:bodyPr>
          <a:lstStyle/>
          <a:p>
            <a:pPr algn="l"/>
            <a:r>
              <a:rPr sz="1200" b="1" i="0">
                <a:solidFill>
                  <a:srgbClr val="FFD700"/>
                </a:solidFill>
              </a:rPr>
              <a:t>RESEARCH SOURCES</a:t>
            </a:r>
          </a:p>
        </p:txBody>
      </p:sp>
      <p:sp>
        <p:nvSpPr>
          <p:cNvPr id="3" name="TextBox 2"/>
          <p:cNvSpPr txBox="1"/>
          <p:nvPr/>
        </p:nvSpPr>
        <p:spPr>
          <a:xfrm>
            <a:off x="731520" y="914400"/>
            <a:ext cx="10515600" cy="548640"/>
          </a:xfrm>
          <a:prstGeom prst="rect">
            <a:avLst/>
          </a:prstGeom>
          <a:noFill/>
        </p:spPr>
        <p:txBody>
          <a:bodyPr wrap="square">
            <a:spAutoFit/>
          </a:bodyPr>
          <a:lstStyle/>
          <a:p>
            <a:pPr algn="l"/>
            <a:r>
              <a:rPr sz="1300" b="0" i="0">
                <a:solidFill>
                  <a:srgbClr val="AACCFF"/>
                </a:solidFill>
              </a:rPr>
              <a:t>All data points in this presentation are sourced from named research bodies.</a:t>
            </a:r>
          </a:p>
        </p:txBody>
      </p:sp>
      <p:sp>
        <p:nvSpPr>
          <p:cNvPr id="4" name="TextBox 3"/>
          <p:cNvSpPr txBox="1"/>
          <p:nvPr/>
        </p:nvSpPr>
        <p:spPr>
          <a:xfrm>
            <a:off x="457200" y="1600200"/>
            <a:ext cx="5760720" cy="320040"/>
          </a:xfrm>
          <a:prstGeom prst="rect">
            <a:avLst/>
          </a:prstGeom>
          <a:noFill/>
        </p:spPr>
        <p:txBody>
          <a:bodyPr wrap="square">
            <a:spAutoFit/>
          </a:bodyPr>
          <a:lstStyle/>
          <a:p>
            <a:pPr algn="l"/>
            <a:r>
              <a:rPr sz="850" b="0" i="0">
                <a:solidFill>
                  <a:srgbClr val="CCDDFF"/>
                </a:solidFill>
              </a:rPr>
              <a:t>• Gartner: GenAI Projects Abandoned (Jul 2024) &amp; AI Data Readiness (Feb 2025)</a:t>
            </a:r>
          </a:p>
        </p:txBody>
      </p:sp>
      <p:sp>
        <p:nvSpPr>
          <p:cNvPr id="5" name="TextBox 4"/>
          <p:cNvSpPr txBox="1"/>
          <p:nvPr/>
        </p:nvSpPr>
        <p:spPr>
          <a:xfrm>
            <a:off x="457200" y="1938528"/>
            <a:ext cx="5760720" cy="320040"/>
          </a:xfrm>
          <a:prstGeom prst="rect">
            <a:avLst/>
          </a:prstGeom>
          <a:noFill/>
        </p:spPr>
        <p:txBody>
          <a:bodyPr wrap="square">
            <a:spAutoFit/>
          </a:bodyPr>
          <a:lstStyle/>
          <a:p>
            <a:pPr algn="l"/>
            <a:r>
              <a:rPr sz="850" b="0" i="0">
                <a:solidFill>
                  <a:srgbClr val="CCDDFF"/>
                </a:solidFill>
              </a:rPr>
              <a:t>• McKinsey: State of AI 2025</a:t>
            </a:r>
          </a:p>
        </p:txBody>
      </p:sp>
      <p:sp>
        <p:nvSpPr>
          <p:cNvPr id="6" name="TextBox 5"/>
          <p:cNvSpPr txBox="1"/>
          <p:nvPr/>
        </p:nvSpPr>
        <p:spPr>
          <a:xfrm>
            <a:off x="457200" y="2276856"/>
            <a:ext cx="5760720" cy="320040"/>
          </a:xfrm>
          <a:prstGeom prst="rect">
            <a:avLst/>
          </a:prstGeom>
          <a:noFill/>
        </p:spPr>
        <p:txBody>
          <a:bodyPr wrap="square">
            <a:spAutoFit/>
          </a:bodyPr>
          <a:lstStyle/>
          <a:p>
            <a:pPr algn="l"/>
            <a:r>
              <a:rPr sz="850" b="0" i="0">
                <a:solidFill>
                  <a:srgbClr val="CCDDFF"/>
                </a:solidFill>
              </a:rPr>
              <a:t>• MIT NANDA: 'The GenAI Divide' — State of AI in Business 2025</a:t>
            </a:r>
          </a:p>
        </p:txBody>
      </p:sp>
      <p:sp>
        <p:nvSpPr>
          <p:cNvPr id="7" name="TextBox 6"/>
          <p:cNvSpPr txBox="1"/>
          <p:nvPr/>
        </p:nvSpPr>
        <p:spPr>
          <a:xfrm>
            <a:off x="457200" y="2615184"/>
            <a:ext cx="5760720" cy="320040"/>
          </a:xfrm>
          <a:prstGeom prst="rect">
            <a:avLst/>
          </a:prstGeom>
          <a:noFill/>
        </p:spPr>
        <p:txBody>
          <a:bodyPr wrap="square">
            <a:spAutoFit/>
          </a:bodyPr>
          <a:lstStyle/>
          <a:p>
            <a:pPr algn="l"/>
            <a:r>
              <a:rPr sz="850" b="0" i="0">
                <a:solidFill>
                  <a:srgbClr val="CCDDFF"/>
                </a:solidFill>
              </a:rPr>
              <a:t>• S&amp;P Global Market Intelligence: AI &amp; ML Survey (Oct–Nov 2024, n=1,006)</a:t>
            </a:r>
          </a:p>
        </p:txBody>
      </p:sp>
      <p:sp>
        <p:nvSpPr>
          <p:cNvPr id="8" name="TextBox 7"/>
          <p:cNvSpPr txBox="1"/>
          <p:nvPr/>
        </p:nvSpPr>
        <p:spPr>
          <a:xfrm>
            <a:off x="457200" y="2953512"/>
            <a:ext cx="5760720" cy="320040"/>
          </a:xfrm>
          <a:prstGeom prst="rect">
            <a:avLst/>
          </a:prstGeom>
          <a:noFill/>
        </p:spPr>
        <p:txBody>
          <a:bodyPr wrap="square">
            <a:spAutoFit/>
          </a:bodyPr>
          <a:lstStyle/>
          <a:p>
            <a:pPr algn="l"/>
            <a:r>
              <a:rPr sz="850" b="0" i="0">
                <a:solidFill>
                  <a:srgbClr val="CCDDFF"/>
                </a:solidFill>
              </a:rPr>
              <a:t>• IBM / Second Talent: AI Talent Research 2024–2025</a:t>
            </a:r>
          </a:p>
        </p:txBody>
      </p:sp>
      <p:sp>
        <p:nvSpPr>
          <p:cNvPr id="9" name="TextBox 8"/>
          <p:cNvSpPr txBox="1"/>
          <p:nvPr/>
        </p:nvSpPr>
        <p:spPr>
          <a:xfrm>
            <a:off x="457200" y="3291840"/>
            <a:ext cx="5760720" cy="320040"/>
          </a:xfrm>
          <a:prstGeom prst="rect">
            <a:avLst/>
          </a:prstGeom>
          <a:noFill/>
        </p:spPr>
        <p:txBody>
          <a:bodyPr wrap="square">
            <a:spAutoFit/>
          </a:bodyPr>
          <a:lstStyle/>
          <a:p>
            <a:pPr algn="l"/>
            <a:r>
              <a:rPr sz="850" b="0" i="0">
                <a:solidFill>
                  <a:srgbClr val="CCDDFF"/>
                </a:solidFill>
              </a:rPr>
              <a:t>• Deloitte: State of AI in the Enterprise 2026 (n=3,235)</a:t>
            </a:r>
          </a:p>
        </p:txBody>
      </p:sp>
      <p:sp>
        <p:nvSpPr>
          <p:cNvPr id="10" name="TextBox 9"/>
          <p:cNvSpPr txBox="1"/>
          <p:nvPr/>
        </p:nvSpPr>
        <p:spPr>
          <a:xfrm>
            <a:off x="457200" y="3630168"/>
            <a:ext cx="5760720" cy="320040"/>
          </a:xfrm>
          <a:prstGeom prst="rect">
            <a:avLst/>
          </a:prstGeom>
          <a:noFill/>
        </p:spPr>
        <p:txBody>
          <a:bodyPr wrap="square">
            <a:spAutoFit/>
          </a:bodyPr>
          <a:lstStyle/>
          <a:p>
            <a:pPr algn="l"/>
            <a:r>
              <a:rPr sz="850" b="0" i="0">
                <a:solidFill>
                  <a:srgbClr val="CCDDFF"/>
                </a:solidFill>
              </a:rPr>
              <a:t>• PwC: Responsible AI Survey 2025</a:t>
            </a:r>
          </a:p>
        </p:txBody>
      </p:sp>
      <p:sp>
        <p:nvSpPr>
          <p:cNvPr id="11" name="TextBox 10"/>
          <p:cNvSpPr txBox="1"/>
          <p:nvPr/>
        </p:nvSpPr>
        <p:spPr>
          <a:xfrm>
            <a:off x="457200" y="3968496"/>
            <a:ext cx="5760720" cy="320040"/>
          </a:xfrm>
          <a:prstGeom prst="rect">
            <a:avLst/>
          </a:prstGeom>
          <a:noFill/>
        </p:spPr>
        <p:txBody>
          <a:bodyPr wrap="square">
            <a:spAutoFit/>
          </a:bodyPr>
          <a:lstStyle/>
          <a:p>
            <a:pPr algn="l"/>
            <a:r>
              <a:rPr sz="850" b="0" i="0">
                <a:solidFill>
                  <a:srgbClr val="CCDDFF"/>
                </a:solidFill>
              </a:rPr>
              <a:t>• EY Pulse Survey on AI Governance 2024</a:t>
            </a:r>
          </a:p>
        </p:txBody>
      </p:sp>
      <p:sp>
        <p:nvSpPr>
          <p:cNvPr id="12" name="TextBox 11"/>
          <p:cNvSpPr txBox="1"/>
          <p:nvPr/>
        </p:nvSpPr>
        <p:spPr>
          <a:xfrm>
            <a:off x="457200" y="4306824"/>
            <a:ext cx="5760720" cy="320040"/>
          </a:xfrm>
          <a:prstGeom prst="rect">
            <a:avLst/>
          </a:prstGeom>
          <a:noFill/>
        </p:spPr>
        <p:txBody>
          <a:bodyPr wrap="square">
            <a:spAutoFit/>
          </a:bodyPr>
          <a:lstStyle/>
          <a:p>
            <a:pPr algn="l"/>
            <a:r>
              <a:rPr sz="850" b="0" i="0">
                <a:solidFill>
                  <a:srgbClr val="CCDDFF"/>
                </a:solidFill>
              </a:rPr>
              <a:t>• Stanford AI Index 2025</a:t>
            </a:r>
          </a:p>
        </p:txBody>
      </p:sp>
      <p:sp>
        <p:nvSpPr>
          <p:cNvPr id="13" name="TextBox 12"/>
          <p:cNvSpPr txBox="1"/>
          <p:nvPr/>
        </p:nvSpPr>
        <p:spPr>
          <a:xfrm>
            <a:off x="457200" y="4645152"/>
            <a:ext cx="5760720" cy="320040"/>
          </a:xfrm>
          <a:prstGeom prst="rect">
            <a:avLst/>
          </a:prstGeom>
          <a:noFill/>
        </p:spPr>
        <p:txBody>
          <a:bodyPr wrap="square">
            <a:spAutoFit/>
          </a:bodyPr>
          <a:lstStyle/>
          <a:p>
            <a:pPr algn="l"/>
            <a:r>
              <a:rPr sz="850" b="0" i="0">
                <a:solidFill>
                  <a:srgbClr val="CCDDFF"/>
                </a:solidFill>
              </a:rPr>
              <a:t>• Forrester / Capital One: Enterprise Data Leaders Survey (n=500)</a:t>
            </a:r>
          </a:p>
        </p:txBody>
      </p:sp>
      <p:sp>
        <p:nvSpPr>
          <p:cNvPr id="14" name="TextBox 13"/>
          <p:cNvSpPr txBox="1"/>
          <p:nvPr/>
        </p:nvSpPr>
        <p:spPr>
          <a:xfrm>
            <a:off x="457200" y="4983480"/>
            <a:ext cx="5760720" cy="320040"/>
          </a:xfrm>
          <a:prstGeom prst="rect">
            <a:avLst/>
          </a:prstGeom>
          <a:noFill/>
        </p:spPr>
        <p:txBody>
          <a:bodyPr wrap="square">
            <a:spAutoFit/>
          </a:bodyPr>
          <a:lstStyle/>
          <a:p>
            <a:pPr algn="l"/>
            <a:r>
              <a:rPr sz="850" b="0" i="0">
                <a:solidFill>
                  <a:srgbClr val="CCDDFF"/>
                </a:solidFill>
              </a:rPr>
              <a:t>• Informatica: CDO Insights 2025</a:t>
            </a:r>
          </a:p>
        </p:txBody>
      </p:sp>
      <p:sp>
        <p:nvSpPr>
          <p:cNvPr id="15" name="TextBox 14"/>
          <p:cNvSpPr txBox="1"/>
          <p:nvPr/>
        </p:nvSpPr>
        <p:spPr>
          <a:xfrm>
            <a:off x="457200" y="5321808"/>
            <a:ext cx="5760720" cy="320040"/>
          </a:xfrm>
          <a:prstGeom prst="rect">
            <a:avLst/>
          </a:prstGeom>
          <a:noFill/>
        </p:spPr>
        <p:txBody>
          <a:bodyPr wrap="square">
            <a:spAutoFit/>
          </a:bodyPr>
          <a:lstStyle/>
          <a:p>
            <a:pPr algn="l"/>
            <a:r>
              <a:rPr sz="850" b="0" i="0">
                <a:solidFill>
                  <a:srgbClr val="CCDDFF"/>
                </a:solidFill>
              </a:rPr>
              <a:t>• MuleSoft: 2025 Connectivity Benchmark Report</a:t>
            </a:r>
          </a:p>
        </p:txBody>
      </p:sp>
      <p:sp>
        <p:nvSpPr>
          <p:cNvPr id="16" name="TextBox 15"/>
          <p:cNvSpPr txBox="1"/>
          <p:nvPr/>
        </p:nvSpPr>
        <p:spPr>
          <a:xfrm>
            <a:off x="457200" y="5660136"/>
            <a:ext cx="5760720" cy="320040"/>
          </a:xfrm>
          <a:prstGeom prst="rect">
            <a:avLst/>
          </a:prstGeom>
          <a:noFill/>
        </p:spPr>
        <p:txBody>
          <a:bodyPr wrap="square">
            <a:spAutoFit/>
          </a:bodyPr>
          <a:lstStyle/>
          <a:p>
            <a:pPr algn="l"/>
            <a:r>
              <a:rPr sz="850" b="0" i="0">
                <a:solidFill>
                  <a:srgbClr val="CCDDFF"/>
                </a:solidFill>
              </a:rPr>
              <a:t>• Benchmarkit / Mavvrik: AI Cost Survey 2025</a:t>
            </a:r>
          </a:p>
        </p:txBody>
      </p:sp>
      <p:sp>
        <p:nvSpPr>
          <p:cNvPr id="17" name="TextBox 16"/>
          <p:cNvSpPr txBox="1"/>
          <p:nvPr/>
        </p:nvSpPr>
        <p:spPr>
          <a:xfrm>
            <a:off x="6400800" y="1600200"/>
            <a:ext cx="5486400" cy="320040"/>
          </a:xfrm>
          <a:prstGeom prst="rect">
            <a:avLst/>
          </a:prstGeom>
          <a:noFill/>
        </p:spPr>
        <p:txBody>
          <a:bodyPr wrap="square">
            <a:spAutoFit/>
          </a:bodyPr>
          <a:lstStyle/>
          <a:p>
            <a:pPr algn="l"/>
            <a:r>
              <a:rPr sz="850" b="0" i="0">
                <a:solidFill>
                  <a:srgbClr val="CCDDFF"/>
                </a:solidFill>
              </a:rPr>
              <a:t>• HIPAA Journal: AI and HIPAA Compliance</a:t>
            </a:r>
          </a:p>
        </p:txBody>
      </p:sp>
      <p:sp>
        <p:nvSpPr>
          <p:cNvPr id="18" name="TextBox 17"/>
          <p:cNvSpPr txBox="1"/>
          <p:nvPr/>
        </p:nvSpPr>
        <p:spPr>
          <a:xfrm>
            <a:off x="6400800" y="1938528"/>
            <a:ext cx="5486400" cy="320040"/>
          </a:xfrm>
          <a:prstGeom prst="rect">
            <a:avLst/>
          </a:prstGeom>
          <a:noFill/>
        </p:spPr>
        <p:txBody>
          <a:bodyPr wrap="square">
            <a:spAutoFit/>
          </a:bodyPr>
          <a:lstStyle/>
          <a:p>
            <a:pPr algn="l"/>
            <a:r>
              <a:rPr sz="850" b="0" i="0">
                <a:solidFill>
                  <a:srgbClr val="CCDDFF"/>
                </a:solidFill>
              </a:rPr>
              <a:t>• HHS OCR: 2024 Healthcare Data Breach Report</a:t>
            </a:r>
          </a:p>
        </p:txBody>
      </p:sp>
      <p:sp>
        <p:nvSpPr>
          <p:cNvPr id="19" name="TextBox 18"/>
          <p:cNvSpPr txBox="1"/>
          <p:nvPr/>
        </p:nvSpPr>
        <p:spPr>
          <a:xfrm>
            <a:off x="6400800" y="2276856"/>
            <a:ext cx="5486400" cy="320040"/>
          </a:xfrm>
          <a:prstGeom prst="rect">
            <a:avLst/>
          </a:prstGeom>
          <a:noFill/>
        </p:spPr>
        <p:txBody>
          <a:bodyPr wrap="square">
            <a:spAutoFit/>
          </a:bodyPr>
          <a:lstStyle/>
          <a:p>
            <a:pPr algn="l"/>
            <a:r>
              <a:rPr sz="850" b="0" i="0">
                <a:solidFill>
                  <a:srgbClr val="CCDDFF"/>
                </a:solidFill>
              </a:rPr>
              <a:t>• FINRA: 2025 Regulatory Oversight Report</a:t>
            </a:r>
          </a:p>
        </p:txBody>
      </p:sp>
      <p:sp>
        <p:nvSpPr>
          <p:cNvPr id="20" name="TextBox 19"/>
          <p:cNvSpPr txBox="1"/>
          <p:nvPr/>
        </p:nvSpPr>
        <p:spPr>
          <a:xfrm>
            <a:off x="6400800" y="2615184"/>
            <a:ext cx="5486400" cy="320040"/>
          </a:xfrm>
          <a:prstGeom prst="rect">
            <a:avLst/>
          </a:prstGeom>
          <a:noFill/>
        </p:spPr>
        <p:txBody>
          <a:bodyPr wrap="square">
            <a:spAutoFit/>
          </a:bodyPr>
          <a:lstStyle/>
          <a:p>
            <a:pPr algn="l"/>
            <a:r>
              <a:rPr sz="850" b="0" i="0">
                <a:solidFill>
                  <a:srgbClr val="CCDDFF"/>
                </a:solidFill>
              </a:rPr>
              <a:t>• FSOC: Annual Report December 2024</a:t>
            </a:r>
          </a:p>
        </p:txBody>
      </p:sp>
      <p:sp>
        <p:nvSpPr>
          <p:cNvPr id="21" name="TextBox 20"/>
          <p:cNvSpPr txBox="1"/>
          <p:nvPr/>
        </p:nvSpPr>
        <p:spPr>
          <a:xfrm>
            <a:off x="6400800" y="2953512"/>
            <a:ext cx="5486400" cy="320040"/>
          </a:xfrm>
          <a:prstGeom prst="rect">
            <a:avLst/>
          </a:prstGeom>
          <a:noFill/>
        </p:spPr>
        <p:txBody>
          <a:bodyPr wrap="square">
            <a:spAutoFit/>
          </a:bodyPr>
          <a:lstStyle/>
          <a:p>
            <a:pPr algn="l"/>
            <a:r>
              <a:rPr sz="850" b="0" i="0">
                <a:solidFill>
                  <a:srgbClr val="CCDDFF"/>
                </a:solidFill>
              </a:rPr>
              <a:t>• SafePaaS: AI Agents as SOX Risks 2026</a:t>
            </a:r>
          </a:p>
        </p:txBody>
      </p:sp>
      <p:sp>
        <p:nvSpPr>
          <p:cNvPr id="22" name="TextBox 21"/>
          <p:cNvSpPr txBox="1"/>
          <p:nvPr/>
        </p:nvSpPr>
        <p:spPr>
          <a:xfrm>
            <a:off x="6400800" y="3291840"/>
            <a:ext cx="5486400" cy="320040"/>
          </a:xfrm>
          <a:prstGeom prst="rect">
            <a:avLst/>
          </a:prstGeom>
          <a:noFill/>
        </p:spPr>
        <p:txBody>
          <a:bodyPr wrap="square">
            <a:spAutoFit/>
          </a:bodyPr>
          <a:lstStyle/>
          <a:p>
            <a:pPr algn="l"/>
            <a:r>
              <a:rPr sz="850" b="0" i="0">
                <a:solidFill>
                  <a:srgbClr val="CCDDFF"/>
                </a:solidFill>
              </a:rPr>
              <a:t>• Henrico Dolfing: IBM Watson Oncology Case Study</a:t>
            </a:r>
          </a:p>
        </p:txBody>
      </p:sp>
      <p:sp>
        <p:nvSpPr>
          <p:cNvPr id="23" name="TextBox 22"/>
          <p:cNvSpPr txBox="1"/>
          <p:nvPr/>
        </p:nvSpPr>
        <p:spPr>
          <a:xfrm>
            <a:off x="6400800" y="3630168"/>
            <a:ext cx="5486400" cy="320040"/>
          </a:xfrm>
          <a:prstGeom prst="rect">
            <a:avLst/>
          </a:prstGeom>
          <a:noFill/>
        </p:spPr>
        <p:txBody>
          <a:bodyPr wrap="square">
            <a:spAutoFit/>
          </a:bodyPr>
          <a:lstStyle/>
          <a:p>
            <a:pPr algn="l"/>
            <a:r>
              <a:rPr sz="850" b="0" i="0">
                <a:solidFill>
                  <a:srgbClr val="CCDDFF"/>
                </a:solidFill>
              </a:rPr>
              <a:t>• Axios / Fast Company: Amazon Go Closure Reports (Apr 2024)</a:t>
            </a:r>
          </a:p>
        </p:txBody>
      </p:sp>
      <p:sp>
        <p:nvSpPr>
          <p:cNvPr id="24" name="TextBox 23"/>
          <p:cNvSpPr txBox="1"/>
          <p:nvPr/>
        </p:nvSpPr>
        <p:spPr>
          <a:xfrm>
            <a:off x="6400800" y="3968496"/>
            <a:ext cx="5486400" cy="320040"/>
          </a:xfrm>
          <a:prstGeom prst="rect">
            <a:avLst/>
          </a:prstGeom>
          <a:noFill/>
        </p:spPr>
        <p:txBody>
          <a:bodyPr wrap="square">
            <a:spAutoFit/>
          </a:bodyPr>
          <a:lstStyle/>
          <a:p>
            <a:pPr algn="l"/>
            <a:r>
              <a:rPr sz="850" b="0" i="0">
                <a:solidFill>
                  <a:srgbClr val="CCDDFF"/>
                </a:solidFill>
              </a:rPr>
              <a:t>• The Information: Amazon Just Walk Out Hidden Labor Report</a:t>
            </a:r>
          </a:p>
        </p:txBody>
      </p:sp>
      <p:sp>
        <p:nvSpPr>
          <p:cNvPr id="25" name="TextBox 24"/>
          <p:cNvSpPr txBox="1"/>
          <p:nvPr/>
        </p:nvSpPr>
        <p:spPr>
          <a:xfrm>
            <a:off x="6400800" y="4306824"/>
            <a:ext cx="5486400" cy="320040"/>
          </a:xfrm>
          <a:prstGeom prst="rect">
            <a:avLst/>
          </a:prstGeom>
          <a:noFill/>
        </p:spPr>
        <p:txBody>
          <a:bodyPr wrap="square">
            <a:spAutoFit/>
          </a:bodyPr>
          <a:lstStyle/>
          <a:p>
            <a:pPr algn="l"/>
            <a:r>
              <a:rPr sz="850" b="0" i="0">
                <a:solidFill>
                  <a:srgbClr val="CCDDFF"/>
                </a:solidFill>
              </a:rPr>
              <a:t>• Nextgov / FCW: IRS AI Skills Gap (GAO, 2026)</a:t>
            </a:r>
          </a:p>
        </p:txBody>
      </p:sp>
      <p:sp>
        <p:nvSpPr>
          <p:cNvPr id="26" name="TextBox 25"/>
          <p:cNvSpPr txBox="1"/>
          <p:nvPr/>
        </p:nvSpPr>
        <p:spPr>
          <a:xfrm>
            <a:off x="6400800" y="4645152"/>
            <a:ext cx="5486400" cy="320040"/>
          </a:xfrm>
          <a:prstGeom prst="rect">
            <a:avLst/>
          </a:prstGeom>
          <a:noFill/>
        </p:spPr>
        <p:txBody>
          <a:bodyPr wrap="square">
            <a:spAutoFit/>
          </a:bodyPr>
          <a:lstStyle/>
          <a:p>
            <a:pPr algn="l"/>
            <a:r>
              <a:rPr sz="850" b="0" i="0">
                <a:solidFill>
                  <a:srgbClr val="CCDDFF"/>
                </a:solidFill>
              </a:rPr>
              <a:t>• U.S. GAO: Federal Agency AI Implementation Reviews</a:t>
            </a:r>
          </a:p>
        </p:txBody>
      </p:sp>
      <p:sp>
        <p:nvSpPr>
          <p:cNvPr id="27" name="TextBox 26"/>
          <p:cNvSpPr txBox="1"/>
          <p:nvPr/>
        </p:nvSpPr>
        <p:spPr>
          <a:xfrm>
            <a:off x="6400800" y="4983480"/>
            <a:ext cx="5486400" cy="320040"/>
          </a:xfrm>
          <a:prstGeom prst="rect">
            <a:avLst/>
          </a:prstGeom>
          <a:noFill/>
        </p:spPr>
        <p:txBody>
          <a:bodyPr wrap="square">
            <a:spAutoFit/>
          </a:bodyPr>
          <a:lstStyle/>
          <a:p>
            <a:pPr algn="l"/>
            <a:r>
              <a:rPr sz="850" b="0" i="0">
                <a:solidFill>
                  <a:srgbClr val="CCDDFF"/>
                </a:solidFill>
              </a:rPr>
              <a:t>• ERP Today: Manufacturing AI Adoption Challenges</a:t>
            </a:r>
          </a:p>
        </p:txBody>
      </p:sp>
      <p:sp>
        <p:nvSpPr>
          <p:cNvPr id="28" name="TextBox 27"/>
          <p:cNvSpPr txBox="1"/>
          <p:nvPr/>
        </p:nvSpPr>
        <p:spPr>
          <a:xfrm>
            <a:off x="6400800" y="5321808"/>
            <a:ext cx="5486400" cy="320040"/>
          </a:xfrm>
          <a:prstGeom prst="rect">
            <a:avLst/>
          </a:prstGeom>
          <a:noFill/>
        </p:spPr>
        <p:txBody>
          <a:bodyPr wrap="square">
            <a:spAutoFit/>
          </a:bodyPr>
          <a:lstStyle/>
          <a:p>
            <a:pPr algn="l"/>
            <a:r>
              <a:rPr sz="850" b="0" i="0">
                <a:solidFill>
                  <a:srgbClr val="CCDDFF"/>
                </a:solidFill>
              </a:rPr>
              <a:t>• JAMA Network Open: AI Oncology Physician Trust Study</a:t>
            </a:r>
          </a:p>
        </p:txBody>
      </p:sp>
      <p:sp>
        <p:nvSpPr>
          <p:cNvPr id="29" name="TextBox 28"/>
          <p:cNvSpPr txBox="1"/>
          <p:nvPr/>
        </p:nvSpPr>
        <p:spPr>
          <a:xfrm>
            <a:off x="6400800" y="5660136"/>
            <a:ext cx="5486400" cy="320040"/>
          </a:xfrm>
          <a:prstGeom prst="rect">
            <a:avLst/>
          </a:prstGeom>
          <a:noFill/>
        </p:spPr>
        <p:txBody>
          <a:bodyPr wrap="square">
            <a:spAutoFit/>
          </a:bodyPr>
          <a:lstStyle/>
          <a:p>
            <a:pPr algn="l"/>
            <a:r>
              <a:rPr sz="850" b="0" i="0">
                <a:solidFill>
                  <a:srgbClr val="CCDDFF"/>
                </a:solidFill>
              </a:rPr>
              <a:t>• CIO: AI Cost Overruns 2025 · Deloitte: AI ROI Paradox</a:t>
            </a:r>
          </a:p>
        </p:txBody>
      </p:sp>
      <p:sp>
        <p:nvSpPr>
          <p:cNvPr id="30" name="Rectangle 29"/>
          <p:cNvSpPr/>
          <p:nvPr/>
        </p:nvSpPr>
        <p:spPr>
          <a:xfrm>
            <a:off x="0" y="6263640"/>
            <a:ext cx="12188952" cy="594360"/>
          </a:xfrm>
          <a:prstGeom prst="rect">
            <a:avLst/>
          </a:prstGeom>
          <a:solidFill>
            <a:srgbClr val="08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327648"/>
            <a:ext cx="11247120" cy="365760"/>
          </a:xfrm>
          <a:prstGeom prst="rect">
            <a:avLst/>
          </a:prstGeom>
          <a:noFill/>
        </p:spPr>
        <p:txBody>
          <a:bodyPr wrap="square">
            <a:spAutoFit/>
          </a:bodyPr>
          <a:lstStyle/>
          <a:p>
            <a:pPr algn="ctr"/>
            <a:r>
              <a:rPr sz="900" b="0" i="0">
                <a:solidFill>
                  <a:srgbClr val="7799BB"/>
                </a:solidFill>
              </a:rPr>
              <a:t>行业智能化落地挑战  |  Industry AI Deployment Challenges  |  Based on U.S. Enterprise Research 2024–2026  |  April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