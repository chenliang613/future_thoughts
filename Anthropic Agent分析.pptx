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  <a:p>
            <a:r>
              <a:t>- https://modelcontextprotocol.io/specification/2026-07-28</a:t>
            </a:r>
          </a:p>
          <a:p>
            <a:r>
              <a:t>- https://www.anthropic.com/engineering/equipping-agents-for-the-real-world-with-agent-skills</a:t>
            </a:r>
          </a:p>
          <a:p>
            <a:r>
              <a:t>- 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  <a:p>
            <a:r>
              <a:t>- https://www.anthropic.com/engineering/harness-design-long-running-apps</a:t>
            </a:r>
          </a:p>
          <a:p>
            <a:r>
              <a:t>- https://www.anthropic.com/engineering/managed-agents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https://code.claude.com/docs/en/agent-sdk/overview</a:t>
            </a:r>
          </a:p>
          <a:p>
            <a:r>
              <a:t>- https://modelcontextprotocol.io/specification/2025-06-18/architecture</a:t>
            </a:r>
          </a:p>
          <a:p>
            <a:r>
              <a:t>- https://www.anthropic.com/engineering/equipping-agents-for-the-real-world-with-agent-skills</a:t>
            </a:r>
          </a:p>
          <a:p>
            <a:r>
              <a:t>- https://www.anthropic.com/engineering/managed-agents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  <a:p>
            <a:r>
              <a:t>- https://code.claude.com/docs/en/agent-sdk/overview</a:t>
            </a:r>
          </a:p>
          <a:p>
            <a:r>
              <a:t>- 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https://modelcontextprotocol.io/specification/2026-07-28</a:t>
            </a:r>
          </a:p>
          <a:p>
            <a:r>
              <a:t>- https://modelcontextprotocol.io/specification/2025-06-18/architecture</a:t>
            </a:r>
          </a:p>
          <a:p>
            <a:r>
              <a:t>- https://www.anthropic.com/research/trustworthy-agents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https://www.anthropic.com/engineering/equipping-agents-for-the-real-world-with-agent-skills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https://code.claude.com/docs/en/agent-sdk/overview</a:t>
            </a:r>
          </a:p>
          <a:p>
            <a:r>
              <a:t>- https://code.claude.com/docs/en/agent-sdk/hooks</a:t>
            </a:r>
          </a:p>
          <a:p>
            <a:r>
              <a:t>- https://www.anthropic.com/engineering/managed-agents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https://code.claude.com/docs/en/agent-sdk/overview</a:t>
            </a:r>
          </a:p>
          <a:p>
            <a:r>
              <a:t>- https://code.claude.com/docs/en/agent-sdk/hooks</a:t>
            </a:r>
          </a:p>
          <a:p>
            <a:r>
              <a:t>- https://www.anthropic.com/research/trustworthy-agents</a:t>
            </a:r>
          </a:p>
          <a:p>
            <a:r>
              <a:t>- https://platform.claude.com/docs/en/managed-agents/events-and-streaming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https://www.anthropic.com/engineering/effective-context-engineering-for-ai-agents</a:t>
            </a:r>
          </a:p>
          <a:p>
            <a:r>
              <a:t>- https://platform.claude.com/docs/en/agents-and-tools/tool-use/manage-tool-context</a:t>
            </a:r>
          </a:p>
          <a:p>
            <a:r>
              <a:t>- https://www.anthropic.com/engineering/effective-harnesses-for-long-running-agents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https://www.anthropic.com/engineering/effective-harnesses-for-long-running-agents</a:t>
            </a:r>
          </a:p>
          <a:p>
            <a:r>
              <a:t>- 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https://www.anthropic.com/engineering/harness-design-long-running-apps</a:t>
            </a:r>
          </a:p>
          <a:p>
            <a:r>
              <a:t>-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https://code.claude.com/docs/en/agent-sdk/overview</a:t>
            </a:r>
          </a:p>
          <a:p>
            <a:r>
              <a:t>- https://www.anthropic.com/engineering/managed-agents</a:t>
            </a:r>
          </a:p>
          <a:p>
            <a:r>
              <a:t>- https://platform.claude.com/docs/en/managed-agents/sessions</a:t>
            </a:r>
          </a:p>
          <a:p>
            <a:r>
              <a:t>- https://platform.claude.com/docs/en/managed-agents/environments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https://www.anthropic.com/engineering/managed-agents</a:t>
            </a:r>
          </a:p>
          <a:p>
            <a:r>
              <a:t>- https://modelcontextprotocol.io/specification/2025-06-18/architecture</a:t>
            </a:r>
          </a:p>
          <a:p>
            <a:r>
              <a:t>- https://code.claude.com/docs/en/agent-sdk/overview</a:t>
            </a:r>
          </a:p>
          <a:p>
            <a:r>
              <a:t>- https://www.anthropic.com/research/trustworthy-agents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https://www.anthropic.com/research/trustworthy-agents</a:t>
            </a:r>
          </a:p>
          <a:p>
            <a:r>
              <a:t>- https://code.claude.com/docs/en/agent-sdk/hooks</a:t>
            </a:r>
          </a:p>
          <a:p>
            <a:r>
              <a:t>- https://modelcontextprotocol.io/specification/2026-07-28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https://www.anthropic.com/engineering/demystifying-evals-for-ai-agents</a:t>
            </a:r>
          </a:p>
          <a:p>
            <a:r>
              <a:t>- https://www.anthropic.com/research/trustworthy-agents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https://platform.claude.com/docs/en/agents-and-tools/tool-use/manage-tool-context</a:t>
            </a:r>
          </a:p>
          <a:p>
            <a:r>
              <a:t>- 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  <a:p>
            <a:r>
              <a:t>- https://www.anthropic.com/engineering/demystifying-evals-for-ai-agents</a:t>
            </a:r>
          </a:p>
          <a:p>
            <a:r>
              <a:t>- https://code.claude.com/docs/en/agent-sdk/overview</a:t>
            </a:r>
          </a:p>
          <a:p>
            <a:r>
              <a:t>- https://www.anthropic.com/engineering/managed-agents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https://www.anthropic.com/engineering/equipping-agents-for-the-real-world-with-agent-skills</a:t>
            </a:r>
          </a:p>
          <a:p>
            <a:r>
              <a:t>- https://modelcontextprotocol.io/specification/2025-06-18/architecture</a:t>
            </a:r>
          </a:p>
          <a:p>
            <a:r>
              <a:t>- https://code.claude.com/docs/en/agent-sdk/overview</a:t>
            </a:r>
          </a:p>
          <a:p>
            <a:r>
              <a:t>- https://www.anthropic.com/engineering/demystifying-evals-for-ai-agents</a:t>
            </a:r>
          </a:p>
          <a:p>
            <a:r>
              <a:t>- https://www.anthropic.com/research/trustworthy-agents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https://www.anthropic.com/engineering/building-effective-agents</a:t>
            </a:r>
          </a:p>
          <a:p>
            <a:r>
              <a:t>- https://www.anthropic.com/engineering/harness-design-long-running-apps</a:t>
            </a:r>
          </a:p>
          <a:p>
            <a:r>
              <a:t>- https://www.anthropic.com/engineering/managed-agents</a:t>
            </a:r>
          </a:p>
          <a:p>
            <a:r>
              <a:t>- https://www.anthropic.com/research/trustworthy-agents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75320" y="1170432"/>
            <a:ext cx="34747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174736" y="106984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275320" y="2240280"/>
            <a:ext cx="2834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174736" y="213969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75320" y="3310128"/>
            <a:ext cx="21945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174736" y="3209544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275320" y="4379976"/>
            <a:ext cx="1554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174736" y="427939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669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PingFang SC"/>
              </a:rPr>
              <a:t>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81328"/>
            <a:ext cx="67208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71717"/>
                </a:solidFill>
                <a:latin typeface="PingFang SC"/>
              </a:rPr>
              <a:t>Agent 方案深度分析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900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626262"/>
                </a:solidFill>
                <a:latin typeface="PingFang SC"/>
              </a:rPr>
              <a:t>依托 Claude + MCP + Skills + Harness
构建可生产、可治理、可演进的完整系统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97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架构分析 · 工程方法 · 企业落地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8978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EXECUTIVE VIEW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完整 Agent 不是“四件套拼装”，而是一个闭环系统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757"/>
                </a:solidFill>
                <a:latin typeface="PingFang SC"/>
              </a:rPr>
              <a:t>Claude</a:t>
            </a:r>
            <a:r>
              <a:rPr sz="2300" b="0">
                <a:solidFill>
                  <a:srgbClr val="171717"/>
                </a:solidFill>
                <a:latin typeface="PingFang SC"/>
              </a:rPr>
              <a:t> 决策  ×  </a:t>
            </a:r>
            <a:r>
              <a:rPr sz="3000" b="1">
                <a:solidFill>
                  <a:srgbClr val="376A8F"/>
                </a:solidFill>
                <a:latin typeface="PingFang SC"/>
              </a:rPr>
              <a:t>MCP</a:t>
            </a:r>
            <a:r>
              <a:rPr sz="2300" b="0">
                <a:solidFill>
                  <a:srgbClr val="171717"/>
                </a:solidFill>
                <a:latin typeface="PingFang SC"/>
              </a:rPr>
              <a:t> 连接  ×  </a:t>
            </a:r>
            <a:r>
              <a:rPr sz="3000" b="1">
                <a:solidFill>
                  <a:srgbClr val="2E7D68"/>
                </a:solidFill>
                <a:latin typeface="PingFang SC"/>
              </a:rPr>
              <a:t>Skills</a:t>
            </a:r>
            <a:r>
              <a:rPr sz="2300" b="0">
                <a:solidFill>
                  <a:srgbClr val="171717"/>
                </a:solidFill>
                <a:latin typeface="PingFang SC"/>
              </a:rPr>
              <a:t> 规程  ×  </a:t>
            </a:r>
            <a:r>
              <a:rPr sz="3000" b="1">
                <a:solidFill>
                  <a:srgbClr val="171717"/>
                </a:solidFill>
                <a:latin typeface="PingFang SC"/>
              </a:rPr>
              <a:t>Harness</a:t>
            </a:r>
            <a:r>
              <a:rPr sz="2300" b="0">
                <a:solidFill>
                  <a:srgbClr val="171717"/>
                </a:solidFill>
                <a:latin typeface="PingFang SC"/>
              </a:rPr>
              <a:t> 运行与治理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2487168"/>
            <a:ext cx="10085832" cy="0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8163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97757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55848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能力边界由模型决定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96512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模型负责理解、推理、规划与工具选择；其能力提升会让部分 Harness 逻辑变成冗余。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28163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97757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3355848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可复用性来自协议与知识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4096512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MCP 统一“连接外部世界”，Skills 统一“如何把事做对”，二者职责不能混用。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8664" y="281635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97757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3355848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生产可靠性来自工程系统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4096512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真正的差异化落在权限、状态、上下文、恢复、评测、成本和人机协同闭环。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PingFang SC"/>
              </a:rPr>
              <a:t>核心判断：先用最简单的单 Agent 闭环跑通，再用评测证据决定是否增加工作流、多 Agent 或更重的 Harness。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DESIGN PHILOSOPHY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Anthropic 的起点：在“确定性流程”与“自主 Agent”之间连续选型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926080"/>
            <a:ext cx="10287000" cy="0"/>
          </a:xfrm>
          <a:prstGeom prst="line">
            <a:avLst/>
          </a:prstGeom>
          <a:ln w="2794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2770632"/>
            <a:ext cx="310896" cy="310896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固定工作流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路径明确
高可预测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2770632"/>
            <a:ext cx="310896" cy="310896"/>
          </a:xfrm>
          <a:prstGeom prst="ellipse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74519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路由 / 并行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33375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动态分配
有限自治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2770632"/>
            <a:ext cx="310896" cy="31089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19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编排-执行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分解未知
聚合结果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2770632"/>
            <a:ext cx="310896" cy="310896"/>
          </a:xfrm>
          <a:prstGeom prst="ellipse">
            <a:avLst/>
          </a:prstGeom>
          <a:solidFill>
            <a:srgbClr val="8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74519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评估-优化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3375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质量闭环
迭代收敛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2770632"/>
            <a:ext cx="310896" cy="310896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自主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3375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开放问题
自定步骤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45152"/>
            <a:ext cx="10195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1717"/>
                </a:solidFill>
                <a:latin typeface="PingFang SC"/>
              </a:rPr>
              <a:t>任务越开放，越需要模型判断；行动越高风险，越需要 Harness 约束。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76672"/>
            <a:ext cx="9738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26262"/>
                </a:solidFill>
                <a:latin typeface="PingFang SC"/>
              </a:rPr>
              <a:t>复杂度应由任务不确定性、失败成本和评测结果共同驱动，而不是由“多 Agent”概念驱动。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REFERENCE STACK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四层分工清晰，系统才能既聪明又可控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2423160" cy="7498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Claude / Brain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8001000" cy="74980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71717"/>
                </a:solidFill>
                <a:latin typeface="PingFang SC"/>
              </a:rPr>
              <a:t>理解意图 · 推理规划 · 选择工具 · 反思纠偏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2423160" cy="749808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8620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Skills / Playbook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697480"/>
            <a:ext cx="8001000" cy="74980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880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71717"/>
                </a:solidFill>
                <a:latin typeface="PingFang SC"/>
              </a:rPr>
              <a:t>领域方法 · SOP · 模板 · 脚本 · 质量标准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39"/>
            <a:ext cx="2423160" cy="749808"/>
          </a:xfrm>
          <a:prstGeom prst="rect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91363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MCP / I/O Bus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749039"/>
            <a:ext cx="8001000" cy="74980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931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71717"/>
                </a:solidFill>
                <a:latin typeface="PingFang SC"/>
              </a:rPr>
              <a:t>资源 · 工具 · 提示模板 · 企业系统连接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0600"/>
            <a:ext cx="2423160" cy="74980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96519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Harness / 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800600"/>
            <a:ext cx="8001000" cy="749808"/>
          </a:xfrm>
          <a:prstGeom prst="rect">
            <a:avLst/>
          </a:prstGeom>
          <a:solidFill>
            <a:srgbClr val="E6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983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71717"/>
                </a:solidFill>
                <a:latin typeface="PingFang SC"/>
              </a:rPr>
              <a:t>循环 · 状态 · 权限 · 沙箱 · 恢复 · 评测 · 观测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925312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7757"/>
                </a:solidFill>
                <a:latin typeface="PingFang SC"/>
              </a:rPr>
              <a:t>关键边界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879592"/>
            <a:ext cx="9372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MCP 提供“能调用什么”；Skills 规定“应该怎样调用”；Harness 决定“何时、在何种权限与状态下持续调用”。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CLAUDE MODEL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Claude 是动态决策内核，但不应承担所有系统职责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3886200" cy="44348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ingFang SC"/>
              </a:rPr>
              <a:t>模型应负责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PingFang SC"/>
              </a:defRPr>
            </a:pPr>
            <a:r>
              <a:t>●  意图理解与歧义识别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PingFang SC"/>
              </a:defRPr>
            </a:pPr>
            <a:r>
              <a:t>●  任务分解与计划修正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PingFang SC"/>
              </a:defRPr>
            </a:pPr>
            <a:r>
              <a:t>●  工具发现、选择与参数生成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PingFang SC"/>
              </a:defRPr>
            </a:pPr>
            <a:r>
              <a:t>●  基于观察结果继续推理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PingFang SC"/>
              </a:defRPr>
            </a:pPr>
            <a:r>
              <a:t>●  在不确定时请求人类输入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70078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71717"/>
                </a:solidFill>
                <a:latin typeface="PingFang SC"/>
              </a:rPr>
              <a:t>模型不应独自负责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340864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权限边界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34086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26262"/>
                </a:solidFill>
                <a:latin typeface="PingFang SC"/>
              </a:rPr>
              <a:t>由策略引擎与审批流程决定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18211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持久状态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18211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26262"/>
                </a:solidFill>
                <a:latin typeface="PingFang SC"/>
              </a:rPr>
              <a:t>由会话、事件日志和业务数据库承载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0233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可靠执行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023360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26262"/>
                </a:solidFill>
                <a:latin typeface="PingFang SC"/>
              </a:rPr>
              <a:t>由沙箱、重试、幂等与超时保障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86460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质量证明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864608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26262"/>
                </a:solidFill>
                <a:latin typeface="PingFang SC"/>
              </a:rPr>
              <a:t>由独立评测与真实业务指标验证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" y="5705856"/>
            <a:ext cx="5897880" cy="0"/>
          </a:xfrm>
          <a:prstGeom prst="line">
            <a:avLst/>
          </a:prstGeom>
          <a:ln w="127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74920" y="5833872"/>
            <a:ext cx="5897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模型路由原则：按“任务难度 × 风险 × 延迟预算”选择模型；先测质量边界，再优化成本。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MODEL CONTEXT PROTOCOL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MCP 把工具接入标准化，但安全责任仍在 Host 与企业治理层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40" y="214884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214884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63240" y="324612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324612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63240" y="434340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4343400"/>
            <a:ext cx="1508760" cy="0"/>
          </a:xfrm>
          <a:prstGeom prst="line">
            <a:avLst/>
          </a:prstGeom>
          <a:ln w="20320">
            <a:solidFill>
              <a:srgbClr val="376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58368" y="1828800"/>
            <a:ext cx="2404872" cy="283464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574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ingFang SC"/>
              </a:rPr>
              <a:t>MCP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74320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PingFang SC"/>
              </a:rPr>
              <a:t>会话 / 模型 / 策略
授权 / 上下文聚合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47088"/>
            <a:ext cx="2743200" cy="61264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9933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Client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44368"/>
            <a:ext cx="2743200" cy="61264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090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Client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041648"/>
            <a:ext cx="2743200" cy="61264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187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Client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755648"/>
            <a:ext cx="2697480" cy="804672"/>
          </a:xfrm>
          <a:prstGeom prst="roundRect">
            <a:avLst>
              <a:gd name="adj" fmla="val 8000"/>
            </a:avLst>
          </a:prstGeom>
          <a:solidFill>
            <a:srgbClr val="FBF7F2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88366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Server：知识库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20370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Resources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852928"/>
            <a:ext cx="2697480" cy="804672"/>
          </a:xfrm>
          <a:prstGeom prst="roundRect">
            <a:avLst>
              <a:gd name="adj" fmla="val 8000"/>
            </a:avLst>
          </a:prstGeom>
          <a:solidFill>
            <a:srgbClr val="FBF7F2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98094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Server：业务系统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30098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950208"/>
            <a:ext cx="2697480" cy="804672"/>
          </a:xfrm>
          <a:prstGeom prst="roundRect">
            <a:avLst>
              <a:gd name="adj" fmla="val 8000"/>
            </a:avLst>
          </a:prstGeom>
          <a:solidFill>
            <a:srgbClr val="FBF7F2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40782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Server：工作模板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439826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Prompts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937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7757"/>
                </a:solidFill>
                <a:latin typeface="PingFang SC"/>
              </a:rPr>
              <a:t>生产要点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175504"/>
            <a:ext cx="937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最小权限 · 工具白名单 · 参数校验 · OAuth 受众绑定 · 结果净化 · 人工确认 · 审计追踪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68756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协议负责互操作，不自动解决工具可信度、提示注入、数据外泄与误操作。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AGENT SKILLS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Skills 把隐性经验变成“按需加载、可版本化”的操作规程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907792"/>
            <a:ext cx="8183880" cy="0"/>
          </a:xfrm>
          <a:prstGeom prst="line">
            <a:avLst/>
          </a:prstGeom>
          <a:ln w="22860">
            <a:solidFill>
              <a:srgbClr val="2E7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1520" y="2679192"/>
            <a:ext cx="457200" cy="457200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77063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10128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name + description
常驻系统提示，负责触发</a:t>
            </a:r>
          </a:p>
        </p:txBody>
      </p:sp>
      <p:sp>
        <p:nvSpPr>
          <p:cNvPr id="11" name="Oval 10"/>
          <p:cNvSpPr/>
          <p:nvPr/>
        </p:nvSpPr>
        <p:spPr>
          <a:xfrm>
            <a:off x="4069080" y="2679192"/>
            <a:ext cx="457200" cy="457200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277063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75564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310128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完整流程与约束
命中任务后加载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679192"/>
            <a:ext cx="457200" cy="457200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77063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</a:rPr>
              <a:t>L3+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75564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1717"/>
                </a:solidFill>
                <a:latin typeface="PingFang SC"/>
              </a:rPr>
              <a:t>References /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10128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细分知识、模板、脚本
仅在需要时读取或执行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81728"/>
            <a:ext cx="10561320" cy="109728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19472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97757"/>
                </a:solidFill>
                <a:latin typeface="PingFang SC"/>
              </a:rPr>
              <a:t>设计准则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882896"/>
            <a:ext cx="8641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触发描述要可区分｜流程要可执行｜脚本要幂等｜资源要可追溯｜输出要有验收标准｜变更要版本化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98017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E7D68"/>
                </a:solidFill>
                <a:latin typeface="PingFang SC"/>
              </a:rPr>
              <a:t>Skills 不是“更多 Prompt”，而是面向 Agent 的能力包与组织知识供应链。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HARNESS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Harness 是 Agent 的“操作系统”：把一次推理变成可持续执行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880360" y="1892807"/>
            <a:ext cx="2651760" cy="301753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32120" y="1892807"/>
            <a:ext cx="2697480" cy="301753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2194560"/>
            <a:ext cx="502920" cy="2285999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623559" y="4480559"/>
            <a:ext cx="3108961" cy="685800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606039" y="4480559"/>
            <a:ext cx="3017520" cy="685800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6039" y="2194560"/>
            <a:ext cx="274321" cy="2285999"/>
          </a:xfrm>
          <a:prstGeom prst="line">
            <a:avLst/>
          </a:prstGeom>
          <a:ln w="1905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3000" y="1572768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9304" y="17465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7028" y="1819656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168249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接收目标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0208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定义结果与约束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3048" y="1261872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59352" y="143560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7076" y="1508760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371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构造上下文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7099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检索 / Skills / 记忆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572768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4264" y="17465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1988" y="1819656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168249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调用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0208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计划与下一步动作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858768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87184" y="40325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4908" y="4105656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9684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执行工具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43068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MCP / 内置工具 / 沙箱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4544568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32504" y="47183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0228" y="4791456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6542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观察与评估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9926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校验结果、成本与风险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858768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0704" y="40325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8428" y="4105656"/>
            <a:ext cx="2011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39684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继续 / 交接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6192" y="43068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6262"/>
                </a:solidFill>
                <a:latin typeface="PingFang SC"/>
              </a:rPr>
              <a:t>重试、审批、暂停、恢复</a:t>
            </a:r>
          </a:p>
        </p:txBody>
      </p:sp>
      <p:sp>
        <p:nvSpPr>
          <p:cNvPr id="42" name="Oval 41"/>
          <p:cNvSpPr/>
          <p:nvPr/>
        </p:nvSpPr>
        <p:spPr>
          <a:xfrm>
            <a:off x="4873752" y="2852928"/>
            <a:ext cx="1143000" cy="1143000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3090672"/>
            <a:ext cx="749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Agent
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879592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Harness 的价值不是“多调几次模型”，而是让每一次行动都可授权、可恢复、可解释、可评测。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END-TO-END FLOW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一次生产级 Agent 任务，需要经过九个可观测状态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23160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75888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28616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81344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34072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39528" y="2852928"/>
            <a:ext cx="502920" cy="0"/>
          </a:xfrm>
          <a:prstGeom prst="line">
            <a:avLst/>
          </a:prstGeom>
          <a:ln w="1778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3816" y="2587752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1 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249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成功标准</a:t>
            </a:r>
          </a:p>
        </p:txBody>
      </p:sp>
      <p:sp>
        <p:nvSpPr>
          <p:cNvPr id="18" name="Oval 17"/>
          <p:cNvSpPr/>
          <p:nvPr/>
        </p:nvSpPr>
        <p:spPr>
          <a:xfrm>
            <a:off x="2066544" y="2587752"/>
            <a:ext cx="530352" cy="53035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8216" y="340156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2 风险分类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8216" y="381304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只读/写入/外发</a:t>
            </a:r>
          </a:p>
        </p:txBody>
      </p:sp>
      <p:sp>
        <p:nvSpPr>
          <p:cNvPr id="22" name="Oval 21"/>
          <p:cNvSpPr/>
          <p:nvPr/>
        </p:nvSpPr>
        <p:spPr>
          <a:xfrm>
            <a:off x="3319272" y="2587752"/>
            <a:ext cx="530352" cy="530352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3 上下文装配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0944" y="2249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选择性检索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2587752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340156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4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381304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可修订步骤</a:t>
            </a:r>
          </a:p>
        </p:txBody>
      </p:sp>
      <p:sp>
        <p:nvSpPr>
          <p:cNvPr id="30" name="Oval 29"/>
          <p:cNvSpPr/>
          <p:nvPr/>
        </p:nvSpPr>
        <p:spPr>
          <a:xfrm>
            <a:off x="5824728" y="2587752"/>
            <a:ext cx="530352" cy="530352"/>
          </a:xfrm>
          <a:prstGeom prst="ellipse">
            <a:avLst/>
          </a:prstGeom>
          <a:solidFill>
            <a:srgbClr val="B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2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5 工具授权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249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策略+人审</a:t>
            </a:r>
          </a:p>
        </p:txBody>
      </p:sp>
      <p:sp>
        <p:nvSpPr>
          <p:cNvPr id="34" name="Oval 33"/>
          <p:cNvSpPr/>
          <p:nvPr/>
        </p:nvSpPr>
        <p:spPr>
          <a:xfrm>
            <a:off x="7077456" y="2587752"/>
            <a:ext cx="530352" cy="530352"/>
          </a:xfrm>
          <a:prstGeom prst="ellipse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40156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6 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381304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沙箱+幂等</a:t>
            </a:r>
          </a:p>
        </p:txBody>
      </p:sp>
      <p:sp>
        <p:nvSpPr>
          <p:cNvPr id="38" name="Oval 37"/>
          <p:cNvSpPr/>
          <p:nvPr/>
        </p:nvSpPr>
        <p:spPr>
          <a:xfrm>
            <a:off x="8330183" y="2587752"/>
            <a:ext cx="530352" cy="530352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856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7 结果校验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1856" y="2249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结构/语义/业务</a:t>
            </a:r>
          </a:p>
        </p:txBody>
      </p:sp>
      <p:sp>
        <p:nvSpPr>
          <p:cNvPr id="42" name="Oval 41"/>
          <p:cNvSpPr/>
          <p:nvPr/>
        </p:nvSpPr>
        <p:spPr>
          <a:xfrm>
            <a:off x="9582911" y="2587752"/>
            <a:ext cx="530352" cy="530352"/>
          </a:xfrm>
          <a:prstGeom prst="ellipse">
            <a:avLst/>
          </a:prstGeom>
          <a:solidFill>
            <a:srgbClr val="8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29215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340156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8 记忆/交接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81304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事件+摘要</a:t>
            </a:r>
          </a:p>
        </p:txBody>
      </p:sp>
      <p:sp>
        <p:nvSpPr>
          <p:cNvPr id="46" name="Oval 45"/>
          <p:cNvSpPr/>
          <p:nvPr/>
        </p:nvSpPr>
        <p:spPr>
          <a:xfrm>
            <a:off x="10835640" y="2587752"/>
            <a:ext cx="530352" cy="53035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81944" y="27523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ingFang SC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7312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9 完成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2249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26262"/>
                </a:solidFill>
                <a:latin typeface="PingFang SC"/>
              </a:rPr>
              <a:t>产物+证据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956048"/>
            <a:ext cx="10744200" cy="84124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19379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三条强制断点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5166360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高风险动作前审批  ｜  工具结果进入上下文前净化  ｜  最终交付前独立验证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CONTEXT ENGINEERING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上下文工程：让每个 Token 都有决策价值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10698480" cy="713232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1920240" cy="7132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470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选择 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847088"/>
            <a:ext cx="82753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只取与当前决策相关的任务、证据、工具和规程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551176"/>
            <a:ext cx="9692640" cy="713232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2551176"/>
            <a:ext cx="1920240" cy="713232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27340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写入 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2734056"/>
            <a:ext cx="7269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把计划、事实、假设与未决项外化为结构化状态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438144"/>
            <a:ext cx="8686800" cy="713232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3438144"/>
            <a:ext cx="1920240" cy="713232"/>
          </a:xfrm>
          <a:prstGeom prst="rect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36210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压缩 Compress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3621024"/>
            <a:ext cx="6263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摘要旧对话；删除陈旧 tool_result；保留可验证引用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4325112"/>
            <a:ext cx="7680960" cy="713232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4325112"/>
            <a:ext cx="1920240" cy="71323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45079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隔离 Isolate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4507992"/>
            <a:ext cx="5257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子 Agent / 沙箱处理重任务，只返回高价值结果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39496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7757"/>
                </a:solidFill>
                <a:latin typeface="PingFang SC"/>
              </a:rPr>
              <a:t>组合策略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35838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Tool Search 降低工具定义基线  ×  Prompt Cache 降低重复成本  ×  Context Editing 清理历史噪声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833872"/>
            <a:ext cx="8778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长任务仍需“干净上下文 + 结构化交接”，不能只依赖自动压缩。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LONG-RUNNING AGENTS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跨上下文长任务靠“增量进展 + 可验证交接”维持一致性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331720"/>
            <a:ext cx="1307591" cy="0"/>
          </a:xfrm>
          <a:prstGeom prst="line">
            <a:avLst/>
          </a:prstGeom>
          <a:ln w="2159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97880" y="2331720"/>
            <a:ext cx="1280160" cy="0"/>
          </a:xfrm>
          <a:prstGeom prst="line">
            <a:avLst/>
          </a:prstGeom>
          <a:ln w="2159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35440" y="2331720"/>
            <a:ext cx="1051560" cy="0"/>
          </a:xfrm>
          <a:prstGeom prst="line">
            <a:avLst/>
          </a:prstGeom>
          <a:ln w="2159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1755648"/>
            <a:ext cx="2103120" cy="23317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32304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PingFang SC"/>
              </a:rPr>
              <a:t>初始化器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90088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拆解目标
建立任务清单
准备测试/环境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1755648"/>
            <a:ext cx="2103120" cy="23317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3" y="1965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7757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3" y="2432304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PingFang SC"/>
              </a:rPr>
              <a:t>执行会话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3" y="2990088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只推进一个增量
运行验证
写入结构化状态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755648"/>
            <a:ext cx="2103120" cy="23317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965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6A8F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432304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PingFang SC"/>
              </a:rPr>
              <a:t>干净重启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990088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加载进展文件
读取版本历史
确认下一步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2368" y="1755648"/>
            <a:ext cx="2103120" cy="23317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E7D68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432304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PingFang SC"/>
              </a:rPr>
              <a:t>执行会话 N+1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990088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6262"/>
                </a:solidFill>
                <a:latin typeface="PingFang SC"/>
              </a:rPr>
              <a:t>继续增量
修复回归
更新交接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36592"/>
            <a:ext cx="10972800" cy="105156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97757"/>
                </a:solidFill>
                <a:latin typeface="PingFang SC"/>
              </a:rPr>
              <a:t>交接四问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95604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已完成什么？  ｜  当前状态如何验证？  ｜  还缺什么？  ｜  下一步最小动作是什么？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适用边界：长周期、可分解、有外部状态、有自动验证；短任务不应承担交接开销。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MULTI-AGENT PATTERN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复杂任务的强 Harness：规划、生成与评估相互制衡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953512"/>
            <a:ext cx="1463040" cy="0"/>
          </a:xfrm>
          <a:prstGeom prst="line">
            <a:avLst/>
          </a:prstGeom>
          <a:ln w="254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2953512"/>
            <a:ext cx="1444752" cy="0"/>
          </a:xfrm>
          <a:prstGeom prst="line">
            <a:avLst/>
          </a:prstGeom>
          <a:ln w="2540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400800" y="4069080"/>
            <a:ext cx="3383280" cy="1005840"/>
          </a:xfrm>
          <a:prstGeom prst="line">
            <a:avLst/>
          </a:prstGeom>
          <a:ln w="1905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8368" y="2039112"/>
            <a:ext cx="2560320" cy="18288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PingFang SC"/>
              </a:rP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44368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SC"/>
              </a:rPr>
              <a:t>把模糊目标扩展为
规格、范围与验收标准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039112"/>
            <a:ext cx="2560320" cy="18288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3591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PingFang SC"/>
              </a:rPr>
              <a:t>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944368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SC"/>
              </a:rPr>
              <a:t>执行计划、调用工具、
产出可运行结果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2039112"/>
            <a:ext cx="2560320" cy="1828800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23591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PingFang SC"/>
              </a:rPr>
              <a:t>Evaluator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944368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SC"/>
              </a:rPr>
              <a:t>独立检查结果与证据，
输出可操作缺陷清单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46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D97757"/>
                </a:solidFill>
                <a:latin typeface="PingFang SC"/>
              </a:rPr>
              <a:t>评估反馈驱动下一轮生成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257800"/>
            <a:ext cx="10972800" cy="713232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458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7757"/>
                </a:solidFill>
                <a:latin typeface="PingFang SC"/>
              </a:rPr>
              <a:t>启用条件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422392"/>
            <a:ext cx="9098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任务超出单模型稳定能力边界  ｜  结果质量可被独立评估  ｜  质量提升足以覆盖额外成本与延迟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BUILD / BUY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三种实现路径：控制力、交付速度与运维责任的不同交换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2103120" cy="5852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37943"/>
            <a:ext cx="18470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664208"/>
            <a:ext cx="2889504" cy="5852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837943"/>
            <a:ext cx="2633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Messages API + 自研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0992" y="1664208"/>
            <a:ext cx="2898648" cy="5852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7" y="1837943"/>
            <a:ext cx="2642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Claude Agent SDK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664208"/>
            <a:ext cx="2971800" cy="5852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1837943"/>
            <a:ext cx="2715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Managed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49424"/>
            <a:ext cx="2103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386584"/>
            <a:ext cx="18836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适合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249424"/>
            <a:ext cx="288950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386584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强定制平台 / 已有编排底座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2249424"/>
            <a:ext cx="289864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386584"/>
            <a:ext cx="267919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快速构建本地或自托管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249424"/>
            <a:ext cx="2971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7" y="2386584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长时云端任务 / 托管会话与沙箱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953512"/>
            <a:ext cx="2103120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90672"/>
            <a:ext cx="18836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内置能力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953512"/>
            <a:ext cx="2889504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309067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最少；循环与工具执行自建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2953512"/>
            <a:ext cx="2898648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090672"/>
            <a:ext cx="267919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工具、Hooks、权限、会话、子 Agent、MCP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953512"/>
            <a:ext cx="2971800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7" y="309067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会话、事件流、沙箱、MCP、凭证托管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2103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794760"/>
            <a:ext cx="18836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控制力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657600"/>
            <a:ext cx="288950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794760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最高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657600"/>
            <a:ext cx="289864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794760"/>
            <a:ext cx="267919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657600"/>
            <a:ext cx="2971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7" y="3794760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中高：控制配置与执行环境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361688"/>
            <a:ext cx="2103120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498848"/>
            <a:ext cx="18836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运维责任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4361688"/>
            <a:ext cx="2889504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4498848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最高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0992" y="4361688"/>
            <a:ext cx="2898648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4498848"/>
            <a:ext cx="267919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中高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4361688"/>
            <a:ext cx="2971800" cy="704088"/>
          </a:xfrm>
          <a:prstGeom prst="rect">
            <a:avLst/>
          </a:prstGeom>
          <a:solidFill>
            <a:srgbClr val="F3F1EE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7" y="4498848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较低；仍需业务治理与评测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065776"/>
            <a:ext cx="2103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202936"/>
            <a:ext cx="18836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推荐起点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5065776"/>
            <a:ext cx="288950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1216" y="5202936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已有成熟平台时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5065776"/>
            <a:ext cx="2898648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5202936"/>
            <a:ext cx="267919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大多数工程团队的首选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5065776"/>
            <a:ext cx="2971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5202936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PingFang SC"/>
              </a:rPr>
              <a:t>长任务、弹性运行和隔离要求明确时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971032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1717"/>
                </a:solidFill>
                <a:latin typeface="PingFang SC"/>
              </a:rPr>
              <a:t>建议：先以 Agent SDK 验证业务闭环；需要托管长任务/隔离弹性时迁移 Managed Agents；只有平台差异化明确时才全自研。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ENTERPRISE ARCHITECTURE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企业参考架构：控制面与执行面分离，数据和权限沿调用链收敛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196596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72200" y="196596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8320" y="196596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97480" y="297180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297180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18320" y="297180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3977639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72200" y="3977639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18320" y="3977639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97480" y="498348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72200" y="498348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0" y="4983480"/>
            <a:ext cx="548640" cy="0"/>
          </a:xfrm>
          <a:prstGeom prst="line">
            <a:avLst/>
          </a:prstGeom>
          <a:ln w="1651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8368" y="1627632"/>
            <a:ext cx="2039112" cy="411480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27632"/>
            <a:ext cx="2039112" cy="56692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1801368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体验层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2441448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578608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Copilot / Chat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3145536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82696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Workflow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" y="3849624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9867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定时 / 事件触发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1627632"/>
            <a:ext cx="2926080" cy="411480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1627632"/>
            <a:ext cx="2926080" cy="5669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1801368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Agent 控制面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0712" y="2441448"/>
            <a:ext cx="25968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257860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目标与风险分类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0712" y="3145536"/>
            <a:ext cx="25968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3282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Claude 路由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0712" y="3849624"/>
            <a:ext cx="25968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39" y="398678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Skills 装配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0712" y="4553712"/>
            <a:ext cx="25968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39" y="469087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Harness 状态机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1627632"/>
            <a:ext cx="2697480" cy="411480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1627632"/>
            <a:ext cx="2697480" cy="566928"/>
          </a:xfrm>
          <a:prstGeom prst="rect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8" y="1801368"/>
            <a:ext cx="24780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执行与连接层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85431" y="2441448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59" y="257860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MCP Gateway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5431" y="3145536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9" y="328269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内置 / 自定义工具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1" y="3849624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59" y="398678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隔离 Sandbox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6960" y="1627632"/>
            <a:ext cx="1554480" cy="411480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66960" y="1627632"/>
            <a:ext cx="1554480" cy="566928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6688" y="1801368"/>
            <a:ext cx="13350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企业系统层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31552" y="2441448"/>
            <a:ext cx="1225295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257860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知识库 / 搜索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31552" y="3145536"/>
            <a:ext cx="1225295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2826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CRM / ERP / ITSM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31552" y="3849624"/>
            <a:ext cx="1225295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41280" y="398678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代码 / 数据平台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31552" y="4553712"/>
            <a:ext cx="1225295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0" y="46908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消息 / 邮件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5925312"/>
            <a:ext cx="10863072" cy="34747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998464"/>
            <a:ext cx="10469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横向治理：身份与授权 · 密钥与 Vault · 数据分级 · 审计与追踪 · 评测与发布 · 成本配额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SECURITY &amp; GOVERNANCE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安全设计要把“模型可能被诱导”作为默认假设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64208"/>
            <a:ext cx="1234440" cy="9601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1 任务层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29384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明确用户意图、数据范围与禁止事项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664208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664208"/>
            <a:ext cx="1234440" cy="9601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751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2 模型层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929384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系统指令隔离；外部内容视为不可信输入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962656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962656"/>
            <a:ext cx="1234440" cy="960120"/>
          </a:xfrm>
          <a:prstGeom prst="rect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2735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3 工具层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2783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白名单、严格 Schema、最小权限、只读优先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962656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962656"/>
            <a:ext cx="1234440" cy="960120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2735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4 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22783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沙箱、网络出口控制、幂等、超时、回滚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261104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261104"/>
            <a:ext cx="1234440" cy="960120"/>
          </a:xfrm>
          <a:prstGeom prst="rect">
            <a:avLst/>
          </a:prstGeom>
          <a:solidFill>
            <a:srgbClr val="B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5720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5 人机层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526280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高风险动作确认；可暂停、纠正和终止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261104"/>
            <a:ext cx="5166360" cy="96012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261104"/>
            <a:ext cx="1234440" cy="960120"/>
          </a:xfrm>
          <a:prstGeom prst="rect">
            <a:avLst/>
          </a:prstGeom>
          <a:solidFill>
            <a:srgbClr val="8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5720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</a:rPr>
              <a:t>6 审计层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526280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全链路事件、证据、版本与责任主体可追溯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687568"/>
            <a:ext cx="10698480" cy="566928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64B4B"/>
                </a:solidFill>
                <a:latin typeface="PingFang SC"/>
              </a:rPr>
              <a:t>审批不应只按“工具名”，还要按数据敏感度、动作可逆性、影响范围和外部传播性动态分级。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EVALUATION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评测体系要同时看结果、过程和生产表现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55648"/>
            <a:ext cx="3154680" cy="19385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154680" cy="5669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816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Outcome｜结果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6517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任务成功率
正确性 / 完整性
业务 KPI 改善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1648" y="1755648"/>
            <a:ext cx="3154680" cy="19385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41648" y="1755648"/>
            <a:ext cx="3154680" cy="566928"/>
          </a:xfrm>
          <a:prstGeom prst="rect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920240"/>
            <a:ext cx="2816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Trajectory｜过程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06040"/>
            <a:ext cx="26517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工具选择是否合理
是否越权或绕路
关键证据是否使用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7" y="1755648"/>
            <a:ext cx="3154680" cy="19385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24927" y="1755648"/>
            <a:ext cx="3154680" cy="566928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920240"/>
            <a:ext cx="2816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Operations｜生产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606040"/>
            <a:ext cx="26517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71717"/>
                </a:solidFill>
                <a:latin typeface="PingFang SC"/>
              </a:rPr>
              <a:t>延迟 / 成本 / 错误率
人工接管率
恢复与重试表现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1717"/>
                </a:solidFill>
                <a:latin typeface="PingFang SC"/>
              </a:rPr>
              <a:t>上线门槛不是一个总分，而是“关键失败模式不得退化”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26262"/>
                </a:solidFill>
                <a:latin typeface="PingFang SC"/>
              </a:rPr>
              <a:t>高风险误操作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64B4B"/>
                </a:solidFill>
                <a:latin typeface="PingFang SC"/>
              </a:rPr>
              <a:t>0 容忍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26262"/>
                </a:solidFill>
                <a:latin typeface="PingFang SC"/>
              </a:rPr>
              <a:t>关键任务成功率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94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E7D68"/>
                </a:solidFill>
                <a:latin typeface="PingFang SC"/>
              </a:rPr>
              <a:t>持续提升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26262"/>
                </a:solidFill>
                <a:latin typeface="PingFang SC"/>
              </a:rPr>
              <a:t>人工接管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76A8F"/>
                </a:solidFill>
                <a:latin typeface="PingFang SC"/>
              </a:rPr>
              <a:t>可解释下降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26262"/>
                </a:solidFill>
                <a:latin typeface="PingFang SC"/>
              </a:rPr>
              <a:t>单任务成本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5394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97757"/>
                </a:solidFill>
                <a:latin typeface="PingFang SC"/>
              </a:rPr>
              <a:t>在预算内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评测集应覆盖正常路径、边界条件、对抗输入、工具故障和长上下文退化。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ECONOMICS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成本优化的顺序：先减少无效循环，再优化 Token 单价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① 简化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64208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删除无证据价值的 Planner、Evaluator 或频繁重置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8" y="2185416"/>
            <a:ext cx="10314432" cy="0"/>
          </a:xfrm>
          <a:prstGeom prst="line">
            <a:avLst/>
          </a:prstGeom>
          <a:ln w="889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24963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② 缩小上下文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96312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Tool Search、按需 Skills、Context Editing、结果摘要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3017520"/>
            <a:ext cx="10314432" cy="0"/>
          </a:xfrm>
          <a:prstGeom prst="line">
            <a:avLst/>
          </a:prstGeom>
          <a:ln w="889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332841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③ 减少往返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328416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并行独立工具调用；程序化调用合并多步链路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3849624"/>
            <a:ext cx="10314432" cy="0"/>
          </a:xfrm>
          <a:prstGeom prst="line">
            <a:avLst/>
          </a:prstGeom>
          <a:ln w="889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41605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④ 提高缓存命中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16052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稳定工具定义与系统前缀；避免无意义动态字段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4681728"/>
            <a:ext cx="10314432" cy="0"/>
          </a:xfrm>
          <a:prstGeom prst="line">
            <a:avLst/>
          </a:prstGeom>
          <a:ln w="889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4992624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⑤ 模型分层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992624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低风险常规任务用高性价比模型，关键节点升级能力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5513832"/>
            <a:ext cx="10314432" cy="0"/>
          </a:xfrm>
          <a:prstGeom prst="line">
            <a:avLst/>
          </a:prstGeom>
          <a:ln w="889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49808" y="5879592"/>
            <a:ext cx="10378440" cy="43891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989320"/>
            <a:ext cx="98938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SC"/>
              </a:rPr>
              <a:t>优化约束：任何降本改动都必须通过同一评测集，并检查失败成本是否被转移到人工或下游系统。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IMPLEMENTATION ROADMAP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90 天落地：用“可控闭环”逐步扩张自治边界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3456432" cy="33101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3456432" cy="62179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0–30 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51760"/>
            <a:ext cx="2834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71717"/>
                </a:solidFill>
                <a:latin typeface="PingFang SC"/>
              </a:rPr>
              <a:t>验证价值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37560"/>
            <a:ext cx="29535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选 1 个高频、可评测、低外部风险场景
单 Agent + 3–5 个工具
建立 50–100 条黄金任务集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783080"/>
            <a:ext cx="3456432" cy="33101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783080"/>
            <a:ext cx="3456432" cy="62179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9659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31–60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51760"/>
            <a:ext cx="2834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71717"/>
                </a:solidFill>
                <a:latin typeface="PingFang SC"/>
              </a:rPr>
              <a:t>工程加固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337560"/>
            <a:ext cx="29535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引入 Skills 与 MCP Gateway
权限分级、沙箱、事件日志
故障注入与回归评测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3" y="1783080"/>
            <a:ext cx="3456432" cy="3310128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3" y="1783080"/>
            <a:ext cx="3456432" cy="621792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9659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</a:rPr>
              <a:t>61–90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651760"/>
            <a:ext cx="2834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71717"/>
                </a:solidFill>
                <a:latin typeface="PingFang SC"/>
              </a:rPr>
              <a:t>有限自治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337560"/>
            <a:ext cx="29535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26262"/>
                </a:solidFill>
                <a:latin typeface="PingFang SC"/>
              </a:rPr>
              <a:t>长任务交接 / 独立 Evaluator
模型路由与成本预算
灰度发布、人工接管与运营看板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5623560"/>
            <a:ext cx="9848088" cy="0"/>
          </a:xfrm>
          <a:prstGeom prst="line">
            <a:avLst/>
          </a:prstGeom>
          <a:ln w="1778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43000" y="5504688"/>
            <a:ext cx="256032" cy="25603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9070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价值</a:t>
            </a:r>
          </a:p>
        </p:txBody>
      </p:sp>
      <p:sp>
        <p:nvSpPr>
          <p:cNvPr id="24" name="Oval 23"/>
          <p:cNvSpPr/>
          <p:nvPr/>
        </p:nvSpPr>
        <p:spPr>
          <a:xfrm>
            <a:off x="4517136" y="5504688"/>
            <a:ext cx="256032" cy="25603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59070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可靠</a:t>
            </a:r>
          </a:p>
        </p:txBody>
      </p:sp>
      <p:sp>
        <p:nvSpPr>
          <p:cNvPr id="26" name="Oval 25"/>
          <p:cNvSpPr/>
          <p:nvPr/>
        </p:nvSpPr>
        <p:spPr>
          <a:xfrm>
            <a:off x="8074152" y="5504688"/>
            <a:ext cx="256032" cy="25603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1" y="59070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PingFang SC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757"/>
                </a:solidFill>
                <a:latin typeface="PingFang SC"/>
              </a:rPr>
              <a:t>SCENARIO BLUEPRINT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71717"/>
                </a:solidFill>
                <a:latin typeface="PingFang SC"/>
              </a:rPr>
              <a:t>示例：企业研究 Agent 如何把四层能力串成闭环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016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200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6262"/>
                </a:solidFill>
                <a:latin typeface="PingFang SC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89888" y="2167128"/>
            <a:ext cx="0" cy="256032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70432" y="1682495"/>
            <a:ext cx="438912" cy="43891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819656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645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36776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“分析目标客户并生成拜访简报”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89888" y="2926079"/>
            <a:ext cx="0" cy="256033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70432" y="2441448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2578608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404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97757"/>
                </a:solidFill>
                <a:latin typeface="PingFang SC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95727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PingFang SC"/>
              </a:rPr>
              <a:t>拆解公司、行业、人物、机会与风险问题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9888" y="3685032"/>
            <a:ext cx="0" cy="256031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70432" y="3200400"/>
            <a:ext cx="438912" cy="438912"/>
          </a:xfrm>
          <a:prstGeom prst="ellipse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7592" y="3337560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163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E7D68"/>
                </a:solidFill>
                <a:latin typeface="PingFang SC"/>
              </a:rPr>
              <a:t>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154679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PingFang SC"/>
              </a:rPr>
              <a:t>加载研究方法、证据标准、品牌模板与交付检查表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89888" y="4443984"/>
            <a:ext cx="0" cy="256032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70432" y="3959352"/>
            <a:ext cx="438912" cy="438912"/>
          </a:xfrm>
          <a:prstGeom prst="ellipse">
            <a:avLst/>
          </a:prstGeom>
          <a:solidFill>
            <a:srgbClr val="3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4096512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39227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76A8F"/>
                </a:solidFill>
                <a:latin typeface="PingFang SC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91363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PingFang SC"/>
              </a:rPr>
              <a:t>查询 CRM、企业知识库、公开信息与日历；写回草稿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5202936"/>
            <a:ext cx="0" cy="256032"/>
          </a:xfrm>
          <a:prstGeom prst="line">
            <a:avLst/>
          </a:prstGeom>
          <a:ln w="15240">
            <a:solidFill>
              <a:srgbClr val="D9D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70432" y="4718304"/>
            <a:ext cx="438912" cy="438912"/>
          </a:xfrm>
          <a:prstGeom prst="ellipse">
            <a:avLst/>
          </a:prstGeom>
          <a:solidFill>
            <a:srgbClr val="8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" y="4855464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4681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5C4A"/>
                </a:solidFill>
                <a:latin typeface="PingFang SC"/>
              </a:rPr>
              <a:t>Harness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672584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PingFang SC"/>
              </a:rPr>
              <a:t>限制数据范围；并行检索；净化外部内容；评估引用；外发前审批</a:t>
            </a:r>
          </a:p>
        </p:txBody>
      </p:sp>
      <p:sp>
        <p:nvSpPr>
          <p:cNvPr id="31" name="Oval 30"/>
          <p:cNvSpPr/>
          <p:nvPr/>
        </p:nvSpPr>
        <p:spPr>
          <a:xfrm>
            <a:off x="1170432" y="5477255"/>
            <a:ext cx="438912" cy="43891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07592" y="5614415"/>
            <a:ext cx="1645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544067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PingFang SC"/>
              </a:rPr>
              <a:t>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431536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PingFang SC"/>
              </a:rPr>
              <a:t>带来源的简报 + 未确认事实 + 下一步建议 + 完整审计链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6199632"/>
            <a:ext cx="10744200" cy="2560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6262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C7B6"/>
                </a:solidFill>
                <a:latin typeface="PingFang SC"/>
              </a:rPr>
              <a:t>最终建议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PingFang SC"/>
              </a:rPr>
              <a:t>把 Agent 当作一个持续演进的
生产系统，而不是一次模型集成。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C7B6"/>
                </a:solidFill>
                <a:latin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先闭环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624" y="299008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C9C9"/>
                </a:solidFill>
                <a:latin typeface="PingFang SC"/>
              </a:rPr>
              <a:t>单 Agent 跑通价值与评测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2971800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C7B6"/>
                </a:solidFill>
                <a:latin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1152" y="2971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再标准化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8744" y="299008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C9C9"/>
                </a:solidFill>
                <a:latin typeface="PingFang SC"/>
              </a:rPr>
              <a:t>MCP 管连接，Skills 管方法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206240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C7B6"/>
                </a:solidFill>
                <a:latin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4206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后加自治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4224527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C9C9"/>
                </a:solidFill>
                <a:latin typeface="PingFang SC"/>
              </a:rPr>
              <a:t>Harness 约束长任务与风险动作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4206240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C7B6"/>
                </a:solidFill>
                <a:latin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4206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ingFang SC"/>
              </a:rPr>
              <a:t>持续删减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4224527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C9C9"/>
                </a:solidFill>
                <a:latin typeface="PingFang SC"/>
              </a:rPr>
              <a:t>模型升级后重新验证每一层脚手架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879592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1C7B6"/>
                </a:solidFill>
                <a:latin typeface="PingFang SC"/>
              </a:rPr>
              <a:t>下一步决策：确定首个业务场景、风险等级、成功指标与执行环境。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0A0A0"/>
                </a:solidFill>
                <a:latin typeface="PingFang SC"/>
              </a:rPr>
              <a:t>ANTHROPIC AGENT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Agent分析</dc:title>
  <dc:subject>Claude + MCP + Skills + Harness 企业级 Agent 方案</dc:subject>
  <dc:creator>Codex</dc:creator>
  <cp:keywords>Anthropic, Claude, MCP, Agent Skills, Harness, Agent SDK, Managed Agents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