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bffa6726604a49" /><Relationship Type="http://schemas.openxmlformats.org/officeDocument/2006/relationships/extended-properties" Target="/docProps/app.xml" Id="R97fa25d91edd4036" /><Relationship Type="http://schemas.openxmlformats.org/officeDocument/2006/relationships/officeDocument" Target="/ppt/presentation.xml" Id="Rb79aee83378e48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497a5b581d4d53"/>
  </p:sldMasterIdLst>
  <p:notesMasterIdLst>
    <p:notesMasterId xmlns:r="http://schemas.openxmlformats.org/officeDocument/2006/relationships" r:id="Raa6182cc1b0046dc"/>
  </p:notesMasterIdLst>
  <p:sldIdLst>
    <p:sldId xmlns:r="http://schemas.openxmlformats.org/officeDocument/2006/relationships" id="256" r:id="Rc62eb42cd11f4b5a"/>
    <p:sldId xmlns:r="http://schemas.openxmlformats.org/officeDocument/2006/relationships" id="257" r:id="R308dc9f26d0441c8"/>
    <p:sldId xmlns:r="http://schemas.openxmlformats.org/officeDocument/2006/relationships" id="258" r:id="R7c3b03f71a154121"/>
    <p:sldId xmlns:r="http://schemas.openxmlformats.org/officeDocument/2006/relationships" id="259" r:id="R506dc72e0b404409"/>
    <p:sldId xmlns:r="http://schemas.openxmlformats.org/officeDocument/2006/relationships" id="260" r:id="R4d1f756f2c2e450d"/>
    <p:sldId xmlns:r="http://schemas.openxmlformats.org/officeDocument/2006/relationships" id="261" r:id="R7c722de90fa64619"/>
    <p:sldId xmlns:r="http://schemas.openxmlformats.org/officeDocument/2006/relationships" id="262" r:id="R1fe14a56ce25473b"/>
    <p:sldId xmlns:r="http://schemas.openxmlformats.org/officeDocument/2006/relationships" id="263" r:id="R4840608feefa4f4f"/>
    <p:sldId xmlns:r="http://schemas.openxmlformats.org/officeDocument/2006/relationships" id="264" r:id="Rf6f87f8cca0c4052"/>
    <p:sldId xmlns:r="http://schemas.openxmlformats.org/officeDocument/2006/relationships" id="265" r:id="Rf756096b8c4f4ed2"/>
    <p:sldId xmlns:r="http://schemas.openxmlformats.org/officeDocument/2006/relationships" id="266" r:id="R1a4318c142264da9"/>
    <p:sldId xmlns:r="http://schemas.openxmlformats.org/officeDocument/2006/relationships" id="267" r:id="R5c52a08ad3504eff"/>
    <p:sldId xmlns:r="http://schemas.openxmlformats.org/officeDocument/2006/relationships" id="268" r:id="R54a0a80527d74d8d"/>
    <p:sldId xmlns:r="http://schemas.openxmlformats.org/officeDocument/2006/relationships" id="269" r:id="R7c94b6a660f64792"/>
    <p:sldId xmlns:r="http://schemas.openxmlformats.org/officeDocument/2006/relationships" id="270" r:id="R9f201ba17c6341de"/>
    <p:sldId xmlns:r="http://schemas.openxmlformats.org/officeDocument/2006/relationships" id="271" r:id="R3ef88253e6a34323"/>
    <p:sldId xmlns:r="http://schemas.openxmlformats.org/officeDocument/2006/relationships" id="272" r:id="Re5131ef9b7d441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d4fe77d6574de3" /><Relationship Type="http://schemas.openxmlformats.org/officeDocument/2006/relationships/slideMaster" Target="/ppt/slideMasters/slideMaster1.xml" Id="Rc7497a5b581d4d53" /><Relationship Type="http://schemas.openxmlformats.org/officeDocument/2006/relationships/notesMaster" Target="/ppt/notesMasters/notesMaster1.xml" Id="Raa6182cc1b0046dc" /><Relationship Type="http://schemas.openxmlformats.org/officeDocument/2006/relationships/presProps" Target="/ppt/presProps.xml" Id="R4c94b4c8aa3f48b5" /><Relationship Type="http://schemas.openxmlformats.org/officeDocument/2006/relationships/tableStyles" Target="/ppt/tableStyles.xml" Id="Rb85d6e0fcad34ffc" /><Relationship Type="http://schemas.openxmlformats.org/officeDocument/2006/relationships/slide" Target="/ppt/slides/slide1.xml" Id="Rc62eb42cd11f4b5a" /><Relationship Type="http://schemas.openxmlformats.org/officeDocument/2006/relationships/slide" Target="/ppt/slides/slide2.xml" Id="R308dc9f26d0441c8" /><Relationship Type="http://schemas.openxmlformats.org/officeDocument/2006/relationships/slide" Target="/ppt/slides/slide3.xml" Id="R7c3b03f71a154121" /><Relationship Type="http://schemas.openxmlformats.org/officeDocument/2006/relationships/slide" Target="/ppt/slides/slide4.xml" Id="R506dc72e0b404409" /><Relationship Type="http://schemas.openxmlformats.org/officeDocument/2006/relationships/slide" Target="/ppt/slides/slide5.xml" Id="R4d1f756f2c2e450d" /><Relationship Type="http://schemas.openxmlformats.org/officeDocument/2006/relationships/slide" Target="/ppt/slides/slide6.xml" Id="R7c722de90fa64619" /><Relationship Type="http://schemas.openxmlformats.org/officeDocument/2006/relationships/slide" Target="/ppt/slides/slide7.xml" Id="R1fe14a56ce25473b" /><Relationship Type="http://schemas.openxmlformats.org/officeDocument/2006/relationships/slide" Target="/ppt/slides/slide8.xml" Id="R4840608feefa4f4f" /><Relationship Type="http://schemas.openxmlformats.org/officeDocument/2006/relationships/slide" Target="/ppt/slides/slide9.xml" Id="Rf6f87f8cca0c4052" /><Relationship Type="http://schemas.openxmlformats.org/officeDocument/2006/relationships/slide" Target="/ppt/slides/slide10.xml" Id="Rf756096b8c4f4ed2" /><Relationship Type="http://schemas.openxmlformats.org/officeDocument/2006/relationships/slide" Target="/ppt/slides/slide11.xml" Id="R1a4318c142264da9" /><Relationship Type="http://schemas.openxmlformats.org/officeDocument/2006/relationships/slide" Target="/ppt/slides/slide12.xml" Id="R5c52a08ad3504eff" /><Relationship Type="http://schemas.openxmlformats.org/officeDocument/2006/relationships/slide" Target="/ppt/slides/slide13.xml" Id="R54a0a80527d74d8d" /><Relationship Type="http://schemas.openxmlformats.org/officeDocument/2006/relationships/slide" Target="/ppt/slides/slide14.xml" Id="R7c94b6a660f64792" /><Relationship Type="http://schemas.openxmlformats.org/officeDocument/2006/relationships/slide" Target="/ppt/slides/slide15.xml" Id="R9f201ba17c6341de" /><Relationship Type="http://schemas.openxmlformats.org/officeDocument/2006/relationships/slide" Target="/ppt/slides/slide16.xml" Id="R3ef88253e6a34323" /><Relationship Type="http://schemas.openxmlformats.org/officeDocument/2006/relationships/slide" Target="/ppt/slides/slide17.xml" Id="Re5131ef9b7d441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44b9d010f42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65dc21a4314091" /><Relationship Type="http://schemas.openxmlformats.org/officeDocument/2006/relationships/notesMaster" Target="/ppt/notesMasters/notesMaster1.xml" Id="Rbb00d5e025f445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27b27730dc45b7" /><Relationship Type="http://schemas.openxmlformats.org/officeDocument/2006/relationships/notesMaster" Target="/ppt/notesMasters/notesMaster1.xml" Id="R88415ab85c2e43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b0684072fa47a3" /><Relationship Type="http://schemas.openxmlformats.org/officeDocument/2006/relationships/notesMaster" Target="/ppt/notesMasters/notesMaster1.xml" Id="Rd7ab1716894349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5702c8cc324dd8" /><Relationship Type="http://schemas.openxmlformats.org/officeDocument/2006/relationships/notesMaster" Target="/ppt/notesMasters/notesMaster1.xml" Id="R53d3f7b27c994c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12d902f9214836" /><Relationship Type="http://schemas.openxmlformats.org/officeDocument/2006/relationships/notesMaster" Target="/ppt/notesMasters/notesMaster1.xml" Id="Redb6034112104c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f00b9aeec94a10" /><Relationship Type="http://schemas.openxmlformats.org/officeDocument/2006/relationships/notesMaster" Target="/ppt/notesMasters/notesMaster1.xml" Id="Rcdf2b194f5ce44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8c6c4a2efe4aac" /><Relationship Type="http://schemas.openxmlformats.org/officeDocument/2006/relationships/notesMaster" Target="/ppt/notesMasters/notesMaster1.xml" Id="R1a6098db2c4041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17668cbf714172" /><Relationship Type="http://schemas.openxmlformats.org/officeDocument/2006/relationships/notesMaster" Target="/ppt/notesMasters/notesMaster1.xml" Id="R2cbcdcfc5cd34f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06f7855fdb4f2c" /><Relationship Type="http://schemas.openxmlformats.org/officeDocument/2006/relationships/notesMaster" Target="/ppt/notesMasters/notesMaster1.xml" Id="R1b404a6f58c940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ed098c19524338" /><Relationship Type="http://schemas.openxmlformats.org/officeDocument/2006/relationships/notesMaster" Target="/ppt/notesMasters/notesMaster1.xml" Id="Re175776b894342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9aa74d858345b0" /><Relationship Type="http://schemas.openxmlformats.org/officeDocument/2006/relationships/notesMaster" Target="/ppt/notesMasters/notesMaster1.xml" Id="Rb66e70869cbc43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6a14702a52410c" /><Relationship Type="http://schemas.openxmlformats.org/officeDocument/2006/relationships/notesMaster" Target="/ppt/notesMasters/notesMaster1.xml" Id="Re98d925a010a49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11c313ef484ee7" /><Relationship Type="http://schemas.openxmlformats.org/officeDocument/2006/relationships/notesMaster" Target="/ppt/notesMasters/notesMaster1.xml" Id="R1e5bb91371dd4d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971e36f70a4463" /><Relationship Type="http://schemas.openxmlformats.org/officeDocument/2006/relationships/notesMaster" Target="/ppt/notesMasters/notesMaster1.xml" Id="R610e0b90bb0d49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604edfd4f0439e" /><Relationship Type="http://schemas.openxmlformats.org/officeDocument/2006/relationships/notesMaster" Target="/ppt/notesMasters/notesMaster1.xml" Id="Rd15bd22bdbad48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f258219c064f54" /><Relationship Type="http://schemas.openxmlformats.org/officeDocument/2006/relationships/notesMaster" Target="/ppt/notesMasters/notesMaster1.xml" Id="Re1aa555eaddc43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0f4be572204e7d" /><Relationship Type="http://schemas.openxmlformats.org/officeDocument/2006/relationships/notesMaster" Target="/ppt/notesMasters/notesMaster1.xml" Id="R5ff6b737957545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https://www.palantir.com/docs/foundry/ontology/overview</a:t>
            </a:r>
          </a:p>
          <a:p xmlns:a="http://schemas.openxmlformats.org/drawingml/2006/main">
            <a:r>
              <a:t>- Generated visual: assets/ontology-hero.png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https://www.palantir.com/docs/foundry/ontology/overview</a:t>
            </a:r>
          </a:p>
          <a:p xmlns:a="http://schemas.openxmlformats.org/drawingml/2006/main">
            <a:r>
              <a:t>- https://www.palantir.com/docs/foundry/ontology/why-ontology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Analytical note: “可执行契约”是对官方 semantic + kinetic + security 描述的综合抽象。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https://www.palantir.com/docs/foundry/ontology/overview</a:t>
            </a:r>
          </a:p>
          <a:p xmlns:a="http://schemas.openxmlformats.org/drawingml/2006/main">
            <a:r>
              <a:t>- https://www.palantir.com/docs/foundry/action-types/overview</a:t>
            </a:r>
          </a:p>
          <a:p xmlns:a="http://schemas.openxmlformats.org/drawingml/2006/main">
            <a:r>
              <a:t>- https://www.palantir.com/docs/foundry/ontology/why-ontology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Analytical note: 与目录/知识图谱的比较为分析性归纳，不是 Palantir 的逐字表述。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https://www.palantir.com/docs/foundry/ontology/overview</a:t>
            </a:r>
          </a:p>
          <a:p xmlns:a="http://schemas.openxmlformats.org/drawingml/2006/main">
            <a:r>
              <a:t>- https://www.palantir.com/docs/foundry/ontology-sdk/overview</a:t>
            </a:r>
          </a:p>
          <a:p xmlns:a="http://schemas.openxmlformats.org/drawingml/2006/main">
            <a:r>
              <a:t>- https://www.palantir.com/docs/foundry/aip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https://www.palantir.com/docs/foundry/object-link-types/create-object-type/index.html</a:t>
            </a:r>
          </a:p>
          <a:p xmlns:a="http://schemas.openxmlformats.org/drawingml/2006/main">
            <a:r>
              <a:t>- https://www.palantir.com/docs/foundry/object-link-types/link-types-overview</a:t>
            </a:r>
          </a:p>
          <a:p xmlns:a="http://schemas.openxmlformats.org/drawingml/2006/main">
            <a:r>
              <a:t>- https://www.palantir.com/docs/foundry/interfaces/extend-interface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https://www.palantir.com/docs/foundry/object-link-types/create-object-type/index.html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https://www.palantir.com/docs/foundry/object-link-types/link-types-overview</a:t>
            </a:r>
          </a:p>
          <a:p xmlns:a="http://schemas.openxmlformats.org/drawingml/2006/main">
            <a:r>
              <a:t>- https://www.palantir.com/docs/foundry/object-indexing/data-restrictions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https://www.palantir.com/docs/foundry/object-link-types/create-object-type/index.html</a:t>
            </a:r>
          </a:p>
          <a:p xmlns:a="http://schemas.openxmlformats.org/drawingml/2006/main">
            <a:r>
              <a:t>- https://www.palantir.com/docs/foundry/ontologies/branching-ontology</a:t>
            </a:r>
          </a:p>
          <a:p xmlns:a="http://schemas.openxmlformats.org/drawingml/2006/main">
            <a:r>
              <a:t>- https://www.palantir.com/docs/foundry/ontology/why-ontology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Analytical note: “从决策倒推对象”是基于 operational application 与 ontology construction 机制的实施建议。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https://www.palantir.com/docs/foundry/action-types/overview</a:t>
            </a:r>
          </a:p>
          <a:p xmlns:a="http://schemas.openxmlformats.org/drawingml/2006/main">
            <a:r>
              <a:t>- https://www.palantir.com/docs/foundry/functions/functions-on-objects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https://www.palantir.com/docs/foundry/object-backend/overview</a:t>
            </a:r>
          </a:p>
          <a:p xmlns:a="http://schemas.openxmlformats.org/drawingml/2006/main">
            <a:r>
              <a:t>- https://www.palantir.com/docs/foundry/object-indexing/data-restrictions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https://www.palantir.com/docs/foundry/ontologies/oss-limitations</a:t>
            </a:r>
          </a:p>
          <a:p xmlns:a="http://schemas.openxmlformats.org/drawingml/2006/main">
            <a:r>
              <a:t>- https://www.palantir.com/docs/foundry/object-backend/overview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https://www.palantir.com/docs/foundry/object-permissioning/overview</a:t>
            </a:r>
          </a:p>
          <a:p xmlns:a="http://schemas.openxmlformats.org/drawingml/2006/main">
            <a:r>
              <a:t>- https://www.palantir.com/docs/foundry/object-permissioning/ontology-permissions</a:t>
            </a:r>
          </a:p>
          <a:p xmlns:a="http://schemas.openxmlformats.org/drawingml/2006/main">
            <a:r>
              <a:t>- https://www.palantir.com/docs/foundry/action-types/permissions/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https://www.palantir.com/docs/foundry/ontologies/branching-ontology</a:t>
            </a:r>
          </a:p>
          <a:p xmlns:a="http://schemas.openxmlformats.org/drawingml/2006/main">
            <a:r>
              <a:t>- https://www.palantir.com/docs/foundry/ontologies/review-ontology-proposals</a:t>
            </a:r>
          </a:p>
          <a:p xmlns:a="http://schemas.openxmlformats.org/drawingml/2006/main">
            <a:r>
              <a:t>- https://www.palantir.com/docs/foundry/action-types/branching-action-types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https://www.palantir.com/docs/foundry/ontology-sdk/overview</a:t>
            </a:r>
          </a:p>
          <a:p xmlns:a="http://schemas.openxmlformats.org/drawingml/2006/main">
            <a:r>
              <a:t>- https://www.palantir.com/docs/foundry/aip</a:t>
            </a:r>
          </a:p>
          <a:p xmlns:a="http://schemas.openxmlformats.org/drawingml/2006/main">
            <a:r>
              <a:t>- https://www.palantir.com/docs/foundry/agents/overview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https://www.palantir.com/docs/foundry/ontology/why-ontology</a:t>
            </a:r>
          </a:p>
          <a:p xmlns:a="http://schemas.openxmlformats.org/drawingml/2006/main">
            <a:r>
              <a:t>- https://www.palantir.com/docs/foundry/ontologies/branching-ontology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Analytical note: 三阶段推进法为实施建议，来源于官方的 operational workflow、branching 与 ontology reuse 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https://www.palantir.com/docs/foundry/object-link-types/create-object-type/index.html</a:t>
            </a:r>
          </a:p>
          <a:p xmlns:a="http://schemas.openxmlformats.org/drawingml/2006/main">
            <a:r>
              <a:t>- https://www.palantir.com/docs/foundry/action-types/overview</a:t>
            </a:r>
          </a:p>
          <a:p xmlns:a="http://schemas.openxmlformats.org/drawingml/2006/main">
            <a:r>
              <a:t>- https://www.palantir.com/docs/foundry/object-permissioning/overview</a:t>
            </a:r>
          </a:p>
          <a:p xmlns:a="http://schemas.openxmlformats.org/drawingml/2006/main">
            <a:r>
              <a:t>- https://www.palantir.com/docs/foundry/ontologies/branching-ontology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Analytical note: 反模式表为基于官方行为约束与常见建模后果的综合分析。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https://www.palantir.com/docs/foundry/ontology/overview</a:t>
            </a:r>
          </a:p>
          <a:p xmlns:a="http://schemas.openxmlformats.org/drawingml/2006/main">
            <a:r>
              <a:t>- https://www.palantir.com/docs/foundry/ontology/why-ontology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Analytical note: 结论页为全文综合判断。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40fcf162449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e265192a7546c3" /><Relationship Type="http://schemas.openxmlformats.org/officeDocument/2006/relationships/slideLayout" Target="/ppt/slideLayouts/slideLayout1.xml" Id="R8022c912dbf2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22c912dbf2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503df939243bd" /><Relationship Type="http://schemas.openxmlformats.org/officeDocument/2006/relationships/image" Target="/ppt/media/image.png" Id="R0024f411ac1743c8" /><Relationship Type="http://schemas.openxmlformats.org/officeDocument/2006/relationships/notesSlide" Target="/ppt/notesSlides/notesSlide1.xml" Id="R1886ccdba6ac48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03d424af74d30" /><Relationship Type="http://schemas.openxmlformats.org/officeDocument/2006/relationships/notesSlide" Target="/ppt/notesSlides/notesSlide2.xml" Id="R699160b5f0f540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ff9915e88422d" /><Relationship Type="http://schemas.openxmlformats.org/officeDocument/2006/relationships/notesSlide" Target="/ppt/notesSlides/notesSlide3.xml" Id="Rffbf4ebf3a3b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45bb645f242ea" /><Relationship Type="http://schemas.openxmlformats.org/officeDocument/2006/relationships/notesSlide" Target="/ppt/notesSlides/notesSlide4.xml" Id="Re89afaaf24f042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ef33c4b834721" /><Relationship Type="http://schemas.openxmlformats.org/officeDocument/2006/relationships/notesSlide" Target="/ppt/notesSlides/notesSlide5.xml" Id="R71a7bb1a8f8d4b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2c725ead84bfd" /><Relationship Type="http://schemas.openxmlformats.org/officeDocument/2006/relationships/notesSlide" Target="/ppt/notesSlides/notesSlide6.xml" Id="R13bec848ffa449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a84b000b543a3" /><Relationship Type="http://schemas.openxmlformats.org/officeDocument/2006/relationships/notesSlide" Target="/ppt/notesSlides/notesSlide7.xml" Id="Rf1b357bf00c1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90535fc7c4518" /><Relationship Type="http://schemas.openxmlformats.org/officeDocument/2006/relationships/notesSlide" Target="/ppt/notesSlides/notesSlide8.xml" Id="Raad8eedee31f4c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6e0229bbd4d77" /><Relationship Type="http://schemas.openxmlformats.org/officeDocument/2006/relationships/notesSlide" Target="/ppt/notesSlides/notesSlide9.xml" Id="Re00c5cccd65a4f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1601966f3429c" /><Relationship Type="http://schemas.openxmlformats.org/officeDocument/2006/relationships/notesSlide" Target="/ppt/notesSlides/notesSlide10.xml" Id="R36529e4d329d42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227f998994339" /><Relationship Type="http://schemas.openxmlformats.org/officeDocument/2006/relationships/notesSlide" Target="/ppt/notesSlides/notesSlide11.xml" Id="Rb3e1d4fdc38e44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4935ac86642f7" /><Relationship Type="http://schemas.openxmlformats.org/officeDocument/2006/relationships/notesSlide" Target="/ppt/notesSlides/notesSlide12.xml" Id="R5b54af8811864c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1aed41f344d07" /><Relationship Type="http://schemas.openxmlformats.org/officeDocument/2006/relationships/notesSlide" Target="/ppt/notesSlides/notesSlide13.xml" Id="R0196a887335e47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921005017407e" /><Relationship Type="http://schemas.openxmlformats.org/officeDocument/2006/relationships/notesSlide" Target="/ppt/notesSlides/notesSlide14.xml" Id="R9e2bebdbc6f94e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d013849964cc4" /><Relationship Type="http://schemas.openxmlformats.org/officeDocument/2006/relationships/notesSlide" Target="/ppt/notesSlides/notesSlide15.xml" Id="R637f7edd70564e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522b113d7469d" /><Relationship Type="http://schemas.openxmlformats.org/officeDocument/2006/relationships/notesSlide" Target="/ppt/notesSlides/notesSlide16.xml" Id="Rf39ee25d24a842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26f62816f41e8" /><Relationship Type="http://schemas.openxmlformats.org/officeDocument/2006/relationships/notesSlide" Target="/ppt/notesSlides/notesSlide17.xml" Id="R9a1f60db85364d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79D3476-2D49-4E09-84AA-ECF4C1EC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9613C18-41E3-48C5-8789-B5CD11FF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5F7CC3C1-9660-48E0-AE3D-8990FEAE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C623F72C-079A-41BF-9806-C09B9BA9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4f411ac1743c8"/>
          <a:srcRect xmlns:a="http://schemas.openxmlformats.org/drawingml/2006/main" l="22173" t="0" r="22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2E341E5-E25E-4FFD-95AF-41D7ADC6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PALANTIR ONTOLOGY · 深度技术分析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0C75B06-7AC0-4F44-8359-E141160A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Palantir 本体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如何构建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AAE285-7097-4CAD-B213-A752AC2E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57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05761"/>
                </a:solidFill>
                <a:latin typeface="Arial Unicode MS"/>
                <a:ea typeface="Arial Unicode MS"/>
                <a:cs typeface="Arial Unicode MS"/>
              </a:rPr>
              <a:t>把分散的数据、业务规则与操作权限，编译成企业的可执行数字模型</a:t>
            </a:r>
          </a:p>
        </p:txBody>
      </p:sp>
      <p:sp>
        <p:nvSpPr>
          <p:cNvPr id="10" name="cover-meta">
            <a:extLst xmlns:a="http://schemas.openxmlformats.org/drawingml/2006/main">
              <a:ext uri="{FF2B5EF4-FFF2-40B4-BE49-F238E27FC236}">
                <a16:creationId xmlns:a16="http://schemas.microsoft.com/office/drawing/2014/main" id="{01B3AD8F-5EF5-4F1C-A0DA-8A36E94D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7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05761"/>
                </a:solidFill>
                <a:latin typeface="Arial Unicode MS"/>
                <a:ea typeface="Arial Unicode MS"/>
                <a:cs typeface="Arial Unicode MS"/>
              </a:rPr>
              <a:t>2026.07  |  架构、构建流程、运行时与落地方法</a:t>
            </a:r>
          </a:p>
        </p:txBody>
      </p:sp>
    </p:spTree>
    <p:extLst>
      <p:ext uri="{BB962C8B-B14F-4D97-AF65-F5344CB8AC3E}">
        <p14:creationId xmlns:p14="http://schemas.microsoft.com/office/powerpoint/2010/main" val="16871100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5D46A9F-1A21-4587-8865-9E4715D7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BCABC26-0D45-480E-8885-E51619B3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4834266-79BA-4FF3-8C71-0A5E1026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9846A6F-DE37-40E3-856E-74ED7F25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D604D96A-A378-4AEC-ABBC-E26352D8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本体是企业运行的“可执行契约”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B92CFBF-0D62-45A6-B58D-CE4F1CF8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对象、属性、关系、接口
让数据说业务语言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1FF92FF-2031-447A-83D7-8185DC69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权限、分支、审批、审计
让变化可控且可追溯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5F8471E-4FED-4AD0-A074-3B0AE89A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动作、函数、写回、通知
让模型驱动真实变化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BF06C59-7AB5-4143-AAC8-5A264C8B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语义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2C80E62-865E-41CD-811E-430722E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动力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80B4991-65B2-458A-B5E9-065D4D6D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治理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3DFFC4B-9200-437C-BAE9-49F66D6B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核心判断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它把“企业里有什么、它们如何关联、谁能做什么、动作如何改变现实”统一到同一套类型系统与运行时中。</a:t>
            </a:r>
          </a:p>
        </p:txBody>
      </p:sp>
    </p:spTree>
    <p:extLst>
      <p:ext uri="{BB962C8B-B14F-4D97-AF65-F5344CB8AC3E}">
        <p14:creationId xmlns:p14="http://schemas.microsoft.com/office/powerpoint/2010/main" val="9610560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B4A772C-004D-4DE0-9922-814E3E97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F696264-8840-47AD-AF01-EDDCC68E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差异不在建模，而在能否承载决策与写回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C5987249-B654-4E0E-BDF9-11F8007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FE32D0B-E60F-40FE-A2B5-29EF00D8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传统语义层 / 知识图谱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40BD9F37-FF14-429E-9C3A-3100AC64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回答“数据是什么、如何关联”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通常面向检索、分析与解释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写回与权限多在应用层另建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481BC2F-3905-42F0-85EF-A974E247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02C1D56-F6B8-47DD-BA45-6749F5B1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Palantir Ontology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659D5B5-B4E9-4CB6-A4FA-3FEB275D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同时定义对象、关系与业务行为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动作是受控事务，函数是业务逻辑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权限与血缘沿运行链路持续生效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5A4615B-695B-4AAF-A849-91C8A00D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边界判断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目录与图谱通常止于“理解数据”；Palantir 继续把动作、权限、函数和应用绑定到同一语义对象上。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974726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92B4A7C-FEE3-4752-A94D-5422D806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09AED3A-FD11-4E23-9654-2561A347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本体处在数据之上、应用之下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26C96172-97C8-4761-BBCB-2D465E35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数据集、流、虚拟表、模型与外部系统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4D1EBFD-6D70-4F98-88CC-D1496B0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01  数据资产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8AEE83DF-F492-4498-BC2E-02BD2AF7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对象类型、属性、链接、接口与共享属性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FAF8E30-1661-4151-A9A1-2F0BFCC7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02  语义层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E38C3FD-9AE7-4C92-9644-84E967FE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对象集合、函数、动作、写回与动态安全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844B97EA-807C-4D5D-AB87-3EBDB51F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03  决策运行时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E1DD250-18B1-45F9-AB88-A3742E26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Workshop、OSDK、自定义应用、AIP 与 Agent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1DC98397-C556-4E95-BBF1-B499E3AB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04  体验层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AB450CCF-0D1D-49A0-8DBD-27D475AC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一条贯穿全栈的业务主线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底层系统仍保存事实；Ontology 负责将事实组织为可识别、可关联、可操作、可授权的业务对象。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因此上层应用和 Agent 复用同一份业务定义，而不是各自复制数据口径与写回逻辑。</a:t>
            </a:r>
          </a:p>
        </p:txBody>
      </p:sp>
      <p:sp>
        <p:nvSpPr>
          <p:cNvPr id="12" name="section-architecture">
            <a:extLst xmlns:a="http://schemas.openxmlformats.org/drawingml/2006/main">
              <a:ext uri="{FF2B5EF4-FFF2-40B4-BE49-F238E27FC236}">
                <a16:creationId xmlns:a16="http://schemas.microsoft.com/office/drawing/2014/main" id="{2C75E38D-C4AF-48F5-9A19-B9F8712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0155712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7D99399-4669-4E6F-8E41-5EF7E92D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3AAA202-CEF9-421A-9536-D5CC6E77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语义构件围绕“现实身份”组织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1EB6DA3-B0D2-41BA-B4DB-FE880EA3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对象类型 + 属性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对象类型代表客户、订单、飞机、工厂等现实实体或事件。属性由数据源列映射而来，并指定主键、标题键、类型与展示元数据。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0AEC9FA4-57A4-4DFF-8E9A-A7831E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接口 + 共享能力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接口定义跨对象类型的共同形状与能力，提供多态；共享属性与约束让不同对象类型可被统一查询、展示和操作。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9E3F894C-12EE-486D-BCAC-FC47FEF9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链接类型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链接定义两个对象类型之间的业务关系。它可双向遍历；一对多通常借助对象数据源，多对多关系可由独立数据源承载。</a:t>
            </a:r>
          </a:p>
        </p:txBody>
      </p:sp>
    </p:spTree>
    <p:extLst>
      <p:ext uri="{BB962C8B-B14F-4D97-AF65-F5344CB8AC3E}">
        <p14:creationId xmlns:p14="http://schemas.microsoft.com/office/powerpoint/2010/main" val="20792532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9EB6AD2-EB56-405D-94DF-9C1498F2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076E481-8324-4AD8-BDD4-C307AF66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主键是对象的“身份锚”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59E4EA2C-5D51-46DC-87AB-2EF7C848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C6ADE0A-A944-454E-9FEF-FE816AF2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错误：把“记录”当对象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ED22E91E-47C2-4536-83A4-C90B03B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主键随批次或行号改变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同一实体在多源系统中重复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链接与人工编辑无法稳定归属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98887E5-DD1D-4AF2-9918-ACEA95AA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E68B90F-6907-45B9-8EA5-46E7077D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正确：把“现实身份”当对象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47F8E65-C0C1-4960-B636-AF916CF2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主键由确定性业务字段计算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跨源先做实体解析与去重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变更后仍能找回同一个对象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5EED903-6E8B-4C7E-96AD-D716D59A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对象身份的构建原则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主键必须唯一、稳定、可重建；标题键只负责可读显示。不要把行号、随机 UUID 或每次构建变化的字段当作业务身份。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34080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4BC1B5F-D43D-4767-A6DB-52CF394B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63A869C-1ECB-46ED-9BBD-CE7D7EAA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链接把关系逻辑正式产品化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906957C-D3AB-4441-A7A9-CD422CAE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EDFA0C0-B45F-4511-BBE2-2BAF6E30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9FC8B6B-AC29-45BF-9489-C1F286A1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A59BE8FE-07F2-4523-8591-8A996DB9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9BE03704-CB0F-4672-8530-5ADC0541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一对一 / 一对零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例如 Flight ↔ Aircraft 的当前指派。双方都有独立 API 名称和展示名称，可从任一侧遍历。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E9E7B55F-7E15-4E44-8762-FC5A600E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D6FC27E6-A454-4FAA-A72C-59976776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一对多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例如 Company ↔ Employees。关系键通常来自对象类型背后的数据源，构建时需要保证引用完整性。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15B3117-2583-4AB7-A7DB-EBE25E79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FA50ECC9-57A1-4C5A-8595-4825F237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多对多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例如 Supplier ↔ Parts。独立关系数据源存放双方主键；不要用超大数组属性替代可查询链接。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3D06C75-3D99-4A91-B0E4-848356DB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04FBABB2-5B23-4104-9227-BCBF437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099A440F-2DD1-4532-ADB7-252B30C5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77056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6BE45FC-8A29-4195-A4CF-0C384F42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E5B928F-D9F7-4096-84DA-06E7F153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从决策倒推对象，而不是先搬表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BFF531BF-41EA-4033-81D6-E7CB437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定义用户、决策、输入对象、期望动作与审计要求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8CC318D-D307-4E85-8B94-37978CD4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01  决策契约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8946DFD0-E91F-44F4-B926-27A059D3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确定权威数据源、稳定主键、刷新模式与数据质量门槛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2D52B72-E9E3-47BB-AECA-7555CDC4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02  数据契约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AA2D041-3AB7-41C5-874F-8E6B02FE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映射属性与链接，补充接口、元数据、派生逻辑与权限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1A5152A1-C52E-4063-92A0-F261C2F2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03  类型映射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8659E15B-2EDC-4C20-89DB-CF7AFB21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在分支索引、预览对象图、测试查询与动作，再合并主线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68E0817D-7011-4505-943E-8B251053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04  索引验证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2BF6A874-2F9A-46C3-ACBD-1D59FFF8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用一条纵向业务链验证本体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先选择一个高价值决策：谁在什么情境下，需要查看哪些对象，并触发什么动作。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只建支撑该闭环的最小对象图；通过真实应用和写回暴露建模缺陷，再扩展。</a:t>
            </a:r>
          </a:p>
        </p:txBody>
      </p:sp>
    </p:spTree>
    <p:extLst>
      <p:ext uri="{BB962C8B-B14F-4D97-AF65-F5344CB8AC3E}">
        <p14:creationId xmlns:p14="http://schemas.microsoft.com/office/powerpoint/2010/main" val="9923933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A43BBBC-5940-4475-B2B7-9EA4520F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41284B6-9C05-456B-AC87-83C84B2F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Actions 将业务动词变成受控事务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4236FBA1-ED48-4A5D-BDA5-F4F5DCF7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359B23C0-CAC0-47B3-9492-D2421946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BB9CCAD-9AF7-42C0-93AB-99034A1A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规则与函数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函数读取对象集合、执行计算或优化，并返回受类型约束的编辑。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BADDF28-B512-4E25-8545-9939993C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写回与副作用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编辑合并到对象视图，沉淀到写回数据集，并可驱动通知与外部 API。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722B184A-4924-4AD9-9AAC-36DC7060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E2B61EB-2041-41A9-9B0B-C94B26D9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661BDD6B-6685-4863-9241-CCB1713F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21B1CC2-D868-4615-85C9-2556225A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动作契约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定义参数、表单、提交条件以及允许修改的对象、属性和链接。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59724858-FD02-40BB-8FC7-1E6EB2EB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279A72A2-E1C0-4596-BDB3-51D3585A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一条动作在运行时同时完成四件事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收集标准化参数 → 校验用户与业务条件 → 更新对象/关系 → 触发通知、Webhook 或外部系统调用。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186324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D4CE049-684C-4983-9622-15DDB118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9E87472-891C-43F7-87F3-DB635821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运行时由元数据、索引、查询与写入服务组成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F5DC62F-E4B4-4017-ABDD-2347BD1F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控制面：OMS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Ontology Metadata Service 保存对象类型、链接类型、动作类型等定义，形成所有工具与 SDK 共同读取的类型注册表。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6FB4D1E-B6FF-4063-9F7E-6EA107AC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执行面：OSS + Actions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Object Set Service 解析对象集合查询；Actions 与 Functions 编排受控修改。索引与查询解耦后可以独立扩展。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54C502CC-FE57-47FA-B5AF-0851EB90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数据面：Funnel + OSv2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Funnel 协调数据源与编辑写入；Object Storage v2 负责增量索引、对象存储与高性能检索，并强化唯一性校验。</a:t>
            </a:r>
          </a:p>
        </p:txBody>
      </p:sp>
    </p:spTree>
    <p:extLst>
      <p:ext uri="{BB962C8B-B14F-4D97-AF65-F5344CB8AC3E}">
        <p14:creationId xmlns:p14="http://schemas.microsoft.com/office/powerpoint/2010/main" val="20925667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AE62AF2-3F75-4CC3-8ADA-CA36D791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D8750CA-03C5-4349-B66D-22FE77B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应用查询“对象集合”，而不是表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83BEEB5D-84D0-4F51-87D5-ADDFD52D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1BD3DD0-4010-46CB-A344-11B9976F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在线索引路径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F2DFF7B-9C2A-4D8A-9982-B5EADFA2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适合常规过滤、搜索与聚合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低延迟返回对象与链接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权限在查询时持续生效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4D2D69AE-4D38-4D18-BA3B-8E0F5294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F1D29AF-0A1A-42F4-9039-2FFF2B7B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分布式计算路径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281394A-AEFA-4243-9D31-3FB4014E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大型 Search Around 可切换 Spark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处理更大的对象集合与复杂链路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应用仍使用同一对象集合语义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9F5B505-B648-4A6D-960F-826B119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对象集合（Object Set）是统一查询抽象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例如：筛选高风险订单 → 沿链接找到供应商 → 聚合受影响产线 → 将结果交给函数或动作。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20640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4DE6BC1-086B-4AE7-8441-B1CA8293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FA00553C-C5B8-4519-8516-A0981AF4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6313D27-A5E7-4C18-82E2-E2541BC3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0A422A2-E059-40C8-B773-6B5C8BB6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DFAB987-BBD5-4F52-89D3-A17F70B4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权限在类型、实例、属性与动作间求值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70B7DE9-E3A0-4663-8313-AED6C505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对象/链接/动作类型的查看、编辑与管理权限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8F36510-1CB7-46AA-8AD6-1C9FD1D5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谁能提交、参数是否合规、允许修改哪些资源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2F5505E-AB34-423A-935F-0801769A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对象行、属性列、底层数据源、标记与策略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701D29A-B9BF-43C0-8FE7-550F706D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Schema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076B389-9C5A-4B8B-9EF4-685F1AFD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Data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1C8720D-9638-4935-BDAB-8233BF49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Action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F3DDDC5-9BA8-4CED-852C-C404083D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同一个“客户对象”，不同用户看到的结构、实例与可执行动作可以不同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对象可见性不仅取决于类型权限，还取决于数据源或对象/属性安全策略；动作再叠加提交条件和依赖资源权限。</a:t>
            </a:r>
          </a:p>
        </p:txBody>
      </p:sp>
    </p:spTree>
    <p:extLst>
      <p:ext uri="{BB962C8B-B14F-4D97-AF65-F5344CB8AC3E}">
        <p14:creationId xmlns:p14="http://schemas.microsoft.com/office/powerpoint/2010/main" val="1242597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DF2C5B7-5CFB-433C-A34B-5B9D6E53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5B8CDFB-4D0B-4277-BE68-4B19DEB2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本体像代码一样演进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117C7D6-20C0-4C94-B14F-8146C09F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FF0476E-8D03-4CE5-97EA-874C46EA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76848BA-7F00-45B9-A950-1F8FB552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7AD8C38-F7E6-4158-B820-52D5D57C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BUILD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8B7C810-CFAF-499F-8291-AA1C8CE0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VERIFY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80E6DDA-58A7-4121-9DB9-8B63231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MERGE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2EA2AA6-646C-49C6-9FB7-B9261984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预览与审查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检查对象类型是否完成索引，预览数据，测试动作；按资源任务评论、批准或拒绝。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385F24D-2BA1-4045-85EC-0303EC2B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分支构建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在独立分支修改类型、函数与动作；需要时重放索引并解决与 main 的冲突。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BA3CA42-6873-4D94-B5D9-E68FBD6B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合并与可追溯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审批通过后合并主线；Proposal 和 Changelog 记录修改、作者、时间与审查历史。</a:t>
            </a:r>
          </a:p>
        </p:txBody>
      </p:sp>
    </p:spTree>
    <p:extLst>
      <p:ext uri="{BB962C8B-B14F-4D97-AF65-F5344CB8AC3E}">
        <p14:creationId xmlns:p14="http://schemas.microsoft.com/office/powerpoint/2010/main" val="10523660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74E11E7-8FA6-4878-A78F-2772A862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4A74AF0-0D9F-4C14-821E-9886592D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本体是应用与 Agent 的共同业务 API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8F08FC20-E61C-4EA9-B283-7801BEC5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45BBCDD6-ADB4-484C-B2AE-BB21D235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936AFE9-A2AA-4096-89E4-EE42F85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OSDK / API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按所选本体范围生成类型与函数绑定，支持查询和写回。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C4ADB1A-5F3D-4FA3-8A4E-0B52F704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AIP / Agents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Agent 通过受限 OSDK 与本体工具读取、推理并调用动作。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D9935977-971D-43D8-96CA-31C3600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611A16E-F1DD-4C3E-A965-48E5E10B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998C8DCF-864D-485A-B5AD-1F4E0FD8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63D0AAC-3DEF-4495-BA1A-16D9F813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Workshop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面向业务用户快速组装可读、可写的运营应用。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3A7A936-3DE7-423A-BE4F-D2DAC4AC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A83C051C-E46F-4860-9DD7-400837EF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同一个本体，三种消费方式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低代码应用、专业开发者与 AI Agent 都围绕同一组对象、函数和动作工作；差别只在体验层与授权范围。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413450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3B328B2-DFFB-45B1-BFE1-01DABA09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23DA9BB-BB83-49FC-9B34-D270A9E2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先打通薄而完整的闭环，再横向复用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65E92CA-6BF8-4548-9E6D-A3EE77B9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7CC107B-DCD0-43C2-BE8A-479E0986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E7B8F2A-9194-4281-8D7D-CB1E17DC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0384FEB-8672-4260-BEFA-3772B627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2DC104D3-5F43-4BD2-9D52-F31C40AF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纵切片：跑通一个决策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选择单一用户群和高价值动作；只建必要对象、链接、权限、应用与写回。用真实反馈验证身份与语义。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88A243FF-8B96-4F66-BEEB-A1B3B8D9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7A3FE996-1C3F-4F0F-A80C-DDA0CB8E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扩展：复用核心类型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把稳定对象提升为共享领域资产；以接口沉淀共同能力，增加新的动作与应用，而非复制模型。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7FBB44AF-0F1B-4D60-BD4D-6BE757EF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6792D826-DF44-4199-AFCA-3CDD411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2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平台化：治理演进速度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建立类型所有者、命名规范、分支审批、兼容性检查、权限评审、索引健康与采用指标。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529B7A9-37F0-4E56-8468-C4EB4B6F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C6E01F13-64C1-4BDE-95C1-B615126C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67E51061-1CB4-433B-9612-00751666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10728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4C3976E6-3188-4FF2-8BFA-BB243A6B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六个反模式会把本体做成“另一个数仓”</a:t>
            </a:r>
          </a:p>
        </p:txBody>
      </p:sp>
      <p:sp>
        <p:nvSpPr>
          <p:cNvPr id="2" name="failure-subtitle">
            <a:extLst xmlns:a="http://schemas.openxmlformats.org/drawingml/2006/main">
              <a:ext uri="{FF2B5EF4-FFF2-40B4-BE49-F238E27FC236}">
                <a16:creationId xmlns:a16="http://schemas.microsoft.com/office/drawing/2014/main" id="{FE182C0C-9638-4270-B595-46B12684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六个高频反模式及其修正</a:t>
            </a:r>
          </a:p>
        </p:txBody>
      </p:sp>
      <p:sp>
        <p:nvSpPr>
          <p:cNvPr id="3" name="failure-footer">
            <a:extLst xmlns:a="http://schemas.openxmlformats.org/drawingml/2006/main">
              <a:ext uri="{FF2B5EF4-FFF2-40B4-BE49-F238E27FC236}">
                <a16:creationId xmlns:a16="http://schemas.microsoft.com/office/drawing/2014/main" id="{D611FBC5-555C-4EC9-ABAD-4976DB35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2209800"/>
          <a:ext xmlns:a="http://schemas.openxmlformats.org/drawingml/2006/main" cx="11391900" cy="3848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64357"/>
                <a:gridCol w="2686769"/>
                <a:gridCol w="2686769"/>
                <a:gridCol w="3654006"/>
              </a:tblGrid>
              <a:tr h="549729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反模式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直接后果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根因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修正方式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4972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按源表 1:1 建对象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对象重复、关系脆弱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缺少现实身份模型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先定义业务实体与稳定主键</a:t>
                      </a:r>
                    </a:p>
                  </a:txBody>
                  <a:tcPr marL="91440" marR="91440" marT="45720" marB="45720"/>
                </a:tc>
              </a:tr>
              <a:tr h="54972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随机或漂移主键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编辑丢失、链接断裂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把记录当成对象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确定性主键 + 实体解析</a:t>
                      </a:r>
                    </a:p>
                  </a:txBody>
                  <a:tcPr marL="91440" marR="91440" marT="45720" marB="45720"/>
                </a:tc>
              </a:tr>
              <a:tr h="54972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只建名词，不建动词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本体沦为只读语义层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没有决策闭环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把关键业务动作建成 Action</a:t>
                      </a:r>
                    </a:p>
                  </a:txBody>
                  <a:tcPr marL="91440" marR="91440" marT="45720" marB="45720"/>
                </a:tc>
              </a:tr>
              <a:tr h="54972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权限留给应用处理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口径分裂、越权风险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忽略运行时安全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类型/数据/动作三层联合设计</a:t>
                      </a:r>
                    </a:p>
                  </a:txBody>
                  <a:tcPr marL="91440" marR="91440" marT="45720" marB="45720"/>
                </a:tc>
              </a:tr>
              <a:tr h="54972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大爆炸式全域建模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周期长、无人使用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缺少纵向用例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先跑通薄而完整的业务链</a:t>
                      </a:r>
                    </a:p>
                  </a:txBody>
                  <a:tcPr marL="91440" marR="91440" marT="45720" marB="45720"/>
                </a:tc>
              </a:tr>
              <a:tr h="54972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无分支直接改主线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兼容性与生产风险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缺少变更治理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分支预览、审批、合并、观测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1717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858DB70F-19DC-41BC-ABEF-8CABBA00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本体的本质：
企业行为的可执行契约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887F1D8-F797-483C-BD36-112ED52C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稳定身份：对象主键可持续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治理动词：动作与权限一体化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版本契约：应用与 Agent 共同复用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35C33F2-0B75-4FE8-8070-215D8074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结论</a:t>
            </a:r>
          </a:p>
        </p:txBody>
      </p:sp>
      <p:sp>
        <p:nvSpPr>
          <p:cNvPr id="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D5E2B493-1BE5-4119-9561-F756D88E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90700"/>
            <a:ext cx="1504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mark">
            <a:extLst xmlns:a="http://schemas.openxmlformats.org/drawingml/2006/main">
              <a:ext uri="{FF2B5EF4-FFF2-40B4-BE49-F238E27FC236}">
                <a16:creationId xmlns:a16="http://schemas.microsoft.com/office/drawing/2014/main" id="{AC5C4BDD-BE29-4111-9C92-C7FA24E8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933575"/>
            <a:ext cx="104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918331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2026-07-29T23:49:55.4580000Z</dcterms:created>
  <dcterms:modified xsi:type="dcterms:W3CDTF">2026-07-29T23:49:55.4580000Z</dcterms:modified>
</coreProperties>
</file>