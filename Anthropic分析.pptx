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年化收入运行率 (ARR, $B)</c:v>
                </c:pt>
              </c:strCache>
            </c:strRef>
          </c:tx>
          <c:spPr>
            <a:solidFill>
              <a:srgbClr val="C2693F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4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2024年末</c:v>
                  </c:pt>
                  <c:pt idx="1">
                    <c:v>2025年7月</c:v>
                  </c:pt>
                  <c:pt idx="2">
                    <c:v>2025年末</c:v>
                  </c:pt>
                  <c:pt idx="3">
                    <c:v>2026年2月</c:v>
                  </c:pt>
                  <c:pt idx="4">
                    <c:v>2026年4月</c:v>
                  </c:pt>
                  <c:pt idx="5">
                    <c:v>2026年5月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14</c:v>
                </c:pt>
                <c:pt idx="4">
                  <c:v>30</c:v>
                </c:pt>
                <c:pt idx="5">
                  <c:v>47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0" i="0" strike="noStrike" sz="1000" u="none">
                  <a:solidFill>
                    <a:srgbClr val="2624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6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1234440"/>
            <a:ext cx="4389120" cy="4389120"/>
          </a:xfrm>
          <a:prstGeom prst="ellipse">
            <a:avLst/>
          </a:prstGeom>
          <a:ln w="12700">
            <a:solidFill>
              <a:srgbClr val="C2693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0" y="457200"/>
            <a:ext cx="5943600" cy="5943600"/>
          </a:xfrm>
          <a:prstGeom prst="ellipse">
            <a:avLst/>
          </a:prstGeom>
          <a:ln w="12700">
            <a:solidFill>
              <a:srgbClr val="C2693F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80560" y="-320040"/>
            <a:ext cx="7498080" cy="7498080"/>
          </a:xfrm>
          <a:prstGeom prst="ellipse">
            <a:avLst/>
          </a:prstGeom>
          <a:ln w="12700">
            <a:solidFill>
              <a:srgbClr val="C2693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-1097280"/>
            <a:ext cx="9052560" cy="9052560"/>
          </a:xfrm>
          <a:prstGeom prst="ellipse">
            <a:avLst/>
          </a:prstGeom>
          <a:ln w="12700">
            <a:solidFill>
              <a:srgbClr val="C2693F">
                <a:alpha val="3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-1874520"/>
            <a:ext cx="10607040" cy="10607040"/>
          </a:xfrm>
          <a:prstGeom prst="ellipse">
            <a:avLst/>
          </a:prstGeom>
          <a:ln w="12700">
            <a:solidFill>
              <a:srgbClr val="C2693F">
                <a:alpha val="3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41248" y="2788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商业模式分析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502920" cy="32004"/>
          </a:xfrm>
          <a:prstGeom prst="rect">
            <a:avLst/>
          </a:prstGeom>
          <a:solidFill>
            <a:srgbClr val="C2693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核心模型能力 · 安全治理体系 · 生态系统构建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 </a:t>
            </a:r>
            <a:pPr indent="0" marL="0">
              <a:buNone/>
            </a:pPr>
            <a:r>
              <a:rPr lang="en-US" sz="1300" b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$380B</a:t>
            </a:r>
            <a:pPr indent="0" marL="0">
              <a:buNone/>
            </a:pPr>
            <a:r>
              <a:rPr lang="en-US" sz="1300" dirty="0">
                <a:solidFill>
                  <a:srgbClr val="9C9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年化收入 </a:t>
            </a:r>
            <a:pPr indent="0" marL="0">
              <a:buNone/>
            </a:pPr>
            <a:r>
              <a:rPr lang="en-US" sz="1300" b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$14–47B</a:t>
            </a:r>
            <a:pPr indent="0" marL="0">
              <a:buNone/>
            </a:pPr>
            <a:r>
              <a:rPr lang="en-US" sz="1300" dirty="0">
                <a:solidFill>
                  <a:srgbClr val="9C9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企业客户 </a:t>
            </a:r>
            <a:pPr indent="0" marL="0">
              <a:buNone/>
            </a:pPr>
            <a:r>
              <a:rPr lang="en-US" sz="1300" b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  ·  基于公开信息整理分析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三大支柱驱动的商业飞轮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的商业模式并非单纯的“卖模型”，而是模型能力、安全治理与生态构建三者相互强化的系统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310128" cy="3246120"/>
          </a:xfrm>
          <a:prstGeom prst="roundRect">
            <a:avLst>
              <a:gd name="adj" fmla="val 2817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8" name="Image 0" descr="/home/claude/anthropic_deck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328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1546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核心模型能力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53872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Capability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3886200"/>
            <a:ext cx="2670048" cy="10973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050792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系列前沿模型 + Constitutional AI 训练范式，构筑能力护城河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944368" y="4736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A5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05656" y="2057400"/>
            <a:ext cx="3310128" cy="3246120"/>
          </a:xfrm>
          <a:prstGeom prst="roundRect">
            <a:avLst>
              <a:gd name="adj" fmla="val 2817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25696" y="2377440"/>
            <a:ext cx="640080" cy="640080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16" name="Image 1" descr="/home/claude/anthropic_deck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5328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25696" y="31546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安全治理体系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425696" y="353872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Governance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425696" y="3886200"/>
            <a:ext cx="2670048" cy="10973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20" name="Text 16"/>
          <p:cNvSpPr/>
          <p:nvPr/>
        </p:nvSpPr>
        <p:spPr>
          <a:xfrm>
            <a:off x="4425696" y="4050792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Scaling Policy (RSP) v3.1、风险报告与外部审查机制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47104" y="4736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A5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708392" y="2057400"/>
            <a:ext cx="3310128" cy="3246120"/>
          </a:xfrm>
          <a:prstGeom prst="roundRect">
            <a:avLst>
              <a:gd name="adj" fmla="val 2817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28432" y="2377440"/>
            <a:ext cx="640080" cy="640080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24" name="Image 2" descr="/home/claude/anthropic_deck/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532888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28432" y="31546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生态系统构建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028432" y="353872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&amp; Platform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028432" y="3886200"/>
            <a:ext cx="2670048" cy="10973"/>
          </a:xfrm>
          <a:prstGeom prst="rect">
            <a:avLst/>
          </a:prstGeom>
          <a:solidFill>
            <a:srgbClr val="3A3935"/>
          </a:solidFill>
          <a:ln/>
        </p:spPr>
      </p:sp>
      <p:sp>
        <p:nvSpPr>
          <p:cNvPr id="28" name="Text 23"/>
          <p:cNvSpPr/>
          <p:nvPr/>
        </p:nvSpPr>
        <p:spPr>
          <a:xfrm>
            <a:off x="8028432" y="4050792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开放协议、云平台三方分发（AWS/GCP/Azure）、开发者生态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10149840" y="4736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A5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商业表现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收入呈指数级增长，企业市场是主引擎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55448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FBF8F4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6276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80960" y="20848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2026年5月年化收入运行率（Sacra估算），较2025年末的$9B大幅跃升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52360" y="2633472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FBF8F4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27066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80960" y="3163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收入来自企业与初创公司的API调用，按使用量计费 (PPT)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52360" y="3712464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FBF8F4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37856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300,000+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80960" y="42428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企业客户数；其中年支出超$100K的客户一年增长约7倍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452360" y="4791456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FBF8F4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48646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680960" y="53218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年化收入（2026年2月），较年初翻倍以上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数据来源：Sacra、DemandSage、AI Business Weekly 等第三方估算（非Anthropic官方审计数据），2026年6月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商业表现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双轨商业模式：按量计费 API + 订阅分层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anthropic_deck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84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企业 / 开发者 API（约70-80%营收）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2688336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56946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Token 计费（Pay-per-token），Sonnet 4.6 输入$3/M·输出$15/M；Opus 4.7 输入$5/M·输出$25/M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14400" y="3438144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3192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三大云平台同步分发：AWS Bedrock、Google Cloud Vertex AI、Microsoft Azure Foundry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4187952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069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 企业通过 Amazon Bedrock 运行 Claude（2026年4月）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4400" y="4937760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818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独立产品化，年化收入达 $2.5B，企业场景占比过半（Netflix、Spotify、KPMG 等）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0" y="169164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DC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/home/claude/anthropic_deck/icons/user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1168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75120" y="1984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消费者订阅分层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6172200" y="2606040"/>
            <a:ext cx="799186" cy="457200"/>
          </a:xfrm>
          <a:prstGeom prst="roundRect">
            <a:avLst>
              <a:gd name="adj" fmla="val 12000"/>
            </a:avLst>
          </a:prstGeom>
          <a:solidFill>
            <a:srgbClr val="EDE6DC"/>
          </a:solidFill>
          <a:ln/>
        </p:spPr>
      </p:sp>
      <p:sp>
        <p:nvSpPr>
          <p:cNvPr id="20" name="Text 16"/>
          <p:cNvSpPr/>
          <p:nvPr/>
        </p:nvSpPr>
        <p:spPr>
          <a:xfrm>
            <a:off x="6172200" y="2606040"/>
            <a:ext cx="79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081114" y="2606040"/>
            <a:ext cx="799186" cy="457200"/>
          </a:xfrm>
          <a:prstGeom prst="roundRect">
            <a:avLst>
              <a:gd name="adj" fmla="val 12000"/>
            </a:avLst>
          </a:prstGeom>
          <a:solidFill>
            <a:srgbClr val="EDE6DC"/>
          </a:solidFill>
          <a:ln/>
        </p:spPr>
      </p:sp>
      <p:sp>
        <p:nvSpPr>
          <p:cNvPr id="22" name="Text 18"/>
          <p:cNvSpPr/>
          <p:nvPr/>
        </p:nvSpPr>
        <p:spPr>
          <a:xfrm>
            <a:off x="7081114" y="2606040"/>
            <a:ext cx="79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990027" y="2606040"/>
            <a:ext cx="799186" cy="457200"/>
          </a:xfrm>
          <a:prstGeom prst="roundRect">
            <a:avLst>
              <a:gd name="adj" fmla="val 12000"/>
            </a:avLst>
          </a:prstGeom>
          <a:solidFill>
            <a:srgbClr val="EDE6DC"/>
          </a:solidFill>
          <a:ln/>
        </p:spPr>
      </p:sp>
      <p:sp>
        <p:nvSpPr>
          <p:cNvPr id="24" name="Text 20"/>
          <p:cNvSpPr/>
          <p:nvPr/>
        </p:nvSpPr>
        <p:spPr>
          <a:xfrm>
            <a:off x="7990027" y="2606040"/>
            <a:ext cx="79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898941" y="2606040"/>
            <a:ext cx="799186" cy="457200"/>
          </a:xfrm>
          <a:prstGeom prst="roundRect">
            <a:avLst>
              <a:gd name="adj" fmla="val 12000"/>
            </a:avLst>
          </a:prstGeom>
          <a:solidFill>
            <a:srgbClr val="EDE6DC"/>
          </a:solidFill>
          <a:ln/>
        </p:spPr>
      </p:sp>
      <p:sp>
        <p:nvSpPr>
          <p:cNvPr id="26" name="Text 22"/>
          <p:cNvSpPr/>
          <p:nvPr/>
        </p:nvSpPr>
        <p:spPr>
          <a:xfrm>
            <a:off x="8898941" y="2606040"/>
            <a:ext cx="79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9807854" y="2606040"/>
            <a:ext cx="799186" cy="457200"/>
          </a:xfrm>
          <a:prstGeom prst="roundRect">
            <a:avLst>
              <a:gd name="adj" fmla="val 12000"/>
            </a:avLst>
          </a:prstGeom>
          <a:solidFill>
            <a:srgbClr val="C2693F"/>
          </a:solidFill>
          <a:ln/>
        </p:spPr>
      </p:sp>
      <p:sp>
        <p:nvSpPr>
          <p:cNvPr id="28" name="Text 24"/>
          <p:cNvSpPr/>
          <p:nvPr/>
        </p:nvSpPr>
        <p:spPr>
          <a:xfrm>
            <a:off x="9807854" y="2606040"/>
            <a:ext cx="7991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172200" y="3328416"/>
            <a:ext cx="82296" cy="82296"/>
          </a:xfrm>
          <a:prstGeom prst="ellipse">
            <a:avLst/>
          </a:prstGeom>
          <a:solidFill>
            <a:srgbClr val="9C4F2C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0" y="32095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面向终端用户的网页 / 移动 / 桌面聊天界面，个人到团队全覆盖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172200" y="4078224"/>
            <a:ext cx="82296" cy="82296"/>
          </a:xfrm>
          <a:prstGeom prst="ellipse">
            <a:avLst/>
          </a:prstGeom>
          <a:solidFill>
            <a:srgbClr val="9C4F2C"/>
          </a:solidFill>
          <a:ln/>
        </p:spPr>
      </p:sp>
      <p:sp>
        <p:nvSpPr>
          <p:cNvPr id="32" name="Text 28"/>
          <p:cNvSpPr/>
          <p:nvPr/>
        </p:nvSpPr>
        <p:spPr>
          <a:xfrm>
            <a:off x="6400800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周活跃用户自2026年初已翻倍，业务订阅数季度环比4倍增长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172200" y="4828032"/>
            <a:ext cx="82296" cy="82296"/>
          </a:xfrm>
          <a:prstGeom prst="ellipse">
            <a:avLst/>
          </a:prstGeom>
          <a:solidFill>
            <a:srgbClr val="9C4F2C"/>
          </a:solidFill>
          <a:ln/>
        </p:spPr>
      </p:sp>
      <p:sp>
        <p:nvSpPr>
          <p:cNvPr id="34" name="Text 30"/>
          <p:cNvSpPr/>
          <p:nvPr/>
        </p:nvSpPr>
        <p:spPr>
          <a:xfrm>
            <a:off x="6400800" y="4709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用户规模约18.9M月活（直接渠道），叠加API间接用户总计约接近3亿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172200" y="5577840"/>
            <a:ext cx="82296" cy="82296"/>
          </a:xfrm>
          <a:prstGeom prst="ellipse">
            <a:avLst/>
          </a:prstGeom>
          <a:solidFill>
            <a:srgbClr val="9C4F2C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0" y="54589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消费者订阅与API为互补漏斗：个人用户上升为团队/企业付费客户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商业模式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核心模型能力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模型矩阵：分层覆盖性能与成本曲线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家族按能力/延迟/成本三轴分层，覆盖从轻量任务到前沿研究的全场景需求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2240280"/>
            <a:ext cx="585216" cy="585216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8" name="Image 0" descr="/home/claude/anthropic_deck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38658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Haiku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3192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轻量高速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3685032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低成本、低延迟，适合高并发、实时交互场景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9544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87952" y="2240280"/>
            <a:ext cx="585216" cy="585216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14" name="Image 1" descr="/home/claude/anthropic_deck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238658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46704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Sonnet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346704" y="33192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均衡主力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92424" y="3685032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性能与成本平衡，企业默认生产力模型（当前4.6）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16168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94576" y="2240280"/>
            <a:ext cx="585216" cy="585216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20" name="Image 2" descr="/home/claude/anthropic_deck/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386584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53328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Opus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053328" y="33192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前沿旗舰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099048" y="3685032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最强推理与复杂任务能力，科研/高价值场景（当前4.7）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622792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601200" y="2240280"/>
            <a:ext cx="585216" cy="585216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26" name="Image 3" descr="/home/claude/anthropic_deck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2386584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759952" y="29718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Mythos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759952" y="33192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受限新层级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805672" y="3685032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之上的新一代分支；因出口管制暂停公开访问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02920" y="5129784"/>
            <a:ext cx="91440" cy="9144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501091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长上下文与智能体（Agentic）工作流：Claude Code、计算机使用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02920" y="5513832"/>
            <a:ext cx="91440" cy="9144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33" name="Text 27"/>
          <p:cNvSpPr/>
          <p:nvPr/>
        </p:nvSpPr>
        <p:spPr>
          <a:xfrm>
            <a:off x="731520" y="53949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原生支持：模型可直接调用外部工具与数据源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02920" y="5897880"/>
            <a:ext cx="91440" cy="9144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35" name="Text 29"/>
          <p:cNvSpPr/>
          <p:nvPr/>
        </p:nvSpPr>
        <p:spPr>
          <a:xfrm>
            <a:off x="731520" y="57790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宪法式训练（Constitutional AI）：能力与价值对齐同步推进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核心模型能力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产品化路径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从单一模型到多界面产品矩阵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同一模型能力通过不同界面触达不同用户群体，扩大可寻址市场（TAM）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BF8F4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02536"/>
            <a:ext cx="475488" cy="475488"/>
          </a:xfrm>
          <a:prstGeom prst="ellipse">
            <a:avLst/>
          </a:prstGeom>
          <a:solidFill>
            <a:srgbClr val="F2E2D5"/>
          </a:solidFill>
          <a:ln/>
        </p:spPr>
      </p:sp>
      <p:pic>
        <p:nvPicPr>
          <p:cNvPr id="8" name="Image 0" descr="/home/claude/anthropic_deck/icons/user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30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2938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 / App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31920" y="206654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0" y="20665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消费者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532120" y="192938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网页、移动、桌面端聊天界面，面向个人生产力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715768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843784"/>
            <a:ext cx="475488" cy="475488"/>
          </a:xfrm>
          <a:prstGeom prst="ellipse">
            <a:avLst/>
          </a:prstGeom>
          <a:solidFill>
            <a:srgbClr val="F2E2D5"/>
          </a:solidFill>
          <a:ln/>
        </p:spPr>
      </p:sp>
      <p:pic>
        <p:nvPicPr>
          <p:cNvPr id="15" name="Image 1" descr="/home/claude/anthropic_deck/icons/cod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7180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2770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931920" y="290779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/>
        </p:spPr>
      </p:sp>
      <p:sp>
        <p:nvSpPr>
          <p:cNvPr id="18" name="Text 14"/>
          <p:cNvSpPr/>
          <p:nvPr/>
        </p:nvSpPr>
        <p:spPr>
          <a:xfrm>
            <a:off x="3931920" y="29077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开发者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532120" y="27706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命令行/IDE代理编程工具，年化收入$2.5B，企业占比过半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2920" y="3557016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BF8F4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13232" y="3685032"/>
            <a:ext cx="475488" cy="475488"/>
          </a:xfrm>
          <a:prstGeom prst="ellipse">
            <a:avLst/>
          </a:prstGeom>
          <a:solidFill>
            <a:srgbClr val="F2E2D5"/>
          </a:solidFill>
          <a:ln/>
        </p:spPr>
      </p:sp>
      <p:pic>
        <p:nvPicPr>
          <p:cNvPr id="22" name="Image 2" descr="/home/claude/anthropic_deck/icons/building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13048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Cowork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931920" y="37490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/>
        </p:spPr>
      </p:sp>
      <p:sp>
        <p:nvSpPr>
          <p:cNvPr id="25" name="Text 20"/>
          <p:cNvSpPr/>
          <p:nvPr/>
        </p:nvSpPr>
        <p:spPr>
          <a:xfrm>
            <a:off x="3931920" y="3749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知识工作者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532120" y="3611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面向非开发者的智能体办公桌面应用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2920" y="4398264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13232" y="4526280"/>
            <a:ext cx="475488" cy="475488"/>
          </a:xfrm>
          <a:prstGeom prst="ellipse">
            <a:avLst/>
          </a:prstGeom>
          <a:solidFill>
            <a:srgbClr val="F2E2D5"/>
          </a:solidFill>
          <a:ln/>
        </p:spPr>
      </p:sp>
      <p:pic>
        <p:nvPicPr>
          <p:cNvPr id="29" name="Image 3" descr="/home/claude/anthropic_deck/icons/server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654296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4453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Platform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3931920" y="459028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/>
        </p:spPr>
      </p:sp>
      <p:sp>
        <p:nvSpPr>
          <p:cNvPr id="32" name="Text 26"/>
          <p:cNvSpPr/>
          <p:nvPr/>
        </p:nvSpPr>
        <p:spPr>
          <a:xfrm>
            <a:off x="3931920" y="4590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企业与ISV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532120" y="445312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/ Sonnet / Haiku 模型族，按量计费，三云分发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02920" y="5239512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FBF8F4"/>
          </a:solidFill>
          <a:ln w="9525">
            <a:solidFill>
              <a:srgbClr val="E4DCD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13232" y="5367528"/>
            <a:ext cx="475488" cy="475488"/>
          </a:xfrm>
          <a:prstGeom prst="ellipse">
            <a:avLst/>
          </a:prstGeom>
          <a:solidFill>
            <a:srgbClr val="F2E2D5"/>
          </a:solidFill>
          <a:ln/>
        </p:spPr>
      </p:sp>
      <p:pic>
        <p:nvPicPr>
          <p:cNvPr id="36" name="Image 4" descr="/home/claude/anthropic_deck/icons/puzzl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95544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71600" y="52943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 / Excel / PPT 插件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3931920" y="543153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A1A19"/>
          </a:solidFill>
          <a:ln/>
        </p:spPr>
      </p:sp>
      <p:sp>
        <p:nvSpPr>
          <p:cNvPr id="39" name="Text 32"/>
          <p:cNvSpPr/>
          <p:nvPr/>
        </p:nvSpPr>
        <p:spPr>
          <a:xfrm>
            <a:off x="3931920" y="54315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垂直场景用户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532120" y="529437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浏览器代理、表格、幻灯片等场景化Beta产品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产品化路径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安全治理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Scaling Policy：安全即护城河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 是 Anthropic 区别于同业的核心制度资产：将安全治理嵌入模型发布的强制流程，而非事后补救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10058400" cy="18288"/>
          </a:xfrm>
          <a:prstGeom prst="rect">
            <a:avLst/>
          </a:prstGeom>
          <a:solidFill>
            <a:srgbClr val="4A4842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86000"/>
            <a:ext cx="164592" cy="164592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2023.09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首次发布，承诺设立能力分级红线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81528" y="2286000"/>
            <a:ext cx="164592" cy="164592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v2.0–2.2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2024.10–2025.05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ASL 安全标准，细化执行规则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96128" y="2286000"/>
            <a:ext cx="164592" cy="164592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全面重写：发布前沿安全路线图与风险报告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10728" y="2286000"/>
            <a:ext cx="164592" cy="164592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26680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2668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新增行业级建议与外部审查机制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4165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0" descr="/home/claude/anthropic_deck/icons/balanc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535424"/>
            <a:ext cx="265176" cy="2651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能力分级 (ASL)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77240" y="5394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按潜在灾难性风险（生化、网络、自主性等）对模型分级，触发对应安全标准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24528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98848" y="44165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1" descr="/home/claude/anthropic_deck/icons/flas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535424"/>
            <a:ext cx="265176" cy="26517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498848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风险报告 (Risk Reports)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4498848" y="5394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发布前公开评估能力、威胁模型与缓解措施，接受外部审查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946136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220456" y="44165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2" descr="/home/claude/anthropic_deck/icons/usershield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4535424"/>
            <a:ext cx="265176" cy="26517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220456" y="5029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可中止承诺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8220456" y="5394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若安全技术滞后于能力发展，承诺暂停扩展直至治理工具就位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安全治理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安全治理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Constitutional AI：把价值观写进训练目标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9436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DC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 RLHF 到“宪法”治理哲学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414016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2023年提出 Constitutional AI 训练方法：模型依据显式原则（源自人权公约、安全准则）自我评判与修正输出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374136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255264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2026年1月发布完整版《Claude 宪法》，将其确立为公司治理哲学的核心，而不仅是训练技巧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215384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096512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原则可审计、可追溯，降低对不透明人类反馈循环的依赖，提升监管可解释性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5056632"/>
            <a:ext cx="82296" cy="82296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9377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公开披露越狱手法、误用模式与灾难性风险评估，将“失败模式透明化”作为治理机制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691640"/>
            <a:ext cx="4983480" cy="4297680"/>
          </a:xfrm>
          <a:prstGeom prst="roundRect">
            <a:avLst>
              <a:gd name="adj" fmla="val 2128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920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为什么这是商业资产，而非成本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24231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合规先发优势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95160" y="27340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在金融、医疗、政府等受监管行业更易通过采购安全评审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95160" y="33009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品牌信任溢价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95160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“安全第一”定位差异化于以速度取胜的竞争对手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5160" y="4178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监管关系资本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44897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深度参与政策制定，降低未来监管的不确定性冲击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5056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人才虹吸效应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95160" y="5367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吸引重视AI安全使命的顶尖研究人才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安全治理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生态系统构建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MCP：从专有协议到行业标准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让 Anthropic 从“模型提供商”升级为“AI连接层标准制定者”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F2E2D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29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活跃公开 MCP 服务器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255264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F2E2D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64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97M/月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8221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TypeScript SDK 下载量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590288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F2E2D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7000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4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2024.11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51572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发布；2025.12 捐赠给 Linux 基金会 AAIF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0920" y="2926080"/>
            <a:ext cx="1554480" cy="1554480"/>
          </a:xfrm>
          <a:prstGeom prst="ellipse">
            <a:avLst/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开放协议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286000"/>
            <a:ext cx="2377440" cy="1417320"/>
          </a:xfrm>
          <a:prstGeom prst="line">
            <a:avLst/>
          </a:prstGeom>
          <a:noFill/>
          <a:ln w="12700">
            <a:solidFill>
              <a:srgbClr val="D9CFC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138160" y="1920240"/>
            <a:ext cx="0" cy="1783080"/>
          </a:xfrm>
          <a:prstGeom prst="line">
            <a:avLst/>
          </a:prstGeom>
          <a:noFill/>
          <a:ln w="12700">
            <a:solidFill>
              <a:srgbClr val="D9CFC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138160" y="2286000"/>
            <a:ext cx="2377440" cy="1417320"/>
          </a:xfrm>
          <a:prstGeom prst="line">
            <a:avLst/>
          </a:prstGeom>
          <a:noFill/>
          <a:ln w="12700">
            <a:solidFill>
              <a:srgbClr val="D9CFC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0" y="3703320"/>
            <a:ext cx="2651760" cy="1417320"/>
          </a:xfrm>
          <a:prstGeom prst="line">
            <a:avLst/>
          </a:prstGeom>
          <a:noFill/>
          <a:ln w="12700">
            <a:solidFill>
              <a:srgbClr val="D9CFC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138160" y="3703320"/>
            <a:ext cx="0" cy="1874520"/>
          </a:xfrm>
          <a:prstGeom prst="line">
            <a:avLst/>
          </a:prstGeom>
          <a:noFill/>
          <a:ln w="12700">
            <a:solidFill>
              <a:srgbClr val="D9CFC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138160" y="3703320"/>
            <a:ext cx="2651760" cy="1417320"/>
          </a:xfrm>
          <a:prstGeom prst="line">
            <a:avLst/>
          </a:prstGeom>
          <a:noFill/>
          <a:ln w="12700">
            <a:solidFill>
              <a:srgbClr val="D9CFC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193792" y="208483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269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08483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71232" y="171907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269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17190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948672" y="208483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269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48672" y="208483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19472" y="491947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269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9194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71232" y="537667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269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53766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222992" y="4919472"/>
            <a:ext cx="1133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269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22992" y="49194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Bloomberg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23360" y="5806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AAIF 治理结构：白金会员 AWS / Anthropic / Block / Bloomberg / Cloudflare / Google / Microsoft / OpenAI 共同维护标准中立性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生态系统构建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生态系统构建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分发渠道 × 算力联盟：双重绑定大平台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同时绑定三大云厂商作为分发渠道与算力供给方，形成多元化、互相制衡的依赖关系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21992"/>
            <a:ext cx="502920" cy="502920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8" name="Image 0" descr="/home/claude/anthropic_deck/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340864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/ AWS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31729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主要云基础设施 + 投资方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3502152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累计投资 $80亿；Bedrock 承载10万+企业部署；Anthropic 云服务器主要运行于AWS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9544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38144" y="2221992"/>
            <a:ext cx="502920" cy="502920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14" name="Image 1" descr="/home/claude/anthropic_deck/icons/glob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340864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92424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92424" y="31729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 算力 + 投资方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92424" y="3502152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拟投资最高$400亿；与 Broadcom 达成多吉瓦次世代TPU算力协议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916168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44768" y="2221992"/>
            <a:ext cx="502920" cy="502920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20" name="Image 2" descr="/home/claude/anthropic_deck/icons/buil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40864"/>
            <a:ext cx="265176" cy="265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9048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099048" y="31729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分发渠道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099048" y="3502152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上线 Claude；每年投入$5亿+将Claude集成进自家产品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622792" y="1965960"/>
            <a:ext cx="2542032" cy="3246120"/>
          </a:xfrm>
          <a:prstGeom prst="roundRect">
            <a:avLst>
              <a:gd name="adj" fmla="val 3597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851392" y="2221992"/>
            <a:ext cx="502920" cy="502920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26" name="Image 3" descr="/home/claude/anthropic_deck/icons/rock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2340864"/>
            <a:ext cx="265176" cy="2651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805672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805672" y="31729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2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算力扩容合作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805672" y="3502152"/>
            <a:ext cx="2176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2026年5月签署算力协议，扩展 Claude Code 容量与使用额度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0292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策略意图：避免单一云厂商锁定，同时以多元算力供给支撑模型训练与推理的指数级扩张需求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生态系统构建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竞争格局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差异化定位：企业市场的“信任优先”玩家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060704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3931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/ 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/ ChatGPT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核心市场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 / API 主导（约70-80%营收）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消费者主导，企业份额扩张中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消费者市占率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3.5%（全球聊天机器人市场）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企业AI市占率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 29%（估算）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领先但Claude差距收窄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治理姿态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 + 宪法式AI，安全前置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Preparedness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收入增速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2025–2026 维持10倍年增速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2026年预计超$200亿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600200"/>
            <a:ext cx="10607040" cy="548640"/>
          </a:xfrm>
          <a:prstGeom prst="rect">
            <a:avLst/>
          </a:prstGeom>
          <a:solidFill>
            <a:srgbClr val="1A1A19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46120" y="1600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Claude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1600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ChatGPT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5230368"/>
            <a:ext cx="91440" cy="9144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111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押注“慢而稳”的企业信任路径，而非消费者增长的速度竞赛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650992"/>
            <a:ext cx="91440" cy="9144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532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安全治理既是差异化卖点，也构成相对更高的合规与披露成本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市占率数据为第三方估算，口径与时间点不同来源存在差异，仅供方向性参考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竞争格局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风险与挑战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模式可持续性面临的关键变量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801368"/>
            <a:ext cx="420624" cy="420624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7" name="Image 0" descr="/home/claude/anthropic_deck/icons/mon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0195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6479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算力成本压力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4088" y="231343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训练与推理成本随模型规模指数上升，盈利拐点依赖持续融资与云端折扣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23944" y="160020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1801368"/>
            <a:ext cx="420624" cy="420624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12" name="Image 1" descr="/home/claude/anthropic_deck/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9019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55464" y="176479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监管不确定性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25112" y="231343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出口管制（如 Mythos 层级访问暂停）等政策变化可能直接限制产品可用性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744968" y="160020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46136" y="1801368"/>
            <a:ext cx="420624" cy="420624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17" name="Image 2" descr="/home/claude/anthropic_deck/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0195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6488" y="176479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生态控制权稀释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946136" y="231343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捐赠给中立基金会虽扩大采用，也意味着失去对协议演进的单边掌控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3264408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3465576"/>
            <a:ext cx="420624" cy="420624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22" name="Image 3" descr="/home/claude/anthropic_deck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56616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4290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消费者份额落后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04088" y="397764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约3.5%的消费端市占率使其在品牌心智与数据飞轮上落后于ChatGPT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123944" y="3264408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25112" y="3465576"/>
            <a:ext cx="420624" cy="420624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27" name="Image 4" descr="/home/claude/anthropic_deck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3566160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55464" y="34290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安全承诺的执行成本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325112" y="397764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 的“可中止”条款在商业压力下需经受真实测试，关乎长期信任资产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744968" y="3264408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A1A1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946136" y="3465576"/>
            <a:ext cx="420624" cy="420624"/>
          </a:xfrm>
          <a:prstGeom prst="ellipse">
            <a:avLst/>
          </a:prstGeom>
          <a:solidFill>
            <a:srgbClr val="C2693F"/>
          </a:solidFill>
          <a:ln/>
        </p:spPr>
      </p:sp>
      <p:pic>
        <p:nvPicPr>
          <p:cNvPr id="32" name="Image 5" descr="/home/claude/anthropic_deck/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66160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76488" y="342900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客户集中度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946136" y="397764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C9C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云厂商既是合作伙伴又是潜在竞争对手（自研模型），存在渠道依赖风险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风险与挑战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914400"/>
            <a:ext cx="3657600" cy="3657600"/>
          </a:xfrm>
          <a:prstGeom prst="ellipse">
            <a:avLst/>
          </a:prstGeom>
          <a:ln w="12700">
            <a:solidFill>
              <a:srgbClr val="C2693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-1783080"/>
            <a:ext cx="5394960" cy="5394960"/>
          </a:xfrm>
          <a:prstGeom prst="ellipse">
            <a:avLst/>
          </a:prstGeom>
          <a:ln w="12700">
            <a:solidFill>
              <a:srgbClr val="C2693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2651760"/>
            <a:ext cx="7132320" cy="7132320"/>
          </a:xfrm>
          <a:prstGeom prst="ellipse">
            <a:avLst/>
          </a:prstGeom>
          <a:ln w="12700">
            <a:solidFill>
              <a:srgbClr val="C2693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-3520440"/>
            <a:ext cx="8869680" cy="8869680"/>
          </a:xfrm>
          <a:prstGeom prst="ellipse">
            <a:avLst/>
          </a:prstGeom>
          <a:ln w="12700">
            <a:solidFill>
              <a:srgbClr val="C2693F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C2693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11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结论与展望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结论：安全治理正在成为可变现的产品特性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84832"/>
            <a:ext cx="457200" cy="45720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938528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证明了“安全优先”与“高速增长”并非零和：RSP 与宪法式AI 已转化为企业市场的信任溢价与采购优势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054096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的开放治理是关键的生态杠杆：放弃单边控制换取协议成为行业标准，扩大整个赛道的蛋糕而非固守份额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59936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315968"/>
            <a:ext cx="457200" cy="45720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169664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三云分发 + 多元算力联盟降低了基础设施依赖风险，但也意味着平台话语权需持续与合作伙伴博弈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175504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242422"/>
          </a:solidFill>
          <a:ln w="9525">
            <a:solidFill>
              <a:srgbClr val="3A39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431536"/>
            <a:ext cx="457200" cy="457200"/>
          </a:xfrm>
          <a:prstGeom prst="ellipse">
            <a:avLst/>
          </a:prstGeom>
          <a:solidFill>
            <a:srgbClr val="C2693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285232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下一阶段的核心变量：能否在保持安全承诺可信度的同时，缩小与消费端龙头的规模差距并实现盈利拐点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分析 · 结论与展望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分析</dc:title>
  <dc:subject>PptxGenJS Presentation</dc:subject>
  <dc:creator>Claude</dc:creator>
  <cp:lastModifiedBy>Claude</cp:lastModifiedBy>
  <cp:revision>1</cp:revision>
  <dcterms:created xsi:type="dcterms:W3CDTF">2026-06-19T08:44:31Z</dcterms:created>
  <dcterms:modified xsi:type="dcterms:W3CDTF">2026-06-19T08:44:31Z</dcterms:modified>
</cp:coreProperties>
</file>