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1778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D97757"/>
                </a:solidFill>
                <a:latin typeface="PingFang SC"/>
                <a:ea typeface="PingFang SC"/>
              </a:rPr>
              <a:t>行业智能化 · 产业生态研究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5200" b="1">
                <a:solidFill>
                  <a:srgbClr val="FFFFFF"/>
                </a:solidFill>
                <a:latin typeface="PingFang SC"/>
                <a:ea typeface="PingFang SC"/>
              </a:rPr>
              <a:t>Anthropic 生态分析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E7C8B6"/>
                </a:solidFill>
                <a:latin typeface="PingFang SC"/>
                <a:ea typeface="PingFang SC"/>
              </a:rPr>
              <a:t>与 SaaS 厂商的合作策略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434840"/>
            <a:ext cx="1042416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DDDDD"/>
                </a:solidFill>
                <a:latin typeface="PingFang SC"/>
                <a:ea typeface="PingFang SC"/>
              </a:rPr>
              <a:t>以「模型即智能层」嵌入软件生态，以 MCP 定义连接标准，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DDDDD"/>
                </a:solidFill>
                <a:latin typeface="PingFang SC"/>
                <a:ea typeface="PingFang SC"/>
              </a:rPr>
              <a:t>用 Token 消耗捕获价值 —— 同时向应用层攀升的「合作 × 竞争」双重博弈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1264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A9A9A"/>
                </a:solidFill>
                <a:latin typeface="PingFang SC"/>
                <a:ea typeface="PingFang SC"/>
              </a:rPr>
              <a:t>行业智能化项目组    |    2026-06    |    数据截至 2026 Q1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241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A1A1A"/>
                </a:solidFill>
                <a:latin typeface="PingFang SC"/>
                <a:ea typeface="PingFang SC"/>
              </a:rPr>
              <a:t>战略命题：从「模型层」向「应用层」要价值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F5F5F"/>
                </a:solidFill>
                <a:latin typeface="PingFang SC"/>
                <a:ea typeface="PingFang SC"/>
              </a:rPr>
              <a:t>在倒金字塔产业结构下，谁掌握应用层与连接标准，谁就掌握 AI 产业的价值主导权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97757"/>
                </a:solidFill>
                <a:latin typeface="PingFang SC"/>
                <a:ea typeface="PingFang SC"/>
              </a:rPr>
              <a:t>01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7780"/>
          </a:xfrm>
          <a:prstGeom prst="rect">
            <a:avLst/>
          </a:prstGeom>
          <a:solidFill>
            <a:srgbClr val="E3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4846320" cy="868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36776"/>
            <a:ext cx="48463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行业应用层 (SaaS)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0E8E0"/>
                </a:solidFill>
                <a:latin typeface="PingFang SC"/>
                <a:ea typeface="PingFang SC"/>
              </a:rPr>
              <a:t>目标 100× 价值 · Anthropic 既供货又下场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496312"/>
            <a:ext cx="3291840" cy="868680"/>
          </a:xfrm>
          <a:prstGeom prst="rect">
            <a:avLst/>
          </a:prstGeom>
          <a:solidFill>
            <a:srgbClr val="B5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24328"/>
            <a:ext cx="32918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模型层 (Claude)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0E8E0"/>
                </a:solidFill>
                <a:latin typeface="PingFang SC"/>
                <a:ea typeface="PingFang SC"/>
              </a:rPr>
              <a:t>10× 价值 · Anthropic 主战场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3483864"/>
            <a:ext cx="1737360" cy="86868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3611880"/>
            <a:ext cx="17373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算力 / 硬件层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0E8E0"/>
                </a:solidFill>
                <a:latin typeface="PingFang SC"/>
                <a:ea typeface="PingFang SC"/>
              </a:rPr>
              <a:t>1× · 见《Anthropic 云策略》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17136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F5F5F"/>
                </a:solidFill>
                <a:latin typeface="PingFang SC"/>
                <a:ea typeface="PingFang SC"/>
              </a:rPr>
              <a:t>健康生态 = 越往上价值越大；模型厂商必须借 SaaS 把模型变成「结果」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508760"/>
            <a:ext cx="5897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508760"/>
            <a:ext cx="109728" cy="1417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1673352"/>
            <a:ext cx="5486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PingFang SC"/>
                <a:ea typeface="PingFang SC"/>
              </a:rPr>
              <a:t>①  模型是「成分」，不是终点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Claude 单卖 API 只是中间品；只有被 SaaS 封装成具体业务结果，才能触达 100× 的应用层价值。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3081528"/>
            <a:ext cx="5897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3081528"/>
            <a:ext cx="109728" cy="141732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3246120"/>
            <a:ext cx="5486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PingFang SC"/>
                <a:ea typeface="PingFang SC"/>
              </a:rPr>
              <a:t>②  分发杠杆在 SaaS 手里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ServiceNow、Salesforce、Snowflake 等握有存量企业客户与数据；借其分发，远快于 Anthropic 自建销售。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4654296"/>
            <a:ext cx="5897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4654296"/>
            <a:ext cx="109728" cy="1417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4818888"/>
            <a:ext cx="5486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PingFang SC"/>
                <a:ea typeface="PingFang SC"/>
              </a:rPr>
              <a:t>③  标准即护城河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F5F5F"/>
                </a:solidFill>
                <a:latin typeface="PingFang SC"/>
                <a:ea typeface="PingFang SC"/>
              </a:rPr>
              <a:t>通过开源 MCP 定义「模型↔软件」连接标准，把生态主导权握在手中，而非沦为可替换的算力供应商。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241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A1A1A"/>
                </a:solidFill>
                <a:latin typeface="PingFang SC"/>
                <a:ea typeface="PingFang SC"/>
              </a:rPr>
              <a:t>合作版图：Claude 已成为企业软件的「智能成分」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F5F5F"/>
                </a:solidFill>
                <a:latin typeface="PingFang SC"/>
                <a:ea typeface="PingFang SC"/>
              </a:rPr>
              <a:t>横跨数据平台、业务 SaaS、编程工具与横向应用，Claude 作为底层智能被广泛嵌入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97757"/>
                </a:solidFill>
                <a:latin typeface="PingFang SC"/>
                <a:ea typeface="PingFang SC"/>
              </a:rPr>
              <a:t>02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7780"/>
          </a:xfrm>
          <a:prstGeom prst="rect">
            <a:avLst/>
          </a:prstGeom>
          <a:solidFill>
            <a:srgbClr val="E3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26974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2697480" cy="74980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72768"/>
            <a:ext cx="2423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数据 / AI 平台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2F2F2"/>
                </a:solidFill>
                <a:latin typeface="PingFang SC"/>
                <a:ea typeface="PingFang SC"/>
              </a:rPr>
              <a:t>治理数据上的 Agent 底座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377440"/>
            <a:ext cx="2386584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4285F4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Snowflake Cortex（$200M）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4285F4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Databricks（5 年期）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4285F4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Palantir AIP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4285F4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IBM watsonx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481328"/>
            <a:ext cx="26974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481328"/>
            <a:ext cx="2697480" cy="7498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572768"/>
            <a:ext cx="2423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业务 SaaS（成分品牌）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2F2F2"/>
                </a:solidFill>
                <a:latin typeface="PingFang SC"/>
                <a:ea typeface="PingFang SC"/>
              </a:rPr>
              <a:t>嵌入工作流的智能引擎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2377440"/>
            <a:ext cx="2386584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2E8B57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Salesforce / Agentforce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2E8B57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ServiceNow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2E8B57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Intuit · Docusign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2E8B57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Notion · Canva · Asana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1481328"/>
            <a:ext cx="26974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7064" y="1481328"/>
            <a:ext cx="2697480" cy="7498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1572768"/>
            <a:ext cx="2423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编程赛道（最大收入源）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2F2F2"/>
                </a:solidFill>
                <a:latin typeface="PingFang SC"/>
                <a:ea typeface="PingFang SC"/>
              </a:rPr>
              <a:t>高 Token 消耗的杀手级场景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377440"/>
            <a:ext cx="2386584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D97757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GitHub Copilot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D97757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Cursor · Windsurf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D97757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Replit · Vercel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D97757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Claude Code（自营）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1481328"/>
            <a:ext cx="26974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9136" y="1481328"/>
            <a:ext cx="2697480" cy="749808"/>
          </a:xfrm>
          <a:prstGeom prst="rect">
            <a:avLst/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1572768"/>
            <a:ext cx="2423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横向 / 入口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2F2F2"/>
                </a:solidFill>
                <a:latin typeface="PingFang SC"/>
                <a:ea typeface="PingFang SC"/>
              </a:rPr>
              <a:t>面向终端的新交互入口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377440"/>
            <a:ext cx="2386584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7C5CBF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Microsoft Copilot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7C5CBF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Amazon（Alexa+）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7C5CBF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Zoom · Slack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7C5CBF"/>
                </a:solidFill>
                <a:latin typeface="PingFang SC"/>
                <a:ea typeface="PingFang SC"/>
              </a:rPr>
              <a:t>●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Perplexity 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26280"/>
            <a:ext cx="11183112" cy="141732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727448"/>
            <a:ext cx="25603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D97757"/>
                </a:solidFill>
                <a:latin typeface="PingFang SC"/>
                <a:ea typeface="PingFang SC"/>
              </a:rPr>
              <a:t>$9B+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DDDDDD"/>
                </a:solidFill>
                <a:latin typeface="PingFang SC"/>
                <a:ea typeface="PingFang SC"/>
              </a:rPr>
              <a:t>年化收入（2025 末），约 80% 来自 API / 企业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4727448"/>
            <a:ext cx="25603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D97757"/>
                </a:solidFill>
                <a:latin typeface="PingFang SC"/>
                <a:ea typeface="PingFang SC"/>
              </a:rPr>
              <a:t>18%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DDDDDD"/>
                </a:solidFill>
                <a:latin typeface="PingFang SC"/>
                <a:ea typeface="PingFang SC"/>
              </a:rPr>
              <a:t>Claude Code 在编程市场份额，9 个月增 6 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4727448"/>
            <a:ext cx="25603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D97757"/>
                </a:solidFill>
                <a:latin typeface="PingFang SC"/>
                <a:ea typeface="PingFang SC"/>
              </a:rPr>
              <a:t>12,600+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DDDDDD"/>
                </a:solidFill>
                <a:latin typeface="PingFang SC"/>
                <a:ea typeface="PingFang SC"/>
              </a:rPr>
              <a:t>经 Snowflake 一家即可触达的企业客户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4727448"/>
            <a:ext cx="25603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D97757"/>
                </a:solidFill>
                <a:latin typeface="PingFang SC"/>
                <a:ea typeface="PingFang SC"/>
              </a:rPr>
              <a:t>&gt;50%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DDDDDD"/>
                </a:solidFill>
                <a:latin typeface="PingFang SC"/>
                <a:ea typeface="PingFang SC"/>
              </a:rPr>
              <a:t>Claude Code 收入来自企业（Netflix/Spotify/KPMG…）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241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A1A1A"/>
                </a:solidFill>
                <a:latin typeface="PingFang SC"/>
                <a:ea typeface="PingFang SC"/>
              </a:rPr>
              <a:t>三种合作模式：嵌入 · 联合分发 · 标准共建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F5F5F"/>
                </a:solidFill>
                <a:latin typeface="PingFang SC"/>
                <a:ea typeface="PingFang SC"/>
              </a:rPr>
              <a:t>从「卖 Token」到「定标准」，合作层级越高，锁定越深、可替代性越低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97757"/>
                </a:solidFill>
                <a:latin typeface="PingFang SC"/>
                <a:ea typeface="PingFang SC"/>
              </a:rPr>
              <a:t>03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7780"/>
          </a:xfrm>
          <a:prstGeom prst="rect">
            <a:avLst/>
          </a:prstGeom>
          <a:solidFill>
            <a:srgbClr val="E3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363016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3630168" cy="8412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27632"/>
            <a:ext cx="3264408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模式一 · 成分品牌嵌入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2F2F2"/>
                </a:solidFill>
                <a:latin typeface="PingFang SC"/>
                <a:ea typeface="PingFang SC"/>
              </a:rPr>
              <a:t>Model-as-Ingredient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96312"/>
            <a:ext cx="3227832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PingFang SC"/>
                <a:ea typeface="PingFang SC"/>
              </a:rPr>
              <a:t>SaaS 把 Claude 作为底层智能封装进自有产品（Agentforce、Cortex），用户无感知。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749040"/>
            <a:ext cx="3227832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D97757"/>
                </a:solidFill>
                <a:latin typeface="PingFang SC"/>
                <a:ea typeface="PingFang SC"/>
              </a:rPr>
              <a:t>◆ </a:t>
            </a:r>
            <a:r>
              <a:rPr sz="1100" b="1">
                <a:solidFill>
                  <a:srgbClr val="1A1A1A"/>
                </a:solidFill>
                <a:latin typeface="PingFang SC"/>
                <a:ea typeface="PingFang SC"/>
              </a:rPr>
              <a:t>价值捕获：Token 消耗（用量计费）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D97757"/>
                </a:solidFill>
                <a:latin typeface="PingFang SC"/>
                <a:ea typeface="PingFang SC"/>
              </a:rPr>
              <a:t>▸ </a:t>
            </a:r>
            <a:r>
              <a:rPr sz="1050" b="0">
                <a:solidFill>
                  <a:srgbClr val="5F5F5F"/>
                </a:solidFill>
                <a:latin typeface="PingFang SC"/>
                <a:ea typeface="PingFang SC"/>
              </a:rPr>
              <a:t>代表：Salesforce · ServiceNow ·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08760"/>
            <a:ext cx="363016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3630168" cy="84124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627632"/>
            <a:ext cx="3264408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模式二 · 联合 GTM 分发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2F2F2"/>
                </a:solidFill>
                <a:latin typeface="PingFang SC"/>
                <a:ea typeface="PingFang SC"/>
              </a:rPr>
              <a:t>Co-Sell &amp;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496312"/>
            <a:ext cx="3227832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PingFang SC"/>
                <a:ea typeface="PingFang SC"/>
              </a:rPr>
              <a:t>与平台签多年期协议、设联合销售团队，借其存量客户与 Marketplace 放量。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3749040"/>
            <a:ext cx="3227832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285F4"/>
                </a:solidFill>
                <a:latin typeface="PingFang SC"/>
                <a:ea typeface="PingFang SC"/>
              </a:rPr>
              <a:t>◆ </a:t>
            </a:r>
            <a:r>
              <a:rPr sz="1100" b="1">
                <a:solidFill>
                  <a:srgbClr val="1A1A1A"/>
                </a:solidFill>
                <a:latin typeface="PingFang SC"/>
                <a:ea typeface="PingFang SC"/>
              </a:rPr>
              <a:t>价值捕获：承诺采购额 + 渠道放量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4285F4"/>
                </a:solidFill>
                <a:latin typeface="PingFang SC"/>
                <a:ea typeface="PingFang SC"/>
              </a:rPr>
              <a:t>▸ </a:t>
            </a:r>
            <a:r>
              <a:rPr sz="1050" b="0">
                <a:solidFill>
                  <a:srgbClr val="5F5F5F"/>
                </a:solidFill>
                <a:latin typeface="PingFang SC"/>
                <a:ea typeface="PingFang SC"/>
              </a:rPr>
              <a:t>代表：Snowflake $200M · Databricks 5 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508760"/>
            <a:ext cx="3630168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508760"/>
            <a:ext cx="3630168" cy="8412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627632"/>
            <a:ext cx="3264408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模式三 · 标准共建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2F2F2"/>
                </a:solidFill>
                <a:latin typeface="PingFang SC"/>
                <a:ea typeface="PingFang SC"/>
              </a:rPr>
              <a:t>MCP / Agentic Foundation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496312"/>
            <a:ext cx="3227832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PingFang SC"/>
                <a:ea typeface="PingFang SC"/>
              </a:rPr>
              <a:t>开源 MCP 定义模型↔工具连接标准，捐入 Linux 基金会，掌握生态话语权。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749040"/>
            <a:ext cx="3227832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8B57"/>
                </a:solidFill>
                <a:latin typeface="PingFang SC"/>
                <a:ea typeface="PingFang SC"/>
              </a:rPr>
              <a:t>◆ </a:t>
            </a:r>
            <a:r>
              <a:rPr sz="1100" b="1">
                <a:solidFill>
                  <a:srgbClr val="1A1A1A"/>
                </a:solidFill>
                <a:latin typeface="PingFang SC"/>
                <a:ea typeface="PingFang SC"/>
              </a:rPr>
              <a:t>价值捕获：标准主导权 + 默认入口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8B57"/>
                </a:solidFill>
                <a:latin typeface="PingFang SC"/>
                <a:ea typeface="PingFang SC"/>
              </a:rPr>
              <a:t>▸ </a:t>
            </a:r>
            <a:r>
              <a:rPr sz="1050" b="0">
                <a:solidFill>
                  <a:srgbClr val="5F5F5F"/>
                </a:solidFill>
                <a:latin typeface="PingFang SC"/>
                <a:ea typeface="PingFang SC"/>
              </a:rPr>
              <a:t>代表：MCP 10,000+ 服务器 · 全行业采纳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9204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B55A3D"/>
                </a:solidFill>
                <a:latin typeface="PingFang SC"/>
                <a:ea typeface="PingFang SC"/>
              </a:rPr>
              <a:t>锁定深度 / 不可替代性：  成分嵌入  ──▶  联合分发  ──▶  标准共建（最深）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440680"/>
            <a:ext cx="11183112" cy="868680"/>
          </a:xfrm>
          <a:prstGeom prst="rect">
            <a:avLst/>
          </a:prstGeom>
          <a:solidFill>
            <a:srgbClr val="EFE7DE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559552"/>
            <a:ext cx="107899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97757"/>
                </a:solidFill>
                <a:latin typeface="PingFang SC"/>
                <a:ea typeface="PingFang SC"/>
              </a:rPr>
              <a:t>打法本质：</a:t>
            </a:r>
            <a:r>
              <a:rPr sz="1250" b="0">
                <a:solidFill>
                  <a:srgbClr val="1A1A1A"/>
                </a:solidFill>
                <a:latin typeface="PingFang SC"/>
                <a:ea typeface="PingFang SC"/>
              </a:rPr>
              <a:t>用「免费/开源的连接层」换「广泛分发」，再用「按量计费的智能层」捕获价值 —— 把自己做成 AI 应用生态绕不开的「水电煤」。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241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A1A1A"/>
                </a:solidFill>
                <a:latin typeface="PingFang SC"/>
                <a:ea typeface="PingFang SC"/>
              </a:rPr>
              <a:t>标杆案例：数据平台 × 编程赛道的双轮放量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F5F5F"/>
                </a:solidFill>
                <a:latin typeface="PingFang SC"/>
                <a:ea typeface="PingFang SC"/>
              </a:rPr>
              <a:t>数据平台带来「治理数据上的企业 Agent」，编程赛道带来「最高 Token 消耗」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97757"/>
                </a:solidFill>
                <a:latin typeface="PingFang SC"/>
                <a:ea typeface="PingFang SC"/>
              </a:rPr>
              <a:t>04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7780"/>
          </a:xfrm>
          <a:prstGeom prst="rect">
            <a:avLst/>
          </a:prstGeom>
          <a:solidFill>
            <a:srgbClr val="E3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36301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3630168" cy="914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09344"/>
            <a:ext cx="3264408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Snowflake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2F2F2"/>
                </a:solidFill>
                <a:latin typeface="PingFang SC"/>
                <a:ea typeface="PingFang SC"/>
              </a:rPr>
              <a:t>$200M · 多年期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560320"/>
            <a:ext cx="3227832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4285F4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触达 12,600+ 全球企业客户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4285F4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Claude 驱动 Cortex Code / Snowflake Intelligence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4285F4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联合 GTM：面向大型企业部署 AI Agent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4285F4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上架 Claude Marketplace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81328"/>
            <a:ext cx="36301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81328"/>
            <a:ext cx="3630168" cy="9144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609344"/>
            <a:ext cx="3264408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Databricks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2F2F2"/>
                </a:solidFill>
                <a:latin typeface="PingFang SC"/>
                <a:ea typeface="PingFang SC"/>
              </a:rPr>
              <a:t>5 年期战略合作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560320"/>
            <a:ext cx="3227832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2E8B57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Claude 直接进入 Data Intelligence 平台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2E8B57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经 Unity AI Gateway 治理与调用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2E8B57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在「治理数据」上构建领域专用 Agent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2E8B57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获评 2026 ISV AI 转型年度伙伴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481328"/>
            <a:ext cx="36301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81328"/>
            <a:ext cx="3630168" cy="914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609344"/>
            <a:ext cx="3264408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编程赛道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2F2F2"/>
                </a:solidFill>
                <a:latin typeface="PingFang SC"/>
                <a:ea typeface="PingFang SC"/>
              </a:rPr>
              <a:t>最大收入引擎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60320"/>
            <a:ext cx="3227832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D97757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Copilot / Cursor / Windsurf 全部接入 Claude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D97757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份额：3% (25.04) → 18% (26.01)，9 月 6×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D97757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单家企业级客户日均百万次 → 七位数年消耗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D97757"/>
                </a:solidFill>
                <a:latin typeface="PingFang SC"/>
                <a:ea typeface="PingFang SC"/>
              </a:rPr>
              <a:t>▪ </a:t>
            </a:r>
            <a:r>
              <a:rPr sz="1150" b="0">
                <a:solidFill>
                  <a:srgbClr val="1A1A1A"/>
                </a:solidFill>
                <a:latin typeface="PingFang SC"/>
                <a:ea typeface="PingFang SC"/>
              </a:rPr>
              <a:t>Claude Code 自营：&gt;50% 收入来自企业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74920"/>
            <a:ext cx="11183112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97757"/>
                </a:solidFill>
                <a:latin typeface="PingFang SC"/>
                <a:ea typeface="PingFang SC"/>
              </a:rPr>
              <a:t>共性逻辑：</a:t>
            </a:r>
            <a:r>
              <a:rPr sz="1200" b="0">
                <a:solidFill>
                  <a:srgbClr val="1A1A1A"/>
                </a:solidFill>
                <a:latin typeface="PingFang SC"/>
                <a:ea typeface="PingFang SC"/>
              </a:rPr>
              <a:t>Anthropic 不直接卖给终端企业，而是「嫁接」到已握有数据与客户的平台上 —— 平台负责合规、数据与渠道，Claude 负责智能，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A1A1A"/>
                </a:solidFill>
                <a:latin typeface="PingFang SC"/>
                <a:ea typeface="PingFang SC"/>
              </a:rPr>
              <a:t>            按 Token 用量分成。编程之所以成为收入引擎，正因其「长上下文 + 高输出 + 高频重复」，是天然的算力消耗黑洞。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241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A1A1A"/>
                </a:solidFill>
                <a:latin typeface="PingFang SC"/>
                <a:ea typeface="PingFang SC"/>
              </a:rPr>
              <a:t>MCP：把「连接标准」做成生态护城河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F5F5F"/>
                </a:solidFill>
                <a:latin typeface="PingFang SC"/>
                <a:ea typeface="PingFang SC"/>
              </a:rPr>
              <a:t>Model Context Protocol —— AI 时代的「USB-C」，用开源换主导权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97757"/>
                </a:solidFill>
                <a:latin typeface="PingFang SC"/>
                <a:ea typeface="PingFang SC"/>
              </a:rPr>
              <a:t>05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7780"/>
          </a:xfrm>
          <a:prstGeom prst="rect">
            <a:avLst/>
          </a:prstGeom>
          <a:solidFill>
            <a:srgbClr val="E3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D97757"/>
                </a:solidFill>
                <a:latin typeface="PingFang SC"/>
                <a:ea typeface="PingFang SC"/>
              </a:rPr>
              <a:t>演进路径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146304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74519"/>
            <a:ext cx="4663440" cy="7132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D97757"/>
                </a:solidFill>
                <a:latin typeface="PingFang SC"/>
                <a:ea typeface="PingFang SC"/>
              </a:rPr>
              <a:t>2024.11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   Anthropic 开源发布 MCP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79191"/>
            <a:ext cx="146304" cy="65836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679191"/>
            <a:ext cx="4663440" cy="7132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4285F4"/>
                </a:solidFill>
                <a:latin typeface="PingFang SC"/>
                <a:ea typeface="PingFang SC"/>
              </a:rPr>
              <a:t>2025.03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   OpenAI 官方采纳（含 ChatGPT）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83863"/>
            <a:ext cx="146304" cy="65836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483863"/>
            <a:ext cx="4663440" cy="7132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2E8B57"/>
                </a:solidFill>
                <a:latin typeface="PingFang SC"/>
                <a:ea typeface="PingFang SC"/>
              </a:rPr>
              <a:t>2025.04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   Google DeepMind 宣布 Gemini 支持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88535"/>
            <a:ext cx="146304" cy="658368"/>
          </a:xfrm>
          <a:prstGeom prst="rect">
            <a:avLst/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288535"/>
            <a:ext cx="4663440" cy="7132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7C5CBF"/>
                </a:solidFill>
                <a:latin typeface="PingFang SC"/>
                <a:ea typeface="PingFang SC"/>
              </a:rPr>
              <a:t>2025.12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   捐入 Linux 基金会 Agentic AI Foundation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F5F5F"/>
                </a:solidFill>
                <a:latin typeface="PingFang SC"/>
                <a:ea typeface="PingFang SC"/>
              </a:rPr>
              <a:t>（联合 Block、OpenAI 共建）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093207"/>
            <a:ext cx="146304" cy="658368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5093207"/>
            <a:ext cx="4663440" cy="7132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C8962E"/>
                </a:solidFill>
                <a:latin typeface="PingFang SC"/>
                <a:ea typeface="PingFang SC"/>
              </a:rPr>
              <a:t>2026.03</a:t>
            </a:r>
            <a:r>
              <a:rPr sz="1150" b="1">
                <a:solidFill>
                  <a:srgbClr val="1A1A1A"/>
                </a:solidFill>
                <a:latin typeface="PingFang SC"/>
                <a:ea typeface="PingFang SC"/>
              </a:rPr>
              <a:t>   全主流厂商接入，成事实标准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417320"/>
            <a:ext cx="5760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E8B57"/>
                </a:solidFill>
                <a:latin typeface="PingFang SC"/>
                <a:ea typeface="PingFang SC"/>
              </a:rPr>
              <a:t>采纳规模（2026 Q1）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2880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938528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2E8B57"/>
                </a:solidFill>
                <a:latin typeface="PingFang SC"/>
                <a:ea typeface="PingFang SC"/>
              </a:rPr>
              <a:t>10,000+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F5F5F"/>
                </a:solidFill>
                <a:latin typeface="PingFang SC"/>
                <a:ea typeface="PingFang SC"/>
              </a:rPr>
              <a:t>活跃公共 MCP 服务器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91271" y="182880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1938528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2E8B57"/>
                </a:solidFill>
                <a:latin typeface="PingFang SC"/>
                <a:ea typeface="PingFang SC"/>
              </a:rPr>
              <a:t>97M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F5F5F"/>
                </a:solidFill>
                <a:latin typeface="PingFang SC"/>
                <a:ea typeface="PingFang SC"/>
              </a:rPr>
              <a:t>Python/TS SDK 月下载量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38942" y="182880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38942" y="1938528"/>
            <a:ext cx="1828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2E8B57"/>
                </a:solidFill>
                <a:latin typeface="PingFang SC"/>
                <a:ea typeface="PingFang SC"/>
              </a:rPr>
              <a:t>41%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F5F5F"/>
                </a:solidFill>
                <a:latin typeface="PingFang SC"/>
                <a:ea typeface="PingFang SC"/>
              </a:rPr>
              <a:t>软件组织已投入生产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154680"/>
            <a:ext cx="5760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D97757"/>
                </a:solidFill>
                <a:latin typeface="PingFang SC"/>
                <a:ea typeface="PingFang SC"/>
              </a:rPr>
              <a:t>为何「送出去」反而是赢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611880"/>
            <a:ext cx="5760720" cy="749808"/>
          </a:xfrm>
          <a:prstGeom prst="rect">
            <a:avLst/>
          </a:prstGeom>
          <a:solidFill>
            <a:srgbClr val="EFE7DE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08192" y="3685032"/>
            <a:ext cx="5486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B55A3D"/>
                </a:solidFill>
                <a:latin typeface="PingFang SC"/>
                <a:ea typeface="PingFang SC"/>
              </a:rPr>
              <a:t>定标准者得生态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A1A1A"/>
                </a:solidFill>
                <a:latin typeface="PingFang SC"/>
                <a:ea typeface="PingFang SC"/>
              </a:rPr>
              <a:t>连接协议一旦通用，Claude 是协议的「原生公民」，调度与体验最优。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453128"/>
            <a:ext cx="5760720" cy="749808"/>
          </a:xfrm>
          <a:prstGeom prst="rect">
            <a:avLst/>
          </a:prstGeom>
          <a:solidFill>
            <a:srgbClr val="EFE7DE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8192" y="4526280"/>
            <a:ext cx="5486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B55A3D"/>
                </a:solidFill>
                <a:latin typeface="PingFang SC"/>
                <a:ea typeface="PingFang SC"/>
              </a:rPr>
              <a:t>捐给基金会＝去厂商化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A1A1A"/>
                </a:solidFill>
                <a:latin typeface="PingFang SC"/>
                <a:ea typeface="PingFang SC"/>
              </a:rPr>
              <a:t>消除「被单一公司绑架」顾虑，加速对手与中立方共同采纳。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5294376"/>
            <a:ext cx="5760720" cy="749808"/>
          </a:xfrm>
          <a:prstGeom prst="rect">
            <a:avLst/>
          </a:prstGeom>
          <a:solidFill>
            <a:srgbClr val="EFE7DE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08192" y="5367528"/>
            <a:ext cx="5486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B55A3D"/>
                </a:solidFill>
                <a:latin typeface="PingFang SC"/>
                <a:ea typeface="PingFang SC"/>
              </a:rPr>
              <a:t>做大蛋糕再分蛋糕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A1A1A"/>
                </a:solidFill>
                <a:latin typeface="PingFang SC"/>
                <a:ea typeface="PingFang SC"/>
              </a:rPr>
              <a:t>MCP 让接入 SaaS/工具的成本趋零，Agent 用例爆发 → Token 消耗整体放大。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241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A1A1A"/>
                </a:solidFill>
                <a:latin typeface="PingFang SC"/>
                <a:ea typeface="PingFang SC"/>
              </a:rPr>
              <a:t>竞合悖论：既是 SaaS 的供应商，也是颠覆者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F5F5F"/>
                </a:solidFill>
                <a:latin typeface="PingFang SC"/>
                <a:ea typeface="PingFang SC"/>
              </a:rPr>
              <a:t>Anthropic 一边给 SaaS 供货，一边沿应用层向上攀升 —— 倒金字塔顶端的 100× 价值同样诱人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97757"/>
                </a:solidFill>
                <a:latin typeface="PingFang SC"/>
                <a:ea typeface="PingFang SC"/>
              </a:rPr>
              <a:t>06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7780"/>
          </a:xfrm>
          <a:prstGeom prst="rect">
            <a:avLst/>
          </a:prstGeom>
          <a:solidFill>
            <a:srgbClr val="E3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55321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5532120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554480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作为「合作者」—— 成分品牌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40280"/>
            <a:ext cx="502920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E8B57"/>
                </a:solidFill>
                <a:latin typeface="PingFang SC"/>
                <a:ea typeface="PingFang SC"/>
              </a:rPr>
              <a:t>✓ </a:t>
            </a:r>
            <a:r>
              <a:rPr sz="1200" b="0">
                <a:solidFill>
                  <a:srgbClr val="1A1A1A"/>
                </a:solidFill>
                <a:latin typeface="PingFang SC"/>
                <a:ea typeface="PingFang SC"/>
              </a:rPr>
              <a:t>嵌入 Salesforce/ServiceNow/Snowflake 等核心系统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E8B57"/>
                </a:solidFill>
                <a:latin typeface="PingFang SC"/>
                <a:ea typeface="PingFang SC"/>
              </a:rPr>
              <a:t>✓ </a:t>
            </a:r>
            <a:r>
              <a:rPr sz="1200" b="0">
                <a:solidFill>
                  <a:srgbClr val="1A1A1A"/>
                </a:solidFill>
                <a:latin typeface="PingFang SC"/>
                <a:ea typeface="PingFang SC"/>
              </a:rPr>
              <a:t>MCP 成为 Agent 时代的「思考引擎层」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E8B57"/>
                </a:solidFill>
                <a:latin typeface="PingFang SC"/>
                <a:ea typeface="PingFang SC"/>
              </a:rPr>
              <a:t>✓ </a:t>
            </a:r>
            <a:r>
              <a:rPr sz="1200" b="0">
                <a:solidFill>
                  <a:srgbClr val="1A1A1A"/>
                </a:solidFill>
                <a:latin typeface="PingFang SC"/>
                <a:ea typeface="PingFang SC"/>
              </a:rPr>
              <a:t>增强而非取代记录系统（System of Record）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E8B57"/>
                </a:solidFill>
                <a:latin typeface="PingFang SC"/>
                <a:ea typeface="PingFang SC"/>
              </a:rPr>
              <a:t>✓ </a:t>
            </a:r>
            <a:r>
              <a:rPr sz="1200" b="0">
                <a:solidFill>
                  <a:srgbClr val="1A1A1A"/>
                </a:solidFill>
                <a:latin typeface="PingFang SC"/>
                <a:ea typeface="PingFang SC"/>
              </a:rPr>
              <a:t>让 SaaS 产品体验更好、留存更高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3912" y="1481328"/>
            <a:ext cx="55321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5532120" cy="566928"/>
          </a:xfrm>
          <a:prstGeom prst="rect">
            <a:avLst/>
          </a:prstGeom>
          <a:solidFill>
            <a:srgbClr val="B55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54480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作为「颠覆者」—— 向上攀升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240280"/>
            <a:ext cx="502920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B55A3D"/>
                </a:solidFill>
                <a:latin typeface="PingFang SC"/>
                <a:ea typeface="PingFang SC"/>
              </a:rPr>
              <a:t>⚡ </a:t>
            </a:r>
            <a:r>
              <a:rPr sz="1200" b="0">
                <a:solidFill>
                  <a:srgbClr val="1A1A1A"/>
                </a:solidFill>
                <a:latin typeface="PingFang SC"/>
                <a:ea typeface="PingFang SC"/>
              </a:rPr>
              <a:t>Claude Cowork 等让用户绕过 SaaS 自有界面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B55A3D"/>
                </a:solidFill>
                <a:latin typeface="PingFang SC"/>
                <a:ea typeface="PingFang SC"/>
              </a:rPr>
              <a:t>⚡ </a:t>
            </a:r>
            <a:r>
              <a:rPr sz="1200" b="0">
                <a:solidFill>
                  <a:srgbClr val="1A1A1A"/>
                </a:solidFill>
                <a:latin typeface="PingFang SC"/>
                <a:ea typeface="PingFang SC"/>
              </a:rPr>
              <a:t>按结果计费 → 侵蚀 SaaS「按席位」订阅模式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B55A3D"/>
                </a:solidFill>
                <a:latin typeface="PingFang SC"/>
                <a:ea typeface="PingFang SC"/>
              </a:rPr>
              <a:t>⚡ </a:t>
            </a:r>
            <a:r>
              <a:rPr sz="1200" b="0">
                <a:solidFill>
                  <a:srgbClr val="1A1A1A"/>
                </a:solidFill>
                <a:latin typeface="PingFang SC"/>
                <a:ea typeface="PingFang SC"/>
              </a:rPr>
              <a:t>法务/HR/财务垂直插件，直接做工作流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B55A3D"/>
                </a:solidFill>
                <a:latin typeface="PingFang SC"/>
                <a:ea typeface="PingFang SC"/>
              </a:rPr>
              <a:t>⚡ </a:t>
            </a:r>
            <a:r>
              <a:rPr sz="1200" b="0">
                <a:solidFill>
                  <a:srgbClr val="1A1A1A"/>
                </a:solidFill>
                <a:latin typeface="PingFang SC"/>
                <a:ea typeface="PingFang SC"/>
              </a:rPr>
              <a:t>Claude Code 自营，与编程类 SaaS 正面竞争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00600"/>
            <a:ext cx="11183112" cy="123444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56048"/>
            <a:ext cx="1069848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97757"/>
                </a:solidFill>
                <a:latin typeface="PingFang SC"/>
                <a:ea typeface="PingFang SC"/>
              </a:rPr>
              <a:t>生态位判断：</a:t>
            </a:r>
            <a:r>
              <a:rPr sz="1250" b="0">
                <a:solidFill>
                  <a:srgbClr val="FFFFFF"/>
                </a:solidFill>
                <a:latin typeface="PingFang SC"/>
                <a:ea typeface="PingFang SC"/>
              </a:rPr>
              <a:t>Anthropic 正从「模型供应商」演化为「平台」。对 SaaS 厂商而言 —— 拥有专有数据、深度工作流与合规壁垒者，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PingFang SC"/>
                <a:ea typeface="PingFang SC"/>
              </a:rPr>
              <a:t>            被「赋能」（更强）；仅靠通用 AI 包装的薄应用，则可能被「商品化」（被取代）。这正是合作中必须看清的边界。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2412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A1A1A"/>
                </a:solidFill>
                <a:latin typeface="PingFang SC"/>
                <a:ea typeface="PingFang SC"/>
              </a:rPr>
              <a:t>核心方法论：模型厂商「向上要价值」的四步法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F5F5F"/>
                </a:solidFill>
                <a:latin typeface="PingFang SC"/>
                <a:ea typeface="PingFang SC"/>
              </a:rPr>
              <a:t>对行业智能化项目的启示 —— 价值不在模型本身，而在模型被嵌入业务的深度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8229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97757"/>
                </a:solidFill>
                <a:latin typeface="PingFang SC"/>
                <a:ea typeface="PingFang SC"/>
              </a:rPr>
              <a:t>07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3112" cy="17780"/>
          </a:xfrm>
          <a:prstGeom prst="rect">
            <a:avLst/>
          </a:prstGeom>
          <a:solidFill>
            <a:srgbClr val="E3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2697480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19456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566928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23317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成分化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898648"/>
            <a:ext cx="231343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PingFang SC"/>
                <a:ea typeface="PingFang SC"/>
              </a:rPr>
              <a:t>不直接卖模型，而是嵌入 SaaS 成为「智能成分」，用按量计费搭上应用层 100× 的价值车。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1481328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481328"/>
            <a:ext cx="2697480" cy="5669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47872" y="2194560"/>
            <a:ext cx="566928" cy="566928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212848"/>
            <a:ext cx="566928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1554480"/>
            <a:ext cx="23317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借船分发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898648"/>
            <a:ext cx="231343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PingFang SC"/>
                <a:ea typeface="PingFang SC"/>
              </a:rPr>
              <a:t>嫁接握有数据与客户的平台（数据平台 / 行业 SaaS），让对方负责合规与渠道，自己专注智能。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481328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1481328"/>
            <a:ext cx="2697480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9944" y="2194560"/>
            <a:ext cx="566928" cy="5669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2212848"/>
            <a:ext cx="566928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1554480"/>
            <a:ext cx="23317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立标准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898648"/>
            <a:ext cx="231343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PingFang SC"/>
                <a:ea typeface="PingFang SC"/>
              </a:rPr>
              <a:t>开源 + 捐入中立基金会，把连接协议（MCP）做成事实标准，以「去厂商化」换生态主导权。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89136" y="1481328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89136" y="1481328"/>
            <a:ext cx="2697480" cy="566928"/>
          </a:xfrm>
          <a:prstGeom prst="rect">
            <a:avLst/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72016" y="2194560"/>
            <a:ext cx="566928" cy="566928"/>
          </a:xfrm>
          <a:prstGeom prst="ellipse">
            <a:avLst/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2016" y="2212848"/>
            <a:ext cx="566928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1554480"/>
            <a:ext cx="23317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选点上攀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898648"/>
            <a:ext cx="231343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PingFang SC"/>
                <a:ea typeface="PingFang SC"/>
              </a:rPr>
              <a:t>在 Token 消耗最高、价值最厚的场景（编程、Agent）选择性下场自营，捕获应用层利润。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114800"/>
            <a:ext cx="11183112" cy="1828800"/>
          </a:xfrm>
          <a:prstGeom prst="rect">
            <a:avLst/>
          </a:prstGeom>
          <a:solidFill>
            <a:srgbClr val="EFE7DE"/>
          </a:solidFill>
          <a:ln w="12700">
            <a:solidFill>
              <a:srgbClr val="E3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114800"/>
            <a:ext cx="128016" cy="18288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25196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B55A3D"/>
                </a:solidFill>
                <a:latin typeface="PingFang SC"/>
                <a:ea typeface="PingFang SC"/>
              </a:rPr>
              <a:t>对行业智能化项目的三点启示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800600"/>
            <a:ext cx="35204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97757"/>
                </a:solidFill>
                <a:latin typeface="PingFang SC"/>
                <a:ea typeface="PingFang SC"/>
              </a:rPr>
              <a:t>● </a:t>
            </a:r>
            <a:r>
              <a:rPr sz="1250" b="1">
                <a:solidFill>
                  <a:srgbClr val="1A1A1A"/>
                </a:solidFill>
                <a:latin typeface="PingFang SC"/>
                <a:ea typeface="PingFang SC"/>
              </a:rPr>
              <a:t>价值在「最后一公里」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模型只是中间品；行业智能化的超额价值，来自把模型封装成可交付的业务结果。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800600"/>
            <a:ext cx="35204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97757"/>
                </a:solidFill>
                <a:latin typeface="PingFang SC"/>
                <a:ea typeface="PingFang SC"/>
              </a:rPr>
              <a:t>● </a:t>
            </a:r>
            <a:r>
              <a:rPr sz="1250" b="1">
                <a:solidFill>
                  <a:srgbClr val="1A1A1A"/>
                </a:solidFill>
                <a:latin typeface="PingFang SC"/>
                <a:ea typeface="PingFang SC"/>
              </a:rPr>
              <a:t>生态优先于单点产品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成功项目不是「做一个 App」，而是嵌入既有数据/客户/合规体系，借生态放量。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4800600"/>
            <a:ext cx="35204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97757"/>
                </a:solidFill>
                <a:latin typeface="PingFang SC"/>
                <a:ea typeface="PingFang SC"/>
              </a:rPr>
              <a:t>● </a:t>
            </a:r>
            <a:r>
              <a:rPr sz="1250" b="1">
                <a:solidFill>
                  <a:srgbClr val="1A1A1A"/>
                </a:solidFill>
                <a:latin typeface="PingFang SC"/>
                <a:ea typeface="PingFang SC"/>
              </a:rPr>
              <a:t>标准与数据是护城河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F5F5F"/>
                </a:solidFill>
                <a:latin typeface="PingFang SC"/>
                <a:ea typeface="PingFang SC"/>
              </a:rPr>
              <a:t>谁掌握连接标准（如 MCP）与专有行业数据，谁就在倒金字塔顶端不被商品化。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5F5F"/>
                </a:solidFill>
                <a:latin typeface="PingFang SC"/>
                <a:ea typeface="PingFang SC"/>
              </a:rPr>
              <a:t>资料来源：Anthropic / Snowflake / Databricks 官方公告，Constellation Research，Sacra，Wikipedia(MCP)，行业报道（2024.11–2026.03）；部分为估算口径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