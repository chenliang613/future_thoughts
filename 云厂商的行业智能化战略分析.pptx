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2" r:id="rId23"/>
    <p:sldId id="271" r:id="rId22"/>
    <p:sldId id="270" r:id="rId21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4754880"/>
            <a:ext cx="3502152" cy="2103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274320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云厂商行业智能化战略分析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0E0EF"/>
                </a:solidFill>
                <a:latin typeface="Microsoft YaHei"/>
              </a:rPr>
              <a:t>AWS · 微软Azure · 谷歌云 · 阿里云  To B AI 战略深度解析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8229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3E2"/>
                </a:solidFill>
                <a:latin typeface="Microsoft YaHei"/>
              </a:rPr>
              <a:t>2026年4月  |  行业智能化产业发展研究项目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72000"/>
            <a:ext cx="192024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Microsoft YaHei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572000"/>
            <a:ext cx="192024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Microsoft YaHei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572000"/>
            <a:ext cx="192024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Microsoft YaHei"/>
              </a:rPr>
              <a:t>Google 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4572000"/>
            <a:ext cx="192024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Microsoft YaHei"/>
              </a:rPr>
              <a:t>阿里云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全球AI云市场格局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33856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Microsoft YaHei"/>
              </a:rPr>
              <a:t>2025年Q4全球云基础设施季度规模990亿美元，同比+25%；GenAI专项云增速140~180%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743200" cy="4389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74320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  <a:latin typeface="Microsoft YaHei"/>
              </a:rPr>
              <a:t>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市场份额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29~30%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Q4 2025季度收入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166"/>
                </a:solidFill>
                <a:latin typeface="Microsoft YaHei"/>
              </a:rPr>
              <a:t>356亿美元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2DCA3"/>
                </a:solidFill>
                <a:latin typeface="Microsoft YaHei"/>
              </a:rPr>
              <a:t>YoY增速：+24%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2026年资本支出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0E0EF"/>
                </a:solidFill>
                <a:latin typeface="Microsoft YaHei"/>
              </a:rPr>
              <a:t>2000亿美元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417320"/>
            <a:ext cx="2743200" cy="4389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417320"/>
            <a:ext cx="2743200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Microsoft YaHei"/>
              </a:rPr>
              <a:t>Azure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市场份额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Q4 2025季度收入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108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166"/>
                </a:solidFill>
                <a:latin typeface="Microsoft YaHei"/>
              </a:rPr>
              <a:t>~280亿美元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2DCA3"/>
                </a:solidFill>
                <a:latin typeface="Microsoft YaHei"/>
              </a:rPr>
              <a:t>YoY增速：+39%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069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2026年资本支出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0E0EF"/>
                </a:solidFill>
                <a:latin typeface="Microsoft YaHei"/>
              </a:rPr>
              <a:t>1500亿美元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417320"/>
            <a:ext cx="2743200" cy="4389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417320"/>
            <a:ext cx="2743200" cy="1097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A853"/>
                </a:solidFill>
                <a:latin typeface="Microsoft YaHei"/>
              </a:rPr>
              <a:t>Google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市场份额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13%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Q4 2025季度收入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108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166"/>
                </a:solidFill>
                <a:latin typeface="Microsoft YaHei"/>
              </a:rPr>
              <a:t>177亿美元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2DCA3"/>
                </a:solidFill>
                <a:latin typeface="Microsoft YaHei"/>
              </a:rPr>
              <a:t>YoY增速：+48%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069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2026年资本支出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0E0EF"/>
                </a:solidFill>
                <a:latin typeface="Microsoft YaHei"/>
              </a:rPr>
              <a:t>1850亿美元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1417320"/>
            <a:ext cx="2743200" cy="43891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81160" y="1417320"/>
            <a:ext cx="2743200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600"/>
                </a:solidFill>
                <a:latin typeface="Microsoft YaHei"/>
              </a:rPr>
              <a:t>阿里云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市场份额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中国#1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Q4 2025季度收入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108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166"/>
                </a:solidFill>
                <a:latin typeface="Microsoft YaHei"/>
              </a:rPr>
              <a:t>398亿元人民币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2DCA3"/>
                </a:solidFill>
                <a:latin typeface="Microsoft YaHei"/>
              </a:rPr>
              <a:t>YoY增速：+34%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069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D3E2"/>
                </a:solidFill>
                <a:latin typeface="Microsoft YaHei"/>
              </a:rPr>
              <a:t>2026年资本支出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0E0EF"/>
                </a:solidFill>
                <a:latin typeface="Microsoft YaHei"/>
              </a:rPr>
              <a:t>3800亿元(3年)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989320"/>
            <a:ext cx="11247120" cy="7132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035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166"/>
                </a:solidFill>
                <a:latin typeface="Microsoft YaHei"/>
              </a:rPr>
              <a:t>🔑  关键洞察：四大厂商2026年合计AI相关资本支出超6000亿元；AWS规模最大、Azure增速赶超、Google Cloud盈利拐点已过、阿里云中国本土主导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四大厂商战略定位总览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16459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9235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868680"/>
            <a:ext cx="2468880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57984" y="9235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868680"/>
            <a:ext cx="246888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9235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Azure（微软）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868680"/>
            <a:ext cx="2468880" cy="5943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95744" y="9235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Google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868680"/>
            <a:ext cx="2468880" cy="5943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64624" y="9235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阿里云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90472"/>
            <a:ext cx="164592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15453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  <a:latin typeface="Microsoft YaHei"/>
              </a:rPr>
              <a:t>核心定位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1490472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1545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最广泛安全的企业AI基础设施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490472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1545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Agentic Enterprise全生态AI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490472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1545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Total Stack AI全栈整合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490472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64624" y="1545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超级AI云·全栈AI服务商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112264"/>
            <a:ext cx="164592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167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  <a:latin typeface="Microsoft YaHei"/>
              </a:rPr>
              <a:t>最强护城河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112264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57984" y="21671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客户规模+自研芯片+生态广度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112264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21671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M365生态+OpenAI独占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112264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5744" y="21671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TPU+多模态+DeepMind研究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112264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64624" y="21671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中国本土+开源生态+全栈自研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2734056"/>
            <a:ext cx="164592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" y="2788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  <a:latin typeface="Microsoft YaHei"/>
              </a:rPr>
              <a:t>自研芯片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734056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57984" y="2788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Trainium3/Inferentia2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734056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6864" y="2788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Azure定制加速器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2734056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744" y="2788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Ironwood TPU（第七代）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2734056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4624" y="2788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平头哥+昇腾AI芯片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355848"/>
            <a:ext cx="164592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" y="341071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  <a:latin typeface="Microsoft YaHei"/>
              </a:rPr>
              <a:t>旗舰模型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3355848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57984" y="34107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Amazon Nova系列+Bedrock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3355848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26864" y="34107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GPT-4o+Claude+自研MAI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3355848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95744" y="34107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Gemini 2.5/3 Pro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3355848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64624" y="34107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Qwen3.5/3.6（开源+闭源）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3977640"/>
            <a:ext cx="164592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403250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  <a:latin typeface="Microsoft YaHei"/>
              </a:rPr>
              <a:t>Agent平台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3977640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57984" y="403250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Bedrock AgentCore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3977640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26864" y="403250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Copilot Studio+Agent 365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80" y="3977640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95744" y="403250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Vertex AI ADK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09760" y="3977640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64624" y="403250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百炼+ModelStudio-ADK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599432"/>
            <a:ext cx="164592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6344" y="465429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  <a:latin typeface="Microsoft YaHei"/>
              </a:rPr>
              <a:t>行业重点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4599432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57984" y="46542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金融·制造·医疗·政府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4599432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26864" y="46542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医疗·金融·零售·政府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40880" y="4599432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95744" y="46542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零售·医疗·制造·金融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09760" y="4599432"/>
            <a:ext cx="2468880" cy="5943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64624" y="46542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政务·金融·制造·电信·医疗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5221224"/>
            <a:ext cx="164592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6344" y="52760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  <a:latin typeface="Microsoft YaHei"/>
              </a:rPr>
              <a:t>差异化优势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5221224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57984" y="52760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多模型市场·最开放生态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5221224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26864" y="52760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Work IQ企业语义上下文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040880" y="5221224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95744" y="52760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原生多模态·全媒体生成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09760" y="5221224"/>
            <a:ext cx="2468880" cy="5943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64624" y="52760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价格战+开源生态飞轮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900"/>
                </a:solidFill>
                <a:latin typeface="Microsoft YaHei"/>
              </a:rPr>
              <a:t>AWS  战略定位与产品矩阵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Microsoft YaHei"/>
              </a:rPr>
              <a:t>「为所有规模企业提供生产级AI基础设施」——全球最广泛、最安全的企业AI云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338560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Microsoft YaHei"/>
              </a:rPr>
              <a:t>🔧 基础设施层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Trainium3（3nm, 2.52 PetaFLOPS FP8）· Inferentia2推理芯片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AI Factories：企业/政府专属本地AI基础设施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Project Rainier：近50万 Trainium2芯片训练集群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自研芯片年化收入 200亿美元+，三位数增长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🧠 模型层 · Amazon Bedrock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托管近100个第三方模型（Claude/Llama/Mistral/GPT/Qwen等）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自研 Amazon Nova 2 系列：Lite·Sonic·Omni·多模态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5643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企业客户 10万家+；年化收入数十亿美元，季度环比+60%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Nova Forge：企业自定义模型训练服务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78224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DCA3"/>
                </a:solidFill>
                <a:latin typeface="Microsoft YaHei"/>
              </a:rPr>
              <a:t>💼 应用层 · Amazon 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Amazon Q Business：$20/用户/月；内部节省45万+小时/年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268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Amazon Q Developer：代码助手；已迁移数万生产应用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0118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Bedrock AgentCore：Policy Controls · Memory · Evaluations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7550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▸  兼容 OpenAI API：企业零改造成本迁移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1188720"/>
            <a:ext cx="4846320" cy="24231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2344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Microsoft YaHei"/>
              </a:rPr>
              <a:t>📊  关键财务数据（Q4 2025）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627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季度收入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627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Microsoft YaHei"/>
              </a:rPr>
              <a:t>356亿美元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1627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+24% YoY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103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订单积压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Microsoft YaHei"/>
              </a:rPr>
              <a:t>2440亿美元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+40% YoY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2026年Capex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Microsoft YaHei"/>
              </a:rPr>
              <a:t>2000亿美元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全球最大单笔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0540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芯片年化收入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0540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  <a:latin typeface="Microsoft YaHei"/>
              </a:rPr>
              <a:t>200亿美元+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3054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三位数增长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3794760"/>
            <a:ext cx="4846320" cy="283464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38404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Microsoft YaHei"/>
              </a:rPr>
              <a:t>🚀  2025-2026 重大战略动作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2025.10  Project Rainier激活，近50万Trainium2芯片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2025.12  re:Invent发布Nova 2系列+AgentCore+Trainium3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20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2026.01  与Infosys合作加速制造/电信/金融行业落地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5577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2026.03  AgentCore Policy Controls正式GA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6035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2026计划  算力到2027年底再翻倍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9900"/>
                </a:solidFill>
                <a:latin typeface="Microsoft YaHei"/>
              </a:rPr>
              <a:t>AWS  行业智能化重点布局与标杆案例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78892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900"/>
                </a:solidFill>
                <a:latin typeface="Microsoft YaHei"/>
              </a:rPr>
              <a:t>🏦 金融服务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Itaú Unibanco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7000万客户主机迁移AWS，99.99%可用性，延迟&lt;100ms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Visa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Tier-0欺诈检测，实时评分延迟&lt;250ms，可用性99.99%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Fidelity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Text-to-SQL，93-95%准确率，28秒响应，非技术人员可用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LSEG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每日2740亿条市场更新，75PB历史数据迁移，成本降低5倍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914400"/>
            <a:ext cx="278892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Microsoft YaHei"/>
              </a:rPr>
              <a:t>🏭 汽车·制造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re:Invent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专设汽车制造主题专场，质量检测+供应链+预测性维护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行业覆盖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头部制造企业合作率超70%，AI Factory本地化部署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质量检测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视觉AI+Bedrock多模态，缺陷识别准确率提升40%+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供应链优化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Amazon Q Business整合ERP数据，库存预测精度提升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914400"/>
            <a:ext cx="2788920" cy="109728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DCA3"/>
                </a:solidFill>
                <a:latin typeface="Microsoft YaHei"/>
              </a:rPr>
              <a:t>🏥 医疗健康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HIPAA合规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AWS Healthcare AI满足医疗数据合规架构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临床文档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自动化生成SOAP记录，医生文书时间减少60%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908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影像分析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Amazon Rekognition医学影像，辅助诊断准确率对标专家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药物研发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Amazon SageMaker加速分子模拟，周期缩短30%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914400"/>
            <a:ext cx="278892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166"/>
                </a:solidFill>
                <a:latin typeface="Microsoft YaHei"/>
              </a:rPr>
              <a:t>🏛️ 政府·主权AI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516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AI Factories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政府专属本地AI基础设施，满足数据主权法规要求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4516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FedRAMP认证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美国联邦政府采购首选，安全合规体系最完整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4516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GovCloud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4516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美国、欧洲、澳大利亚政府专属云区域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4516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60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主权部署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516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企业自有数据中心部署AWS算力+Trainium，不出境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6327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icrosoft YaHei"/>
              </a:rPr>
              <a:t>AWS竞争核心：10万家+企业基础、最开放的多模型生态、自研芯片降低30-50%成本、AI Factory满足全球数据主权要求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8D4"/>
                </a:solidFill>
                <a:latin typeface="Microsoft YaHei"/>
              </a:rPr>
              <a:t>微软 Azure  战略定位与产品矩阵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Microsoft YaHei"/>
              </a:rPr>
              <a:t>「Agentic Enterprise」——从Copilot时代迈入AI Agent生产环境部署时代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33856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Microsoft YaHei"/>
              </a:rPr>
              <a:t>🔧 基础设施层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Azure AI基础设施：NVIDIA GPU集群 + Azure定制AI加速器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Azure Arc：统一管理本地/多云/边缘，混合云企业首选方案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Q2 FY2026 Capex：375亿美元/季（年化1500亿美元）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9152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774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icrosoft YaHei"/>
              </a:rPr>
              <a:t>🧠 模型层 · Microsoft Foundry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同时托管 OpenAI GPT-4o + Anthropic Claude + Meta Llama（全球唯一）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自研 MAI 模型（2026年4月首发）：MAI-Transcribe-1 · Voice-1 · Image-2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OpenAI独家合作：前沿模型API直至AGI实现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478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DCA3"/>
                </a:solidFill>
                <a:latin typeface="Microsoft YaHei"/>
              </a:rPr>
              <a:t>💼 应用层 · Microsoft 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0390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M365 Copilot MAU超1亿；企业付费席位1500万（$30/用户/月）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7822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Copilot Studio：低代码Agent构建，Fortune 500中80%+已使用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Dragon Copilot（医疗）：季度记录1300万+医患互动，同比增长7倍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268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Work IQ / Fabric IQ / Foundry IQ：解决企业AI上下文问题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74336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99262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078FF"/>
                </a:solidFill>
                <a:latin typeface="Microsoft YaHei"/>
              </a:rPr>
              <a:t>🤖 Agent基础设施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4865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Foundry Agent Service：长期记忆Memory · A2A协议 · MCP支持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2297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Agent 365（Ignite 2025）：下一代AI原生软件体系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9729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一次开发，全组织Agent共享工具和上下文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1188720"/>
            <a:ext cx="4846320" cy="26517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12344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Microsoft YaHei"/>
              </a:rPr>
              <a:t>📊  关键财务数据（Q2 FY2026）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627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Azure收入增速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+39% YoY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1627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13季度最快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057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AI贡献增长点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057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13~16 ppt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持续提升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487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AI年化收入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487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130亿美元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487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目标250亿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9169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Copilot MAU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29169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1亿用户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商业+消费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346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付费企业席位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1500万席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346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$30/用户/月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4005072"/>
            <a:ext cx="4846320" cy="262432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4050791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  <a:latin typeface="Microsoft YaHei"/>
              </a:rPr>
              <a:t>🚀  2025-2026 重大战略动作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4348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2025.11 Ignite：Foundry更名+Agent 365+Claude上线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486460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2025.11 成立MAI Superintelligence团队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5294375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2026.01 Copilot企业付费席位达1500万，MAU破亿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7241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2026.04 发布首批MAI自研模型（Transcribe/Voice/Image）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615391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持续推进：Agentic AI从实验→生产环境大规模落地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8D4"/>
                </a:solidFill>
                <a:latin typeface="Microsoft YaHei"/>
              </a:rPr>
              <a:t>Azure  行业智能化重点布局与标杆案例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788920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8D4"/>
                </a:solidFill>
                <a:latin typeface="Microsoft YaHei"/>
              </a:rPr>
              <a:t>🏥 医疗健康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Mercy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Dragon Copilot节省超10万小时临床文书时间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Highmark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AI助手Sidekick提示从100万→600万/年，AI价值2790万美元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行业覆盖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全球6000+医院使用Azure Health，Dragon Copilot7倍增长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临床决策支持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Azure OpenAI+医疗知识图谱，诊断辅助准确率提升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914400"/>
            <a:ext cx="278892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Microsoft YaHei"/>
              </a:rPr>
              <a:t>🏦 金融服务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Bradesco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83%数字服务解决率，技术成本降低30%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BNY Mellon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超100个数字员工/Agent，覆盖多类金融任务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Investec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Copilot for Sales，银行家每年节省200小时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监管合规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Azure Purview+AI满足金融合规审查自动化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914400"/>
            <a:ext cx="2788920" cy="109728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DCA3"/>
                </a:solidFill>
                <a:latin typeface="Microsoft YaHei"/>
              </a:rPr>
              <a:t>🛍️ 零售·消费品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雅诗兰黛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ConsumerIQ Agent分析趋势文档，输出策略建议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Fortune 500零售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80%+已用Copilot Studio构建Agent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908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供应链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Azure Supply Chain Platform+AI预测，库存准确率+35%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个性化推荐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M365 Copilot分析消费者数据，营销ROI提升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914400"/>
            <a:ext cx="2788920" cy="10972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078FF"/>
                </a:solidFill>
                <a:latin typeface="Microsoft YaHei"/>
              </a:rPr>
              <a:t>🏛️ 政府·企业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516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政府采购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FedRAMP High认证；Azure Government专属区域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4516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Azure Arc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混合云统一管理，企业本地+多云+边缘一体管控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4516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安全合规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4516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Zero Trust架构，最完整政府合规认证体系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4516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60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全行业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516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Fortune 500中85%+使用Azure，切换成本极高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6327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icrosoft YaHei"/>
              </a:rPr>
              <a:t>Azure核心护城河：M365企业生态+Work IQ上下文独占优势+双模型战略（OpenAI+MAI），切换成本极高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A853"/>
                </a:solidFill>
                <a:latin typeface="Microsoft YaHei"/>
              </a:rPr>
              <a:t>谷歌云  战略定位与产品矩阵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Microsoft YaHei"/>
              </a:rPr>
              <a:t>「Total Stack AI」——自研TPU+Gemini多模态+Vertex AI企业平台，垂直整合全栈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338560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Microsoft YaHei"/>
              </a:rPr>
              <a:t>🔧 基础设施层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Ironwood TPU第七代（2026年GA）：前代5倍算力，6倍HBM，能效领先竞品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TPU v4：比本地集群省电3倍，碳排放低20%——10年自研积累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支持NVIDIA GB200 NVL72机架级系统，Vertex AI A4X VM域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2026年资本支出1750~1850亿美元，较2025年近翻倍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icrosoft YaHei"/>
              </a:rPr>
              <a:t>🧠 模型层 · Gemini全家族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Gemini 2.5 Pro：Cloud Next 2025发布，Vertex AI公开预览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Gemini 3 Pro：据报道Elo 1501，LMArena排行榜顶部（2026年3月）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5643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原生多模态：文本/图像/视频/音频/3D地理数据同步原生处理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生成式媒体：Lyria音乐+Imagen图像+VideoFX+SynthID全覆盖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78224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0965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DCA3"/>
                </a:solidFill>
                <a:latin typeface="Microsoft YaHei"/>
              </a:rPr>
              <a:t>💼 应用层 · Vertex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Vertex AI Agent Builder：ADK（开源）+ MCP支持，企业多智能体开发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268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BigQuery AI：BI与AI融合，SQL→对话式分析最短路径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0118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Gemini Enterprise for Customer Experience（2026年1月NRF发布）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7550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Gemini for Google Workspace：深度集成Docs/Gmail/Meet/Sheets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1188720"/>
            <a:ext cx="4846320" cy="27432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2344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Microsoft YaHei"/>
              </a:rPr>
              <a:t>📊  关键财务数据（2025全年）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627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全年收入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710亿美元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1627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+48% YoY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084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运营利润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084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53亿美元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+154% YoY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云积压订单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542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1550亿美元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+82% YoY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9992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10亿+大单数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9992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创历史新高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999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超23+24全年和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AI产品收入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456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+200%+ YoY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3456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生成式AI专项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4114800"/>
            <a:ext cx="4846320" cy="251460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41605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Microsoft YaHei"/>
              </a:rPr>
              <a:t>🚀  2025-2026 重大战略动作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55371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2025.04 Cloud Next：Ironwood TPU+Gemini 2.5+ADK发布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983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2025.10 Gemini Enterprise企业工作场所AI正式发布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132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2025.11 慕尼黑主权云Hub（全球首个）成立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8430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2026.01 NRF：零售AI+Kroger/Lowe's/Woolworths宣布采用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62727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2026.03 Ironwood TPU正式GA；Gemini 3 Pro登顶Elo榜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4A853"/>
                </a:solidFill>
                <a:latin typeface="Microsoft YaHei"/>
              </a:rPr>
              <a:t>谷歌云  行业智能化重点布局与标杆案例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788920" cy="1097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A853"/>
                </a:solidFill>
                <a:latin typeface="Microsoft YaHei"/>
              </a:rPr>
              <a:t>🛍️ 零售·消费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Kroger·Lowe's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Gemini Enterprise CE，智能导购+库存优化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Woolworths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客户服务AI Agent，服务响应提速80%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Cyber Week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AI Agent影响20%订单，贡献670亿美元销售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零售增速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部署AI Agent零售商，销售增速领先竞争者32%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914400"/>
            <a:ext cx="278892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Microsoft YaHei"/>
              </a:rPr>
              <a:t>🏥 医疗健康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Highmark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AI助手Sidekick，年提示100万→600万，价值2790万美元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CitiusTech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Vertex AI搜索连接患者与专科医生，工作流自动化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Fitterfly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Gemini Flash使膳食记录时间减少80%，90%支持自动化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HIMSS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专题发布医疗Gemini方案，覆盖诊断+文档+患者管理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914400"/>
            <a:ext cx="2788920" cy="109728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DCA3"/>
                </a:solidFill>
                <a:latin typeface="Microsoft YaHei"/>
              </a:rPr>
              <a:t>🏭 制造·工业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HCLTech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Vertex AI+制造数据引擎，质检AI Agent规模部署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工业视觉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Gemini多模态+Manufacturing Data Engine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908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预测维护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BigQuery ML+设备传感器，故障预测准确率+45%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供应链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Vertex AI Agent自动化采购决策与库存调度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914400"/>
            <a:ext cx="278892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166"/>
                </a:solidFill>
                <a:latin typeface="Microsoft YaHei"/>
              </a:rPr>
              <a:t>🏦 金融·主权AI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516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Macquarie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Gemini Enterprise，投研分析效率提升3倍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4516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Klarna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Gemini驱动金融助手，支持2700万活跃用户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4516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欺诈检测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4516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AI用例中占比43%，实时评分毫秒级响应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4516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60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慕尼黑主权Hub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516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满足欧洲数据主权要求，政府+监管行业优先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6327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icrosoft YaHei"/>
              </a:rPr>
              <a:t>Google Cloud核心护城河：10年TPU积累+Gemini原生多模态+DeepMind研究引擎+BigQuery数据AI融合，全媒体生成唯一覆盖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  <a:latin typeface="Microsoft YaHei"/>
              </a:rPr>
              <a:t>阿里云  战略定位与产品矩阵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Microsoft YaHei"/>
              </a:rPr>
              <a:t>「超级AI云」——从云计算厂商升级为全栈AI服务商；未来5年云+AI年收入突破1000亿美元（A计划）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338560" cy="27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Microsoft YaHei"/>
              </a:rPr>
              <a:t>🔧 基础设施层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飞天云操作系统：超级AI云底层技术架构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平头哥+昇腾：自研AI芯片，摆脱GPU依赖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3年3800亿元投入：超过过去10年基础设施投入总和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中国AI IaaS市场第一，超过第2+第3名之和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Microsoft YaHei"/>
              </a:rPr>
              <a:t>🧠 模型层 · 通义千问 Qwen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Qwen3.5（397B MoE，201语言）+Qwen3.6-Plus（编程领先）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Qwen3-Max：闭源旗舰，性能据称超越GPT-5、Claude Opus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5643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全球开源300+模型，下载量6亿次，衍生模型17万+（全球第一）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小模型系列：0.8B/2B/4B/9B，适配手机/IoT/边缘计算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78224"/>
            <a:ext cx="6217920" cy="29260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0965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DCA3"/>
                </a:solidFill>
                <a:latin typeface="Microsoft YaHei"/>
              </a:rPr>
              <a:t>💼 应用层 · 百炼平台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百炼（Model Studio）：AI+Agent开发一站式平台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268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日均调用量过去1年增长15倍；超20万开发者构建80万+Agent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0118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ModelStudio-ADK：全新Agent开发框架，支持自主决策/多轮反思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7550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▸  MaaS（模型即服务）：从「卖服务器」转型「卖Token」商业模式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1188720"/>
            <a:ext cx="4846320" cy="27889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2344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Microsoft YaHei"/>
              </a:rPr>
              <a:t>📊  关键财务数据（FY2026 Q2）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627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季度云收入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398亿元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1627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+34% YoY创新高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084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AI收入连续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084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10季三位数增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连续增长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中国AI云份额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542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35.8%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超2~4名总和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9992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3年基建投入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9992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3800亿元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999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超去10年总和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A计划目标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456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Microsoft YaHei"/>
              </a:rPr>
              <a:t>1000亿美元/年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3456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DCA3"/>
                </a:solidFill>
                <a:latin typeface="Microsoft YaHei"/>
              </a:rPr>
              <a:t>未来5年云+AI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4160520"/>
            <a:ext cx="4846320" cy="246888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42062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Microsoft YaHei"/>
              </a:rPr>
              <a:t>🚀  2025-2026 重大战略动作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55371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2025.09 云栖：全栈AI战略+ASI三阶段路线图发布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983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2026.02 Qwen3.5开源旗舰发布，马斯克赞小模型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132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2026.03 「A计划」：5年云+AI年收破1000亿美元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8430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2026.04 Qwen3.6-Plus发布，编程能力全面跃升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62727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  2026.04 全球扩建：巴西/法国/荷兰新节点上线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6600"/>
                </a:solidFill>
                <a:latin typeface="Microsoft YaHei"/>
              </a:rPr>
              <a:t>阿里云  行业智能化重点布局与标杆案例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788920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600"/>
                </a:solidFill>
                <a:latin typeface="Microsoft YaHei"/>
              </a:rPr>
              <a:t>🏛️ 政务·公共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省级政务云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合作率超60%，承接多省智能化项目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政务大模型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通义政务版，合规私有化部署，数据不出政务网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智慧城市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城市大脑+AI赋能交通/应急/环保管理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数字基础设施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飞天云+通义联合为政府算力中枢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914400"/>
            <a:ext cx="278892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Microsoft YaHei"/>
              </a:rPr>
              <a:t>🏦 金融服务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招商银行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智能投研+智能客服+全行知识库多场景规模部署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众安保险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通义千问系列升级多个保险核心场景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市场份额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中国金融大模型市场第一（中新社2025年2月）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金融风控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实时交易欺诈检测，毫秒级响应，准确率99.2%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914400"/>
            <a:ext cx="2788920" cy="109728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DCA3"/>
                </a:solidFill>
                <a:latin typeface="Microsoft YaHei"/>
              </a:rPr>
              <a:t>🏭 制造·汽车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宝马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战略合作协议，AI赋能产品设计和生产运营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头部制造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合作率超80%，质检/排程/缺陷识别规模落地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908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AI质检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视觉大模型，缺陷识别准确率提升至99.5%+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预测性维护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设备故障预测，非计划停机减少65%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914400"/>
            <a:ext cx="27889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914400"/>
            <a:ext cx="278892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10515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166"/>
                </a:solidFill>
                <a:latin typeface="Microsoft YaHei"/>
              </a:rPr>
              <a:t>📡 电信·医疗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5168" y="150876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15270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中国联通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178308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战略合作，AI+云大单，网络智能化联合创新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45168" y="251460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2532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中国移动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278892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通义+飞天赋能网络运维自动化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45168" y="352044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3538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医疗AI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45168" y="379476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AI加速药物研发，辅助诊断精确度提升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45168" y="4526280"/>
            <a:ext cx="2569464" cy="25603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600" y="4544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普惠医疗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5168" y="480060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AI辅助诊断缓解医疗资源不均，赋能基层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6327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icrosoft YaHei"/>
              </a:rPr>
              <a:t>阿里云核心护城河：中国本土最强AI云+开源生态飞轮（17万+衍生模型）+极致价格竞争力+全栈自研联合创新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竞争格局与行业选择建议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5760720" cy="53035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🏆  竞争格局：四大厂商差异化定位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Microsoft YaHei"/>
              </a:rPr>
              <a:t>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  <a:latin typeface="Microsoft YaHei"/>
              </a:rPr>
              <a:t>规模 No.1 · 生态最广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371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最强：企业客户基础（10万家）
最弱：to C用户心智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73152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957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Microsoft YaHei"/>
              </a:rPr>
              <a:t>Azure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  <a:latin typeface="Microsoft YaHei"/>
              </a:rPr>
              <a:t>增速最快 · 生态最深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9572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最强：企业软件生态飞轮
最弱：模型自研能力（依赖OpenAI）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9856"/>
            <a:ext cx="73152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41985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Microsoft YaHei"/>
              </a:rPr>
              <a:t>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39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  <a:latin typeface="Microsoft YaHei"/>
              </a:rPr>
              <a:t>技术最强 · 盈利拐点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419856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最强：模型研究+TPU技术
最弱：企业客户信任度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43984"/>
            <a:ext cx="73152" cy="8229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4398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Microsoft YaHei"/>
              </a:rPr>
              <a:t>阿里云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764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  <a:latin typeface="Microsoft YaHei"/>
              </a:rPr>
              <a:t>中国第一 · 开源生态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4443984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最强：中国本土市场+开源社区
最弱：全球品牌认知和合规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896112"/>
            <a:ext cx="5349240" cy="530352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914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📋  行业智能化云厂商选择建议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353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金融服务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1389888"/>
            <a:ext cx="822960" cy="21945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1353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合规体系+Bedrock多模型生态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医疗健康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911095"/>
            <a:ext cx="822960" cy="21945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189280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Azure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Dragon Copilot+M365深度集成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395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零售·消费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2432304"/>
            <a:ext cx="822960" cy="21945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24140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395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Gemini多模态+BigQuery数据融合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9169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政务·主权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2953512"/>
            <a:ext cx="822960" cy="21945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29352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9169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AI Factory本地部署+FedRAMP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438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制造·汽车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3474720"/>
            <a:ext cx="822960" cy="21945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3456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阿里云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43814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宝马等战略合作+本土生态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959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中国市场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3995928"/>
            <a:ext cx="822960" cy="21945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3977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阿里云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3959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政务率60%+金融率80%+数据合规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开发者生态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9560" y="4517136"/>
            <a:ext cx="822960" cy="21945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9560" y="44988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4480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Vertex AI ADK+开源Gemma模型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001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混合云企业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5038344"/>
            <a:ext cx="822960" cy="21945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09560" y="50200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Azure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5001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Azure Arc统一本地+多云管控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291072"/>
            <a:ext cx="11247120" cy="4114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icrosoft YaHei"/>
              </a:rPr>
              <a:t>关键趋势：AWS聚焦广度、Azure聚焦深度、Google聚焦技术、阿里聚焦本土——四者将在Agent AI时代展开新一轮格局重构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Agent AI 时代：新格局与战略机遇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749039" cy="41148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Microsoft YaHei"/>
              </a:rPr>
              <a:t>📈 资本投入加速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四厂商2026年合计Capex超7000亿元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GenAI专项云增速140~180%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每个厂商都将AI列为第一战略优先级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算力军备竞赛向「算法+数据」转移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914400"/>
            <a:ext cx="3749039" cy="41148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914400"/>
            <a:ext cx="3749039" cy="91440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DCA3"/>
                </a:solidFill>
                <a:latin typeface="Microsoft YaHei"/>
              </a:rPr>
              <a:t>🤖 Agent成为新战场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AWS AgentCore → 企业级Agent基础设施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Azure Agent 365 → AI原生企业软件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Google ADK → 开源Agent开发生态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阿里 ModelStudio-ADK → 中国Agent平台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914400"/>
            <a:ext cx="3749039" cy="41148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914400"/>
            <a:ext cx="3749039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Microsoft YaHei"/>
              </a:rPr>
              <a:t>🌐 主权AI成刚需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欧盟、中国、印度均要求数据本地化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AWS AI Factory、Azure Arc、GCP主权Hub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阿里云政务专区率先落地合规要求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3E2"/>
                </a:solidFill>
                <a:latin typeface="Microsoft YaHei"/>
              </a:rPr>
              <a:t>• 数据主权将成企业选云核心决策因素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1247120" cy="150876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💡  行业智能化优先机遇：云厂商聚焦的高价值场景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577840"/>
            <a:ext cx="178308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5778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金融风控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824728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3E2"/>
                </a:solidFill>
                <a:latin typeface="Microsoft YaHei"/>
              </a:rPr>
              <a:t>欺诈检测·信贷审核·合规自动化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50591" y="5577840"/>
            <a:ext cx="1783080" cy="228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1" y="55778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医疗健康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0591" y="5824728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3E2"/>
                </a:solidFill>
                <a:latin typeface="Microsoft YaHei"/>
              </a:rPr>
              <a:t>临床文档·辅助诊断·药物研发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06824" y="5577840"/>
            <a:ext cx="1783080" cy="228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55778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零售运营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6824" y="5824728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3E2"/>
                </a:solidFill>
                <a:latin typeface="Microsoft YaHei"/>
              </a:rPr>
              <a:t>个性化推荐·库存优化·客服Agent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5577840"/>
            <a:ext cx="1783080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55778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制造质检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5824728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3E2"/>
                </a:solidFill>
                <a:latin typeface="Microsoft YaHei"/>
              </a:rPr>
              <a:t>视觉AI·预测维护·供应链优化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9288" y="5577840"/>
            <a:ext cx="1783080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9288" y="55778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政务服务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5824728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3E2"/>
                </a:solidFill>
                <a:latin typeface="Microsoft YaHei"/>
              </a:rPr>
              <a:t>智能审批·知识库·数字员工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19" y="5577840"/>
            <a:ext cx="178308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19" y="55778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代码开发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5824728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3E2"/>
                </a:solidFill>
                <a:latin typeface="Microsoft YaHei"/>
              </a:rPr>
              <a:t>AI编程助手·自动测试·文档生成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总结与战略建议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1133856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  <a:latin typeface="Microsoft YaHei"/>
              </a:rPr>
              <a:t>■  四大核心洞察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669280" cy="1353312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411480" cy="13533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算力军备赛向「算法+数据」转移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四厂商合计Capex超7000亿元，但真正的壁垒正从芯片转向企业私有数据+垂直行业模型+Agent工作流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5669280" cy="1353312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411480" cy="1353312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Agent AI 是2026年最大战略机遇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8288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Gartner预测2026年底40%企业应用集成Agent（当前&lt;5%），AWS/Azure/GCP/阿里云均已押注Agent平台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669280" cy="1353312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411480" cy="135331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厂商选择取决于场景而非品牌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金融/主权→AWS，企业协作→Azure，数据AI→GCP，中国本土→阿里云；无单一最优解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88920"/>
            <a:ext cx="5669280" cy="1353312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788920"/>
            <a:ext cx="411480" cy="1353312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880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「倒金字塔」产业结构正在形成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2918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云厂商加速向行业应用层延伸，硬件→模型→行业应用的价值分配比正在重塑，行业应用层空间最大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07408"/>
            <a:ext cx="11247120" cy="1810512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53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🎯  对行业智能化项目的战略建议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8280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① 场景优先  选择云厂商前，先定义AI使用场景——企业协作选Azure、数据分析选GCP、规模混合选AWS、中国市场选阿里云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1572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② 数据飞轮  无论选哪家云，构建企业私有知识库和数据管道是AI落地成功的最关键基础设施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8640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③ Agent优先  优先布局Agent平台和工作流自动化——这是2026年ROI最高的AI投入方向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8155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D3E2"/>
                </a:solidFill>
                <a:latin typeface="Microsoft YaHei"/>
              </a:rPr>
              <a:t>④ 主权合规  提前规划数据本地化和AI内容合规方案，中国+欧盟监管要求将持续收紧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行业智能化产业发展研究项目  |  2026年4月  |  数据来源：各厂商财报、Synergy Research Group、Gartner等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云厂商 × 模型厂商：投资与绑定关系全景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Microsoft YaHei"/>
              </a:rPr>
              <a:t>从「投资换独占」到「多对多网状格局」——2023-2026年合作模式深度演变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338560" cy="27432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669280" cy="26974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66928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Microsoft YaHei"/>
              </a:rPr>
              <a:t>AWS  ←→  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98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785C"/>
                </a:solidFill>
                <a:latin typeface="Microsoft YaHei"/>
              </a:rPr>
              <a:t>「首要合作伙伴」但非独家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投资金额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916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~$80亿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Amazon持少数股权；Anthropic估值$3,800亿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939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Project Rainier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093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$110亿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939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近50万Trainium2芯片专用训练集群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963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芯片协同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4963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Trainium3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496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Anthropic参与协同设计芯片架构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986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Bedrock托管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898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10万+企业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898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年化收入数十亿美元，季度环比+60%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009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Anthropic收入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300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$300亿ARR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3009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2026年4月年化收入，全球增长最快AI公司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143000"/>
            <a:ext cx="5669280" cy="269748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143000"/>
            <a:ext cx="566928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D4"/>
                </a:solidFill>
                <a:latin typeface="Microsoft YaHei"/>
              </a:rPr>
              <a:t>Azure  ←→  OpenAI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298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A37F"/>
                </a:solidFill>
                <a:latin typeface="Microsoft YaHei"/>
              </a:rPr>
              <a:t>从独占走向开放合作竞争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6916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累计投资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1691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~$130亿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691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Microsoft持股约26.79%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0939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独占现状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093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API独占Azure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0939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自有产品已可多云部署（2025年重组）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4963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利润分成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4963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$8.66亿/3Q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4963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2025年前三季度OpenAI向MS支付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8986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自研MAI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8986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2026年4月发布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8986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MAI-Transcribe/Voice/Image首批自研模型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3009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AD3E2"/>
                </a:solidFill>
                <a:latin typeface="Microsoft YaHei"/>
              </a:rPr>
              <a:t>OpenAI年化收入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3009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$240亿ARR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3009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2026年4月，月收$20亿但仍预计亏损$140亿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005072"/>
            <a:ext cx="5669280" cy="262432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005072"/>
            <a:ext cx="5669280" cy="9144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1330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785C"/>
                </a:solidFill>
                <a:latin typeface="Microsoft YaHei"/>
              </a:rPr>
              <a:t>Anthropic 多云战略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4160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  <a:latin typeface="Microsoft YaHei"/>
              </a:rPr>
              <a:t>唯一在三大云平台都可用的前沿模型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73152" cy="4389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4572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Microsoft YaHei"/>
              </a:rPr>
              <a:t>AWS Bedrock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45720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首要合作伙伴；Trainium芯片协同；$80亿投资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120640"/>
            <a:ext cx="73152" cy="43891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Microsoft YaHei"/>
              </a:rPr>
              <a:t>Google Vertex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5120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数百亿美元云协议；最多100万颗TPU；1GW+算力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69280"/>
            <a:ext cx="73152" cy="4389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5669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Microsoft YaHei"/>
              </a:rPr>
              <a:t>Azure Foundry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56692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MS投资$50亿+NVIDIA投资$100亿；$300亿算力承诺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005072"/>
            <a:ext cx="5669280" cy="262432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005072"/>
            <a:ext cx="5669280" cy="914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1330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A37F"/>
                </a:solidFill>
                <a:latin typeface="Microsoft YaHei"/>
              </a:rPr>
              <a:t>OpenAI 万亿基建承诺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  <a:latin typeface="Microsoft YaHei"/>
              </a:rPr>
              <a:t>合计超 $1.09万亿基础设施协议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572000"/>
            <a:ext cx="73152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0" y="4572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Microsoft YaHei"/>
              </a:rPr>
              <a:t>Azure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4572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$2,500亿 长期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45720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API产品独占 + 主基础设施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074920"/>
            <a:ext cx="73152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0" y="50749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00"/>
                </a:solidFill>
                <a:latin typeface="Microsoft YaHei"/>
              </a:rPr>
              <a:t>Oracle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$3,000亿 5年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50749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Stargate项目，4.5GW数据中心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5577840"/>
            <a:ext cx="73152" cy="3840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0" y="55778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Microsoft YaHei"/>
              </a:rPr>
              <a:t>AWS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0" y="5577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$380亿+$1,000亿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55778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Frontier平台独家第三方分发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6080760"/>
            <a:ext cx="73152" cy="38404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0" y="6080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078FF"/>
                </a:solidFill>
                <a:latin typeface="Microsoft YaHei"/>
              </a:rPr>
              <a:t>CoreWeave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6080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icrosoft YaHei"/>
              </a:rPr>
              <a:t>未披露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9760" y="60807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3E2"/>
                </a:solidFill>
                <a:latin typeface="Microsoft YaHei"/>
              </a:rPr>
              <a:t>补充算力供应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720840"/>
            <a:ext cx="11521440" cy="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四大商业合作模式深度对比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1338560" cy="27432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788920" cy="53492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27889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Microsoft YaHei"/>
              </a:rPr>
              <a:t>模式一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投资+深度绑定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2402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代表：AWS↔Anthropic、Microsoft↔OpenAI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58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特征：数十亿美元股权投资+算力绑定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2549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优势：获得前沿模型首发权和深度集成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924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风险：模型厂商多云化稀释独占价值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593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投资规模：AWS $80亿 / MS $130亿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趋势：从独占走向「首选合作伙伴」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822960"/>
            <a:ext cx="2788920" cy="53492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822960"/>
            <a:ext cx="2788920" cy="91440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960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2DCA3"/>
                </a:solidFill>
                <a:latin typeface="Microsoft YaHei"/>
              </a:rPr>
              <a:t>模式二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20700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多模型平台（模型超市）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554480"/>
            <a:ext cx="2240280" cy="18288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1691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代表：Bedrock / Foundry / Vertex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258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特征：一个平台托管多家模型供客户选择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82549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优势：降低客户锁定，增加平台粘性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3924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核心竞争：工具链·安全性·合规·集成度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593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模型数量：Bedrock~100/Vertex 200+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26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趋势：成为所有云厂商的标准策略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822960"/>
            <a:ext cx="2788920" cy="53492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822960"/>
            <a:ext cx="278892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960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D166"/>
                </a:solidFill>
                <a:latin typeface="Microsoft YaHei"/>
              </a:rPr>
              <a:t>模式三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20700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全栈自研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1554480"/>
            <a:ext cx="2240280" cy="182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691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代表：Google（TPU+Gemini+Cloud）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258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特征：芯片→模型→平台→应用全自研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82549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优势：不受制于外部供应商，成本可控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3924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劣势：生态相对封闭，投入门槛极高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9593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差异化：三大云中唯一前沿模型自研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26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趋势：MS(MAI)/AWS(Nova)也开始自研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822960"/>
            <a:ext cx="2788920" cy="53492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822960"/>
            <a:ext cx="278892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960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8C00"/>
                </a:solidFill>
                <a:latin typeface="Microsoft YaHei"/>
              </a:rPr>
              <a:t>模式四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120700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开源+云平台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1554480"/>
            <a:ext cx="224028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1691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代表：阿里Qwen / Meta Llama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258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特征：模型免费开源，云平台算力收费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82549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优势：快速建立开发者生态，压低行业成本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3924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定价优势：Qwen API仅为Gemini Pro的1/18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9593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生态规模：20万+衍生模型，10亿+下载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5262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AD3E2"/>
                </a:solidFill>
                <a:latin typeface="Microsoft YaHei"/>
              </a:rPr>
              <a:t>  趋势：持续挤压闭源模型定价空间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263640"/>
            <a:ext cx="11338560" cy="47548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291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Microsoft YaHei"/>
              </a:rPr>
              <a:t>格局演变：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629107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Microsoft YaHei"/>
              </a:rPr>
              <a:t>2023-24「投资换独占」 →  2025「松动与多元化」 →  2026「多对多网状格局 + 算力承诺成为新型合作货币」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合作格局演变对企业AI战略的影响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1338560" cy="27432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749039" cy="21945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384048" cy="2194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32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独占时代终结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9844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模型厂商多云化不可逆——Anthropic在三大云可用，OpenAI签约$1.09万亿多云协议。
企业不再因模型绑定而锁定单一云平台。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822960"/>
            <a:ext cx="3749039" cy="21945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822960"/>
            <a:ext cx="384048" cy="2194560"/>
          </a:xfrm>
          <a:prstGeom prst="rect">
            <a:avLst/>
          </a:prstGeom>
          <a:solidFill>
            <a:srgbClr val="52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932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平台能力 &gt; 模型独占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29844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竞争重心从「谁独占最强模型」转向「谁的平台工具链、安全性、合规性、
集成度更好」。模型可替换，平台粘性才是壁垒。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822960"/>
            <a:ext cx="3749039" cy="21945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822960"/>
            <a:ext cx="384048" cy="21945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932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自研芯片+自研模型=最强筹码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29844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Google全栈自研不受制于人；MS发布MAI降低OpenAI依赖；AWS Trainium+Nova
双管齐下。自研能力直接影响谈判地位和利润率。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46120"/>
            <a:ext cx="3749039" cy="21945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384048" cy="21945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55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开源模型重塑定价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2160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阿里Qwen API价格仅为闭源竞品的1/18；Meta Llama完全免费。
开源持续压缩闭源模型溢价空间，企业应同时评估开源替代方案。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246120"/>
            <a:ext cx="3749039" cy="219456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246120"/>
            <a:ext cx="384048" cy="219456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02336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355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算力承诺成新型货币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721608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传统「投资换股权」被「算力采购承诺」替代：Anthropic向Azure承诺$300亿，
OpenAI向多方承诺$1万亿+。长期承诺=确定性收入=谈判筹码。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11338560" cy="1115568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6235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Microsoft YaHei"/>
              </a:rPr>
              <a:t>📋  对企业AI选型的战略建议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① 多模型策略  不绑定单一模型厂商——Claude、GPT、Gemini、Qwen各有所长，按场景选择最优模型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21792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② 平台优先    选择云平台看工具链+合规+集成，而非看托管了哪个模型——模型可切换，平台迁移成本高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③ 评估开源    每个闭源场景都应同时评估开源替代（Qwen/Llama），成本可能低一个数量级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729983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AD3E2"/>
                </a:solidFill>
                <a:latin typeface="Microsoft YaHei"/>
              </a:rPr>
              <a:t>④ 关注算力经济学  云厂商自研芯片（Trainium/TPU）正在改变AI推理成本结构，选型时纳入长期成本模型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