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896112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PingFang SC"/>
                <a:ea typeface="PingFang SC"/>
              </a:rPr>
              <a:t>微软 AI 治理分析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5F5F"/>
                </a:solidFill>
                <a:latin typeface="PingFang SC"/>
                <a:ea typeface="PingFang SC"/>
              </a:rPr>
              <a:t>“合规即竞争力” —— 以欧盟 AI 法案对齐与版权赔付承诺，构建云上 AI 信任壁垒</a:t>
            </a:r>
          </a:p>
        </p:txBody>
      </p:sp>
      <p:sp>
        <p:nvSpPr>
          <p:cNvPr id="5" name="Rectangle 4"/>
          <p:cNvSpPr/>
          <p:nvPr/>
        </p:nvSpPr>
        <p:spPr>
          <a:xfrm>
            <a:off x="9555480" y="384048"/>
            <a:ext cx="214884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  <a:ea typeface="PingFang SC"/>
              </a:rPr>
              <a:t>治理 → 信任 → 分发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78D4"/>
                </a:solidFill>
                <a:latin typeface="PingFang SC"/>
                <a:ea typeface="PingFang SC"/>
              </a:rPr>
              <a:t>核心打法：</a:t>
            </a:r>
            <a:r>
              <a:rPr sz="1400" b="0">
                <a:solidFill>
                  <a:srgbClr val="1A1A1A"/>
                </a:solidFill>
                <a:latin typeface="PingFang SC"/>
                <a:ea typeface="PingFang SC"/>
              </a:rPr>
              <a:t>把监管合规与法律风险“内化”为微软自身责任 —— 替客户扫清采用障碍，将治理能力沉淀为 Azure 的差异化护城河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630168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30168" cy="7498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65959"/>
            <a:ext cx="326440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① 合规先行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ingFang SC"/>
                <a:ea typeface="PingFang SC"/>
              </a:rPr>
              <a:t>对齐欧盟 AI 法案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70631"/>
            <a:ext cx="324612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078D4"/>
                </a:solidFill>
                <a:latin typeface="PingFang SC"/>
                <a:ea typeface="PingFang SC"/>
              </a:rPr>
              <a:t>▪ </a:t>
            </a:r>
            <a:r>
              <a:rPr sz="1100" b="1">
                <a:solidFill>
                  <a:srgbClr val="1A1A1A"/>
                </a:solidFill>
                <a:latin typeface="PingFang SC"/>
                <a:ea typeface="PingFang SC"/>
              </a:rPr>
              <a:t>每份客户合同中承诺遵守 EU AI Act 等全部适用法规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078D4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法案分期生效：2025.2 禁止性条款 → 2025.8 GPAI 义务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078D4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高风险义务经 Digital Omnibus 延至 2027.12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078D4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设跨职能工作组：治理+工程+法务+政策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078D4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欧盟数据驻留承诺，回应主权监管压力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74519"/>
            <a:ext cx="3630168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874519"/>
            <a:ext cx="3630168" cy="749808"/>
          </a:xfrm>
          <a:prstGeom prst="rect">
            <a:avLst/>
          </a:prstGeom>
          <a:solidFill>
            <a:srgbClr val="107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965959"/>
            <a:ext cx="326440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② 责任承诺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ingFang SC"/>
                <a:ea typeface="PingFang SC"/>
              </a:rPr>
              <a:t>客户版权承诺 (CCC)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770631"/>
            <a:ext cx="324612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7C41"/>
                </a:solidFill>
                <a:latin typeface="PingFang SC"/>
                <a:ea typeface="PingFang SC"/>
              </a:rPr>
              <a:t>▪ </a:t>
            </a:r>
            <a:r>
              <a:rPr sz="1100" b="1">
                <a:solidFill>
                  <a:srgbClr val="1A1A1A"/>
                </a:solidFill>
                <a:latin typeface="PingFang SC"/>
                <a:ea typeface="PingFang SC"/>
              </a:rPr>
              <a:t>2023.9 推出、10.1 生效，扩展商业 Copilot 赔付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7C4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客户因 Copilot 输出被诉版权侵权，微软出庭抗辩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7C4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并承担由此产生的判决与和解赔偿金额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7C4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前提：须开启内置护栏与内容过滤器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7C4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覆盖 M365 / GitHub Copilot；不含免费与消费版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874519"/>
            <a:ext cx="3630168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874519"/>
            <a:ext cx="3630168" cy="749808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965959"/>
            <a:ext cx="326440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ingFang SC"/>
                <a:ea typeface="PingFang SC"/>
              </a:rPr>
              <a:t>③ 治理体系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ingFang SC"/>
                <a:ea typeface="PingFang SC"/>
              </a:rPr>
              <a:t>把“负责任AI”产品化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70631"/>
            <a:ext cx="324612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C2D91"/>
                </a:solidFill>
                <a:latin typeface="PingFang SC"/>
                <a:ea typeface="PingFang SC"/>
              </a:rPr>
              <a:t>▪ </a:t>
            </a:r>
            <a:r>
              <a:rPr sz="1100" b="1">
                <a:solidFill>
                  <a:srgbClr val="1A1A1A"/>
                </a:solidFill>
                <a:latin typeface="PingFang SC"/>
                <a:ea typeface="PingFang SC"/>
              </a:rPr>
              <a:t>Responsible AI Standard + 年度透明度报告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C2D9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Azure AI Content Safety、透明度说明、内容凭证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C2D9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Purview 合规管理器模板、风险评估与文档框架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C2D9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Trust Center 设 EU AI Act 合规专区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5C2D91"/>
                </a:solidFill>
                <a:latin typeface="PingFang SC"/>
                <a:ea typeface="PingFang SC"/>
              </a:rPr>
              <a:t>▪ </a:t>
            </a:r>
            <a:r>
              <a:rPr sz="1100" b="0">
                <a:solidFill>
                  <a:srgbClr val="5F5F5F"/>
                </a:solidFill>
                <a:latin typeface="PingFang SC"/>
                <a:ea typeface="PingFang SC"/>
              </a:rPr>
              <a:t>AI 客户承诺(2024.6)：知识共享·工具·文档支持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413248"/>
            <a:ext cx="11183112" cy="1078992"/>
          </a:xfrm>
          <a:prstGeom prst="rect">
            <a:avLst/>
          </a:prstGeom>
          <a:solidFill>
            <a:srgbClr val="1B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577840"/>
            <a:ext cx="2596896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5EB0FF"/>
                </a:solidFill>
                <a:latin typeface="PingFang SC"/>
                <a:ea typeface="PingFang SC"/>
              </a:rPr>
              <a:t>治理即信任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DDDDDD"/>
                </a:solidFill>
                <a:latin typeface="PingFang SC"/>
                <a:ea typeface="PingFang SC"/>
              </a:rPr>
              <a:t>合规对齐+赔付承诺，化解企业法律与合规顾虑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5577840"/>
            <a:ext cx="2596896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5EB0FF"/>
                </a:solidFill>
                <a:latin typeface="PingFang SC"/>
                <a:ea typeface="PingFang SC"/>
              </a:rPr>
              <a:t>信任即分发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DDDDDD"/>
                </a:solidFill>
                <a:latin typeface="PingFang SC"/>
                <a:ea typeface="PingFang SC"/>
              </a:rPr>
              <a:t>信任转化为云上采纳，放大 Azure AI 触达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577840"/>
            <a:ext cx="2596896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5EB0FF"/>
                </a:solidFill>
                <a:latin typeface="PingFang SC"/>
                <a:ea typeface="PingFang SC"/>
              </a:rPr>
              <a:t>合规即壁垒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DDDDDD"/>
                </a:solidFill>
                <a:latin typeface="PingFang SC"/>
                <a:ea typeface="PingFang SC"/>
              </a:rPr>
              <a:t>把监管复杂度转为能力，中小厂商难以复制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5577840"/>
            <a:ext cx="2596896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5EB0FF"/>
                </a:solidFill>
                <a:latin typeface="PingFang SC"/>
                <a:ea typeface="PingFang SC"/>
              </a:rPr>
              <a:t>价值上移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DDDDDD"/>
                </a:solidFill>
                <a:latin typeface="PingFang SC"/>
                <a:ea typeface="PingFang SC"/>
              </a:rPr>
              <a:t>降低落地门槛，放大模型与行业应用价值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83680"/>
            <a:ext cx="111556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F5F5F"/>
                </a:solidFill>
                <a:latin typeface="PingFang SC"/>
                <a:ea typeface="PingFang SC"/>
              </a:rPr>
              <a:t>资料来源：Microsoft Trust Center / On the Issues 博客 / 2025 Responsible AI Transparency Report；EU AI Act 官方时间线（2023.9–2026.06）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