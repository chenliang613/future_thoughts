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PingFang SC"/>
                <a:ea typeface="PingFang SC"/>
              </a:rPr>
              <a:t>Anthropic 云厂商合作策略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F5F5F"/>
                </a:solidFill>
                <a:latin typeface="PingFang SC"/>
                <a:ea typeface="PingFang SC"/>
              </a:rPr>
              <a:t>“一模型 · 多云 · 多芯片” —— 以算力采购承诺换取战略投资与产能锁定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384048"/>
            <a:ext cx="2057400" cy="502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估值约 $3500 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97757"/>
                </a:solidFill>
                <a:latin typeface="PingFang SC"/>
                <a:ea typeface="PingFang SC"/>
              </a:rPr>
              <a:t>核心打法：</a:t>
            </a: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Claude 是唯一同时上架全球三大云的前沿模型 —— 最大化分发触达，并在 Trainium / TPU / GPU 间灵活调度保障产能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6301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630168" cy="749808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65959"/>
            <a:ext cx="326440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亚马逊 AWS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</a:rPr>
              <a:t>核心云 &amp; 首要训练伙伴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70631"/>
            <a:ext cx="32461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承诺 10 年投入 $1000 亿+ 采购 AWS 算力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亚马逊累计投资约 $330 亿（最新追加 $250 亿）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Project Rainier：~50 万颗 Trainium2，目标 5GW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分发：Amazon Bedrock · 10 万+ 客户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74519"/>
            <a:ext cx="36301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74519"/>
            <a:ext cx="3630168" cy="74980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65959"/>
            <a:ext cx="326440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谷歌 Google Cloud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</a:rPr>
              <a:t>TPU 算力主力供给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70631"/>
            <a:ext cx="32461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2025.10 签约：最多 100 万颗 TPU，2026 超 1GW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谷歌投资 $100 亿 + 按用量追加至 $400 亿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联合 Broadcom：多 GW 新一代算力，2027 起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分发：Vertex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874519"/>
            <a:ext cx="36301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3630168" cy="7498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65959"/>
            <a:ext cx="326440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微软 Azure + 英伟达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</a:rPr>
              <a:t>补齐 GPU 与第三朵云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770631"/>
            <a:ext cx="32461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承诺采购 $300 亿 Azure 算力（最高 1GW）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微软投资 $50 亿、英伟达投资 $100 亿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采购英伟达 Grace Blackwell / Vera Rubin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分发：Azure AI Foundry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49240"/>
            <a:ext cx="11183112" cy="1143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495544"/>
            <a:ext cx="2578608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57"/>
                </a:solidFill>
                <a:latin typeface="PingFang SC"/>
                <a:ea typeface="PingFang SC"/>
              </a:rPr>
              <a:t>产能即护城河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GW 级长约锁定稀缺算力，对冲供给紧张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5495544"/>
            <a:ext cx="2578608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57"/>
                </a:solidFill>
                <a:latin typeface="PingFang SC"/>
                <a:ea typeface="PingFang SC"/>
              </a:rPr>
              <a:t>多芯片去绑定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Trainium/TPU/GPU 并行，降单一硬件依赖、优化成本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495544"/>
            <a:ext cx="2578608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57"/>
                </a:solidFill>
                <a:latin typeface="PingFang SC"/>
                <a:ea typeface="PingFang SC"/>
              </a:rPr>
              <a:t>分发最大化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唯一覆盖三云的前沿模型，直达各云存量客户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5495544"/>
            <a:ext cx="2578608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57"/>
                </a:solidFill>
                <a:latin typeface="PingFang SC"/>
                <a:ea typeface="PingFang SC"/>
              </a:rPr>
              <a:t>算力换投资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采购承诺换取巨额投资，形成资本-算力循环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5F5F"/>
                </a:solidFill>
                <a:latin typeface="PingFang SC"/>
                <a:ea typeface="PingFang SC"/>
              </a:rPr>
              <a:t>资料来源：Anthropic / Amazon / Google / Microsoft 官方公告及 CNBC、Datacenter Dynamics 报道（2025.10–2026.04）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PingFang SC"/>
                <a:ea typeface="PingFang SC"/>
              </a:rPr>
              <a:t>Anthropic × Databricks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F5F5F"/>
                </a:solidFill>
                <a:latin typeface="PingFang SC"/>
                <a:ea typeface="PingFang SC"/>
              </a:rPr>
              <a:t>五年期里程碑协议 —— 让 Claude 在企业「治理数据」上直接跑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384048"/>
            <a:ext cx="2103120" cy="502920"/>
          </a:xfrm>
          <a:prstGeom prst="rect">
            <a:avLst/>
          </a:prstGeom>
          <a:solidFill>
            <a:srgbClr val="E8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5 年 · 约 $100M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154680" cy="40233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154680" cy="566928"/>
          </a:xfrm>
          <a:prstGeom prst="rect">
            <a:avLst/>
          </a:prstGeom>
          <a:solidFill>
            <a:srgbClr val="E8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合作快照 · Databricks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075688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协议类型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战略合作（里程碑级）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619756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公布时间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2025.03.26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163824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期限 / 金额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5 年 · 约 $100M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707892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触达客户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10,000+ 企业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251960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覆盖云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AWS / Azure / GCP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796028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荣誉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2026 ISV「AI 转型年度伙伴」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325880"/>
            <a:ext cx="78455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1325880"/>
            <a:ext cx="91440" cy="1874519"/>
          </a:xfrm>
          <a:prstGeom prst="rect">
            <a:avLst/>
          </a:prstGeom>
          <a:solidFill>
            <a:srgbClr val="E8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1435608"/>
            <a:ext cx="747979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8402A"/>
                </a:solidFill>
                <a:latin typeface="PingFang SC"/>
                <a:ea typeface="PingFang SC"/>
              </a:rPr>
              <a:t>① 合作内容与技术整合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1783080"/>
            <a:ext cx="7388352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Claude 原生上架 Data Intelligence Platform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进入 Agent Bricks / AI Playground / Model Serving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经 Unity Catalog &amp; Unity AI Gateway 统一治理调用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Unity Catalog 的 SQL/Python 函数作为工具注入 Claude SDK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前沿模型快速跟进上线（3.7 Sonnet → Fable 5）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310128"/>
            <a:ext cx="3840480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3310128"/>
            <a:ext cx="91440" cy="2039112"/>
          </a:xfrm>
          <a:prstGeom prst="rect">
            <a:avLst/>
          </a:prstGeom>
          <a:solidFill>
            <a:srgbClr val="E8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78224" y="3419856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8402A"/>
                </a:solidFill>
                <a:latin typeface="PingFang SC"/>
                <a:ea typeface="PingFang SC"/>
              </a:rPr>
              <a:t>② 战略价值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3767328"/>
            <a:ext cx="33832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在「自有专有数据」上构建领域专用 Agent，数据不出治理边界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Constitutional AI 安全 × Unity 治理 = 受治理的企业级 Agent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把 Agent 价值锚定在企业最敏感数据上 → 高粘性、高 Token 消耗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与 Snowflake 形成「双数据平台」双覆盖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45552" y="3310128"/>
            <a:ext cx="3840480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45552" y="3310128"/>
            <a:ext cx="91440" cy="2039112"/>
          </a:xfrm>
          <a:prstGeom prst="rect">
            <a:avLst/>
          </a:prstGeom>
          <a:solidFill>
            <a:srgbClr val="E8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3419856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8402A"/>
                </a:solidFill>
                <a:latin typeface="PingFang SC"/>
                <a:ea typeface="PingFang SC"/>
              </a:rPr>
              <a:t>③ 客户与案例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3767328"/>
            <a:ext cx="33832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Block（原 Square）：以该合作为引擎，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  驱动其开源 AI Agent「codename goose」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面向 Databricks 上万家企业客户的存量数据资产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8402A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数据科学 / 工程团队的 Agent 开发场景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04688"/>
            <a:ext cx="11183112" cy="896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504688"/>
            <a:ext cx="109728" cy="896112"/>
          </a:xfrm>
          <a:prstGeom prst="rect">
            <a:avLst/>
          </a:prstGeom>
          <a:solidFill>
            <a:srgbClr val="E8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614416"/>
            <a:ext cx="106984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97757"/>
                </a:solidFill>
                <a:latin typeface="PingFang SC"/>
                <a:ea typeface="PingFang SC"/>
              </a:rPr>
              <a:t>战略本质：</a:t>
            </a:r>
            <a:r>
              <a:rPr sz="1200" b="0">
                <a:solidFill>
                  <a:srgbClr val="FFFFFF"/>
                </a:solidFill>
                <a:latin typeface="PingFang SC"/>
                <a:ea typeface="PingFang SC"/>
              </a:rPr>
              <a:t>数据在哪，智能就去哪。Databricks 出「治理 + 数据 + 客户」，Claude 出「智能」，Anthropic 借此把 Agent 牢牢嵌入企业专有数据之上。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5F5F"/>
                </a:solidFill>
                <a:latin typeface="PingFang SC"/>
                <a:ea typeface="PingFang SC"/>
              </a:rPr>
              <a:t>资料来源：Databricks 官方新闻稿与博客、TechTarget、Technology Magazine、NAND Research（2025.03–2026）；金额为公开报道口径。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PingFang SC"/>
                <a:ea typeface="PingFang SC"/>
              </a:rPr>
              <a:t>Anthropic × Snowflake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F5F5F"/>
                </a:solidFill>
                <a:latin typeface="PingFang SC"/>
                <a:ea typeface="PingFang SC"/>
              </a:rPr>
              <a:t>$200M 多年期协议 + 联合 GTM —— 用「受治理的 AI」打入大型企业生产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384048"/>
            <a:ext cx="2103120" cy="50292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多年 · $200M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154680" cy="40233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154680" cy="566928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合作快照 · Snowflake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075688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协议类型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扩展战略合作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619756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期限 / 金额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多年期 · $200M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163824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触达客户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12,600+ 全球企业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707892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覆盖云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Bedrock / Vertex / Azure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251960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联合 GTM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是（联合销售团队）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796028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主题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Governed AI 受治理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325880"/>
            <a:ext cx="78455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1325880"/>
            <a:ext cx="91440" cy="1874519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1435608"/>
            <a:ext cx="747979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9B5E8"/>
                </a:solidFill>
                <a:latin typeface="PingFang SC"/>
                <a:ea typeface="PingFang SC"/>
              </a:rPr>
              <a:t>① 合作内容与技术整合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1783080"/>
            <a:ext cx="7388352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Claude 驱动 Snowflake Cortex Code（编程）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Claude 驱动 Snowflake Intelligence（智能分析）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上架 Claude Marketplace，面向安全的开发工作流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跨 Bedrock / Vertex AI / Azure 三大云均可调用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围绕「企业生产级工作负载」深度协同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310128"/>
            <a:ext cx="3840480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3310128"/>
            <a:ext cx="91440" cy="2039112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78224" y="3419856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9B5E8"/>
                </a:solidFill>
                <a:latin typeface="PingFang SC"/>
                <a:ea typeface="PingFang SC"/>
              </a:rPr>
              <a:t>② 战略价值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3767328"/>
            <a:ext cx="33832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主题即卖点：Governed AI —— 直击企业合规与可治理诉求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联合 GTM：面向「全球最大企业」批量部署 AI Agent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12,600+ 客户即时可达，分发杠杆极高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与 Databricks 同时供货 = 通吃数据平台赛道算力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45552" y="3310128"/>
            <a:ext cx="3840480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45552" y="3310128"/>
            <a:ext cx="91440" cy="2039112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3419856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9B5E8"/>
                </a:solidFill>
                <a:latin typeface="PingFang SC"/>
                <a:ea typeface="PingFang SC"/>
              </a:rPr>
              <a:t>③ 客户与案例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3767328"/>
            <a:ext cx="33832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12,600+ Snowflake 企业客户为即时市场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需求侧：企业对「合规、可治理」AI 的需求快速上升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金融、医疗等数据敏感行业的生产化落地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9B5E8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Cortex 生态内的 Agent / 代码 / 分析场景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04688"/>
            <a:ext cx="11183112" cy="896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504688"/>
            <a:ext cx="109728" cy="896112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614416"/>
            <a:ext cx="106984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97757"/>
                </a:solidFill>
                <a:latin typeface="PingFang SC"/>
                <a:ea typeface="PingFang SC"/>
              </a:rPr>
              <a:t>战略本质：</a:t>
            </a:r>
            <a:r>
              <a:rPr sz="1200" b="0">
                <a:solidFill>
                  <a:srgbClr val="FFFFFF"/>
                </a:solidFill>
                <a:latin typeface="PingFang SC"/>
                <a:ea typeface="PingFang SC"/>
              </a:rPr>
              <a:t>在数据平台战争中两边都供货 —— 无论企业选 Snowflake 还是 Databricks，智能层都是 Claude。Anthropic 以「中立军火商」之姿吃下整条赛道。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5F5F"/>
                </a:solidFill>
                <a:latin typeface="PingFang SC"/>
                <a:ea typeface="PingFang SC"/>
              </a:rPr>
              <a:t>资料来源：Anthropic / Snowflake 官方新闻稿、TechTarget、BigDATAwire（2025–2026）；金额为公开披露口径。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778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PingFang SC"/>
                <a:ea typeface="PingFang SC"/>
              </a:rPr>
              <a:t>Anthropic × Salesforce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F5F5F"/>
                </a:solidFill>
                <a:latin typeface="PingFang SC"/>
                <a:ea typeface="PingFang SC"/>
              </a:rPr>
              <a:t>以「信任边界」内置拿下受监管行业 —— Claude 成 Agentforce 首选模型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384048"/>
            <a:ext cx="2103120" cy="502920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受监管行业首选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154680" cy="40233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154680" cy="566928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合作快照 · Salesforce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075688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协议类型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扩展战略合作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619756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公布时间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2025.10.14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163824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核心定位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Agentforce 360 基础模型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707892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投资方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Salesforce Ventures（C→G 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251960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目标行业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金融/医疗/安全/生命科学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796028"/>
            <a:ext cx="2734056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7B1A8"/>
                </a:solidFill>
                <a:latin typeface="PingFang SC"/>
                <a:ea typeface="PingFang SC"/>
              </a:rPr>
              <a:t>里程碑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首个进入信任边界的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325880"/>
            <a:ext cx="78455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1325880"/>
            <a:ext cx="91440" cy="1874519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1435608"/>
            <a:ext cx="747979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A1E0"/>
                </a:solidFill>
                <a:latin typeface="PingFang SC"/>
                <a:ea typeface="PingFang SC"/>
              </a:rPr>
              <a:t>① 合作内容与技术整合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1783080"/>
            <a:ext cx="7388352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成为 Agentforce 受监管行业「首选模型」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全部 Claude 流量限定在 Salesforce VPC / 信任边界内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Slack × MCP：Claude 直读 Slack/CRM 上下文并执行动作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Salesforce 全球工程团队部署 Claude Code（反向成为客户）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共建行业方案：先做金融（Claude for Financial Services）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310128"/>
            <a:ext cx="3840480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0" y="3310128"/>
            <a:ext cx="91440" cy="2039112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78224" y="3419856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A1E0"/>
                </a:solidFill>
                <a:latin typeface="PingFang SC"/>
                <a:ea typeface="PingFang SC"/>
              </a:rPr>
              <a:t>② 战略价值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3767328"/>
            <a:ext cx="33832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「信任边界」内置 = 攻克受监管行业最大顾虑（安全/合规）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搭车高增长引擎：Agentforce ARR $800M（FY26Q4，YoY+169%）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双向绑定：既是供应商（进 Agentforce），又是客户（用 Claude Code）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受监管行业是「100× 应用层价值」最厚、门槛最高之处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45552" y="3310128"/>
            <a:ext cx="3840480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45552" y="3310128"/>
            <a:ext cx="91440" cy="2039112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3419856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A1E0"/>
                </a:solidFill>
                <a:latin typeface="PingFang SC"/>
                <a:ea typeface="PingFang SC"/>
              </a:rPr>
              <a:t>③ 客户与案例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3767328"/>
            <a:ext cx="33832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CrowdStrike：在 Agentforce 中用 Claude 构建 AI 体验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RBC Wealth Management：财富管理场景落地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金融机构：理解金融工具、保险理赔与行业框架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00A1E0"/>
                </a:solidFill>
                <a:latin typeface="PingFang SC"/>
                <a:ea typeface="PingFang SC"/>
              </a:rPr>
              <a:t>▪ </a:t>
            </a: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经 Slack 触达海量企业协作场景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04688"/>
            <a:ext cx="11183112" cy="89611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504688"/>
            <a:ext cx="109728" cy="896112"/>
          </a:xfrm>
          <a:prstGeom prst="rect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614416"/>
            <a:ext cx="106984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97757"/>
                </a:solidFill>
                <a:latin typeface="PingFang SC"/>
                <a:ea typeface="PingFang SC"/>
              </a:rPr>
              <a:t>战略本质：</a:t>
            </a:r>
            <a:r>
              <a:rPr sz="1200" b="0">
                <a:solidFill>
                  <a:srgbClr val="FFFFFF"/>
                </a:solidFill>
                <a:latin typeface="PingFang SC"/>
                <a:ea typeface="PingFang SC"/>
              </a:rPr>
              <a:t>受监管行业价值最厚但门槛是「信任」。Anthropic 用「进入对方信任边界」换取行业准入，把合规劣势转化为与 Salesforce 共建的壁垒。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5F5F"/>
                </a:solidFill>
                <a:latin typeface="PingFang SC"/>
                <a:ea typeface="PingFang SC"/>
              </a:rPr>
              <a:t>资料来源：Anthropic / Salesforce 官方新闻稿与投资者公告、Salesforce Ben、ETIH（2025.10–2026）。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