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6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64592" cy="3108960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C8C0"/>
                </a:solidFill>
                <a:latin typeface="Microsoft YaHei"/>
              </a:rPr>
              <a:t>企业 AI 应用层价值标杆 · 深度分析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Microsoft YaHei"/>
              </a:rPr>
              <a:t>Palantir </a:t>
            </a:r>
            <a:r>
              <a:rPr sz="4400" b="1">
                <a:solidFill>
                  <a:srgbClr val="FFFFFF"/>
                </a:solidFill>
                <a:latin typeface="Microsoft YaHei"/>
              </a:rPr>
              <a:t>深度分析报告</a:t>
            </a:r>
          </a:p>
          <a:p>
            <a:pPr algn="l">
              <a:spcBef>
                <a:spcPts val="1000"/>
              </a:spcBef>
            </a:pPr>
            <a:r>
              <a:rPr sz="2200" b="1">
                <a:solidFill>
                  <a:srgbClr val="2E9BF0"/>
                </a:solidFill>
                <a:latin typeface="Microsoft YaHei"/>
              </a:rPr>
              <a:t>本体 (Ontology) × AIP — 解码企业智能化的价值飞轮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14800"/>
            <a:ext cx="128016" cy="365760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114800"/>
            <a:ext cx="9601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FD7E6"/>
                </a:solidFill>
                <a:latin typeface="Microsoft YaHei"/>
              </a:rPr>
              <a:t>本体 Ontology：组织的数字孪生与运营操作系统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681728"/>
            <a:ext cx="128016" cy="365760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681728"/>
            <a:ext cx="9601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FD7E6"/>
                </a:solidFill>
                <a:latin typeface="Microsoft YaHei"/>
              </a:rPr>
              <a:t>AIP：把生成式 AI 接入真实业务流程的引擎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248656"/>
            <a:ext cx="128016" cy="365760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5248656"/>
            <a:ext cx="9601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FD7E6"/>
                </a:solidFill>
                <a:latin typeface="Microsoft YaHei"/>
              </a:rPr>
              <a:t>Q1 FY2026 营收 +85%，应用层价值兑现的实证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7A2B6"/>
                </a:solidFill>
                <a:latin typeface="Microsoft YaHei"/>
              </a:rPr>
              <a:t>行业智能化项目与产业发展分析  ·  2026-06  ·  数据截至 Palantir Q1 FY2026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C8C0"/>
                </a:solidFill>
                <a:latin typeface="Microsoft YaHe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核心观点：为什么 Palantir 是“倒金字塔”应用层的标杆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8016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C43D"/>
                </a:solidFill>
                <a:latin typeface="Microsoft YaHei"/>
              </a:rPr>
              <a:t>一句话结论：</a:t>
            </a:r>
            <a:r>
              <a:rPr sz="1500" b="0">
                <a:solidFill>
                  <a:srgbClr val="CFD7E6"/>
                </a:solidFill>
                <a:latin typeface="Microsoft YaHei"/>
              </a:rPr>
              <a:t>Palantir 不卖模型、不卖算力，而是用「本体」把企业数据资产变成可被 AI 操作的运营系统，用 AIP 把大模型接入真实业务闭环——价值不在模型本身，而在“模型驱动业务行动”。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2743200" cy="278892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64008" cy="2788920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2304288" cy="2459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本体是护城河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1">
                <a:solidFill>
                  <a:srgbClr val="1AC8C0"/>
                </a:solidFill>
                <a:latin typeface="Microsoft YaHei"/>
              </a:rPr>
              <a:t>• </a:t>
            </a:r>
            <a:r>
              <a:rPr sz="1100" b="0">
                <a:solidFill>
                  <a:srgbClr val="CFD7E6"/>
                </a:solidFill>
                <a:latin typeface="Microsoft YaHei"/>
              </a:rPr>
              <a:t>把“数据/模型”映射为业务“名词+动词”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1">
                <a:solidFill>
                  <a:srgbClr val="1AC8C0"/>
                </a:solidFill>
                <a:latin typeface="Microsoft YaHei"/>
              </a:rPr>
              <a:t>• </a:t>
            </a:r>
            <a:r>
              <a:rPr sz="1100" b="0">
                <a:solidFill>
                  <a:srgbClr val="CFD7E6"/>
                </a:solidFill>
                <a:latin typeface="Microsoft YaHei"/>
              </a:rPr>
              <a:t>语义层(对象·属性·链接)+动力层(动作·函数)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1">
                <a:solidFill>
                  <a:srgbClr val="1AC8C0"/>
                </a:solidFill>
                <a:latin typeface="Microsoft YaHei"/>
              </a:rPr>
              <a:t>• </a:t>
            </a:r>
            <a:r>
              <a:rPr sz="1100" b="0">
                <a:solidFill>
                  <a:srgbClr val="CFD7E6"/>
                </a:solidFill>
                <a:latin typeface="Microsoft YaHei"/>
              </a:rPr>
              <a:t>组织级数字孪生，AI 与人共享同一真相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103120"/>
            <a:ext cx="2743200" cy="278892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103120"/>
            <a:ext cx="64008" cy="2788920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2286000"/>
            <a:ext cx="2304288" cy="2459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AIP 是变现引擎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1">
                <a:solidFill>
                  <a:srgbClr val="F48C06"/>
                </a:solidFill>
                <a:latin typeface="Microsoft YaHei"/>
              </a:rPr>
              <a:t>• </a:t>
            </a:r>
            <a:r>
              <a:rPr sz="1100" b="0">
                <a:solidFill>
                  <a:srgbClr val="CFD7E6"/>
                </a:solidFill>
                <a:latin typeface="Microsoft YaHei"/>
              </a:rPr>
              <a:t>生成式 AI 不止于“聊天”，而是触发行动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1">
                <a:solidFill>
                  <a:srgbClr val="F48C06"/>
                </a:solidFill>
                <a:latin typeface="Microsoft YaHei"/>
              </a:rPr>
              <a:t>• </a:t>
            </a:r>
            <a:r>
              <a:rPr sz="1100" b="0">
                <a:solidFill>
                  <a:srgbClr val="CFD7E6"/>
                </a:solidFill>
                <a:latin typeface="Microsoft YaHei"/>
              </a:rPr>
              <a:t>安全 LLM 接入，数据不外泄给第三方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1">
                <a:solidFill>
                  <a:srgbClr val="F48C06"/>
                </a:solidFill>
                <a:latin typeface="Microsoft YaHei"/>
              </a:rPr>
              <a:t>• </a:t>
            </a:r>
            <a:r>
              <a:rPr sz="1100" b="0">
                <a:solidFill>
                  <a:srgbClr val="CFD7E6"/>
                </a:solidFill>
                <a:latin typeface="Microsoft YaHei"/>
              </a:rPr>
              <a:t>AI Mesh：Foundry+Apollo+AIP 全栈交付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103120"/>
            <a:ext cx="2743200" cy="278892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103120"/>
            <a:ext cx="64008" cy="2788920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2286000"/>
            <a:ext cx="2304288" cy="2459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Bootcamp 是打法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1">
                <a:solidFill>
                  <a:srgbClr val="FFC43D"/>
                </a:solidFill>
                <a:latin typeface="Microsoft YaHei"/>
              </a:rPr>
              <a:t>• </a:t>
            </a:r>
            <a:r>
              <a:rPr sz="1100" b="0">
                <a:solidFill>
                  <a:srgbClr val="CFD7E6"/>
                </a:solidFill>
                <a:latin typeface="Microsoft YaHei"/>
              </a:rPr>
              <a:t>5 天从 0 到真实用例，跑客户真实数据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1">
                <a:solidFill>
                  <a:srgbClr val="FFC43D"/>
                </a:solidFill>
                <a:latin typeface="Microsoft YaHei"/>
              </a:rPr>
              <a:t>• </a:t>
            </a:r>
            <a:r>
              <a:rPr sz="1100" b="0">
                <a:solidFill>
                  <a:srgbClr val="CFD7E6"/>
                </a:solidFill>
                <a:latin typeface="Microsoft YaHei"/>
              </a:rPr>
              <a:t>~75% 转化率，销售周期从~1年压缩到数天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1">
                <a:solidFill>
                  <a:srgbClr val="FFC43D"/>
                </a:solidFill>
                <a:latin typeface="Microsoft YaHei"/>
              </a:rPr>
              <a:t>• </a:t>
            </a:r>
            <a:r>
              <a:rPr sz="1100" b="0">
                <a:solidFill>
                  <a:srgbClr val="CFD7E6"/>
                </a:solidFill>
                <a:latin typeface="Microsoft YaHei"/>
              </a:rPr>
              <a:t>以“先见效再付费”重塑企业软件 GTM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2103120"/>
            <a:ext cx="2743200" cy="278892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6840" y="2103120"/>
            <a:ext cx="64008" cy="2788920"/>
          </a:xfrm>
          <a:prstGeom prst="rect">
            <a:avLst/>
          </a:prstGeom>
          <a:solidFill>
            <a:srgbClr val="35C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2286000"/>
            <a:ext cx="2304288" cy="2459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财务是实证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1">
                <a:solidFill>
                  <a:srgbClr val="35CB7A"/>
                </a:solidFill>
                <a:latin typeface="Microsoft YaHei"/>
              </a:rPr>
              <a:t>• </a:t>
            </a:r>
            <a:r>
              <a:rPr sz="1100" b="0">
                <a:solidFill>
                  <a:srgbClr val="CFD7E6"/>
                </a:solidFill>
                <a:latin typeface="Microsoft YaHei"/>
              </a:rPr>
              <a:t>Q1 FY2026 营收 +85%，上市以来最快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1">
                <a:solidFill>
                  <a:srgbClr val="35CB7A"/>
                </a:solidFill>
                <a:latin typeface="Microsoft YaHei"/>
              </a:rPr>
              <a:t>• </a:t>
            </a:r>
            <a:r>
              <a:rPr sz="1100" b="0">
                <a:solidFill>
                  <a:srgbClr val="CFD7E6"/>
                </a:solidFill>
                <a:latin typeface="Microsoft YaHei"/>
              </a:rPr>
              <a:t>US 商业 +133%，调整后经营利润率 60%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1">
                <a:solidFill>
                  <a:srgbClr val="35CB7A"/>
                </a:solidFill>
                <a:latin typeface="Microsoft YaHei"/>
              </a:rPr>
              <a:t>• </a:t>
            </a:r>
            <a:r>
              <a:rPr sz="1100" b="0">
                <a:solidFill>
                  <a:srgbClr val="CFD7E6"/>
                </a:solidFill>
                <a:latin typeface="Microsoft YaHei"/>
              </a:rPr>
              <a:t>FY26 指引上调至 $7.65B+ (+71%)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166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9BF0"/>
                </a:solidFill>
                <a:latin typeface="Microsoft YaHei"/>
              </a:rPr>
              <a:t>对本项目的意义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CFD7E6"/>
                </a:solidFill>
                <a:latin typeface="Microsoft YaHei"/>
              </a:rPr>
              <a:t>Palantir 证明了「倒金字塔」的可行性：在硬件与模型之上，应用层凭借“本体+工作流+反馈学习”形成复利护城河，捕获了远超基础设施的经济价值。其核心方法论——“先建组织本体、再把AI接入行动闭环、以Bootcamp快速验证ROI”——正是行业智能化项目成功的关键路径参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7A2B6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2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9BF0"/>
                </a:solidFill>
                <a:latin typeface="Microsoft YaHei"/>
              </a:rPr>
              <a:t>COMPANY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公司全景：从政府情报到企业 AI 的操作系统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212080" cy="502920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212080" cy="64008"/>
          </a:xfrm>
          <a:prstGeom prst="rect">
            <a:avLst/>
          </a:prstGeom>
          <a:solidFill>
            <a:srgbClr val="2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发展脉络与业务结构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066544"/>
            <a:ext cx="128016" cy="411480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11680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C8C0"/>
                </a:solidFill>
                <a:latin typeface="Microsoft YaHei"/>
              </a:rPr>
              <a:t>2003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011680"/>
            <a:ext cx="2971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D7E6"/>
                </a:solidFill>
                <a:latin typeface="Microsoft YaHei"/>
              </a:rPr>
              <a:t>成立，以反恐/情报分析起家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761488"/>
            <a:ext cx="128016" cy="411480"/>
          </a:xfrm>
          <a:prstGeom prst="rect">
            <a:avLst/>
          </a:prstGeom>
          <a:solidFill>
            <a:srgbClr val="2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706624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9BF0"/>
                </a:solidFill>
                <a:latin typeface="Microsoft YaHei"/>
              </a:rPr>
              <a:t>Gotham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706624"/>
            <a:ext cx="2971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D7E6"/>
                </a:solidFill>
                <a:latin typeface="Microsoft YaHei"/>
              </a:rPr>
              <a:t>政府与国防：情报、作战、决策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456432"/>
            <a:ext cx="128016" cy="411480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401568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48C06"/>
                </a:solidFill>
                <a:latin typeface="Microsoft YaHei"/>
              </a:rPr>
              <a:t>Foundry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401568"/>
            <a:ext cx="2971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D7E6"/>
                </a:solidFill>
                <a:latin typeface="Microsoft YaHei"/>
              </a:rPr>
              <a:t>商业：企业级数据运营平台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151376"/>
            <a:ext cx="128016" cy="411480"/>
          </a:xfrm>
          <a:prstGeom prst="rect">
            <a:avLst/>
          </a:prstGeom>
          <a:solidFill>
            <a:srgbClr val="9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096512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59C6"/>
                </a:solidFill>
                <a:latin typeface="Microsoft YaHei"/>
              </a:rPr>
              <a:t>Apollo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096512"/>
            <a:ext cx="2971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D7E6"/>
                </a:solidFill>
                <a:latin typeface="Microsoft YaHei"/>
              </a:rPr>
              <a:t>持续交付，跨云/本地/边缘部署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846320"/>
            <a:ext cx="128016" cy="411480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791456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C43D"/>
                </a:solidFill>
                <a:latin typeface="Microsoft YaHei"/>
              </a:rPr>
              <a:t>AIP (2023)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791456"/>
            <a:ext cx="2971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D7E6"/>
                </a:solidFill>
                <a:latin typeface="Microsoft YaHei"/>
              </a:rPr>
              <a:t>把 LLM 接入运营，进入企业AI爆发期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541264"/>
            <a:ext cx="128016" cy="411480"/>
          </a:xfrm>
          <a:prstGeom prst="rect">
            <a:avLst/>
          </a:prstGeom>
          <a:solidFill>
            <a:srgbClr val="35C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486400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35CB7A"/>
                </a:solidFill>
                <a:latin typeface="Microsoft YaHei"/>
              </a:rPr>
              <a:t>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486400"/>
            <a:ext cx="2971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D7E6"/>
                </a:solidFill>
                <a:latin typeface="Microsoft YaHei"/>
              </a:rPr>
              <a:t>US 营收首破 100% 增长，AI 需求驱动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13716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四大平台 + 一个内核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1874519"/>
            <a:ext cx="2788920" cy="1051560"/>
          </a:xfrm>
          <a:prstGeom prst="rect">
            <a:avLst/>
          </a:prstGeom>
          <a:solidFill>
            <a:srgbClr val="24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1874519"/>
            <a:ext cx="2788920" cy="54864"/>
          </a:xfrm>
          <a:prstGeom prst="rect">
            <a:avLst/>
          </a:prstGeom>
          <a:solidFill>
            <a:srgbClr val="2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020823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9BF0"/>
                </a:solidFill>
                <a:latin typeface="Microsoft YaHei"/>
              </a:rPr>
              <a:t>Gotham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2404871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CFD7E6"/>
                </a:solidFill>
                <a:latin typeface="Microsoft YaHei"/>
              </a:rPr>
              <a:t>面向政府/国防的运营分析平台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97112" y="1874519"/>
            <a:ext cx="2788920" cy="1051560"/>
          </a:xfrm>
          <a:prstGeom prst="rect">
            <a:avLst/>
          </a:prstGeom>
          <a:solidFill>
            <a:srgbClr val="24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97112" y="1874519"/>
            <a:ext cx="2788920" cy="54864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79992" y="2020823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8C06"/>
                </a:solidFill>
                <a:latin typeface="Microsoft YaHei"/>
              </a:rPr>
              <a:t>Foundry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9992" y="2404871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CFD7E6"/>
                </a:solidFill>
                <a:latin typeface="Microsoft YaHei"/>
              </a:rPr>
              <a:t>面向企业的数据集成与运营平台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3063239"/>
            <a:ext cx="2788920" cy="1051560"/>
          </a:xfrm>
          <a:prstGeom prst="rect">
            <a:avLst/>
          </a:prstGeom>
          <a:solidFill>
            <a:srgbClr val="24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89320" y="3063239"/>
            <a:ext cx="2788920" cy="54864"/>
          </a:xfrm>
          <a:prstGeom prst="rect">
            <a:avLst/>
          </a:prstGeom>
          <a:solidFill>
            <a:srgbClr val="9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3209543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59C6"/>
                </a:solidFill>
                <a:latin typeface="Microsoft YaHei"/>
              </a:rPr>
              <a:t>Apollo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593591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CFD7E6"/>
                </a:solidFill>
                <a:latin typeface="Microsoft YaHei"/>
              </a:rPr>
              <a:t>持续交付层：任意环境自动部署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97112" y="3063239"/>
            <a:ext cx="2788920" cy="1051560"/>
          </a:xfrm>
          <a:prstGeom prst="rect">
            <a:avLst/>
          </a:prstGeom>
          <a:solidFill>
            <a:srgbClr val="24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97112" y="3063239"/>
            <a:ext cx="2788920" cy="54864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79992" y="3209543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C43D"/>
                </a:solidFill>
                <a:latin typeface="Microsoft YaHei"/>
              </a:rPr>
              <a:t>AIP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9992" y="3593591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CFD7E6"/>
                </a:solidFill>
                <a:latin typeface="Microsoft YaHei"/>
              </a:rPr>
              <a:t>AI 平台：把生成式AI接入运营闭环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4389120"/>
            <a:ext cx="5742432" cy="868680"/>
          </a:xfrm>
          <a:prstGeom prst="rect">
            <a:avLst/>
          </a:prstGeom>
          <a:solidFill>
            <a:srgbClr val="30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89320" y="4389120"/>
            <a:ext cx="91440" cy="868680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480560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C8C0"/>
                </a:solidFill>
                <a:latin typeface="Microsoft YaHei"/>
              </a:rPr>
              <a:t>共同内核 = 本体 Ontology  </a:t>
            </a:r>
            <a:r>
              <a:rPr sz="1150" b="0">
                <a:solidFill>
                  <a:srgbClr val="CFD7E6"/>
                </a:solidFill>
                <a:latin typeface="Microsoft YaHei"/>
              </a:rPr>
              <a:t>所有平台都构建在同一套组织数字孪生之上，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这是 Palantir 区别于一般 BI / SaaS / 模型厂商的根本。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5440680"/>
            <a:ext cx="5742432" cy="91440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89320" y="5532120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35CB7A"/>
                </a:solidFill>
                <a:latin typeface="Microsoft YaHei"/>
              </a:rPr>
              <a:t>$1.6B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598932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00" b="0">
                <a:solidFill>
                  <a:srgbClr val="97A2B6"/>
                </a:solidFill>
                <a:latin typeface="Microsoft YaHei"/>
              </a:rPr>
              <a:t>Q1营收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24928" y="5532120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C43D"/>
                </a:solidFill>
                <a:latin typeface="Microsoft YaHei"/>
              </a:rPr>
              <a:t>+85%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4928" y="598932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00" b="0">
                <a:solidFill>
                  <a:srgbClr val="97A2B6"/>
                </a:solidFill>
                <a:latin typeface="Microsoft YaHei"/>
              </a:rPr>
              <a:t>YoY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0536" y="5532120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E9BF0"/>
                </a:solidFill>
                <a:latin typeface="Microsoft YaHei"/>
              </a:rPr>
              <a:t>1,007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0536" y="598932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00" b="0">
                <a:solidFill>
                  <a:srgbClr val="97A2B6"/>
                </a:solidFill>
                <a:latin typeface="Microsoft YaHei"/>
              </a:rPr>
              <a:t>商业客户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96144" y="5532120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AC8C0"/>
                </a:solidFill>
                <a:latin typeface="Microsoft YaHei"/>
              </a:rPr>
              <a:t>60%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96144" y="598932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00" b="0">
                <a:solidFill>
                  <a:srgbClr val="97A2B6"/>
                </a:solidFill>
                <a:latin typeface="Microsoft YaHei"/>
              </a:rPr>
              <a:t>调整后
经营利润率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7A2B6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C8C0"/>
                </a:solidFill>
                <a:latin typeface="Microsoft YaHei"/>
              </a:rPr>
              <a:t>ONTOLOGY · 本体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本体是什么：组织的“数字孪生”与运营操作系统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9844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C8C0"/>
                </a:solidFill>
                <a:latin typeface="Microsoft YaHei"/>
              </a:rPr>
              <a:t>定义　</a:t>
            </a:r>
            <a:r>
              <a:rPr sz="1350" b="0">
                <a:solidFill>
                  <a:srgbClr val="CFD7E6"/>
                </a:solidFill>
                <a:latin typeface="Microsoft YaHei"/>
              </a:rPr>
              <a:t>本体是一个架在企业数字资产(数据集·虚拟表·模型)之上的运营层，把它们与现实世界的对应物连接起来——从物理设备，到客户订单、金融交易等业务概念。它是组织的数字孪生：既包含“语义”，也包含“动力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2331720"/>
            <a:ext cx="9235440" cy="960120"/>
          </a:xfrm>
          <a:prstGeom prst="rect">
            <a:avLst/>
          </a:prstGeom>
          <a:solidFill>
            <a:srgbClr val="242E4F"/>
          </a:solidFill>
          <a:ln w="19050">
            <a:solidFill>
              <a:srgbClr val="F48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245059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8C06"/>
                </a:solidFill>
                <a:latin typeface="Microsoft YaHei"/>
              </a:rPr>
              <a:t>现实世界  REAL WORLD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83464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物理设备 · 人员 · 客户订单 · 金融交易 · 业务流程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3456432"/>
            <a:ext cx="9235440" cy="1143000"/>
          </a:xfrm>
          <a:prstGeom prst="rect">
            <a:avLst/>
          </a:prstGeom>
          <a:solidFill>
            <a:srgbClr val="12333A"/>
          </a:solidFill>
          <a:ln w="19050">
            <a:solidFill>
              <a:srgbClr val="1AC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3575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C8C0"/>
                </a:solidFill>
                <a:latin typeface="Microsoft YaHei"/>
              </a:rPr>
              <a:t>本体  ONTOLOGY（运营层 / 数字孪生）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959352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语义：对象 Objects · 属性 Properties · 链接 Links（名词）   ＋   动力：动作 Actions · 函数 Functions · 动态安全（动词）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4764024"/>
            <a:ext cx="9235440" cy="960120"/>
          </a:xfrm>
          <a:prstGeom prst="rect">
            <a:avLst/>
          </a:prstGeom>
          <a:solidFill>
            <a:srgbClr val="242E4F"/>
          </a:solidFill>
          <a:ln w="19050">
            <a:solidFill>
              <a:srgbClr val="2E9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4882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9BF0"/>
                </a:solidFill>
                <a:latin typeface="Microsoft YaHei"/>
              </a:rPr>
              <a:t>数字资产  DIGITAL ASSETS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266944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数据集 Datasets · 虚拟表 · 机器学习模型 · 数据管道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514600"/>
            <a:ext cx="9144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97A2B6"/>
                </a:solidFill>
                <a:latin typeface="Microsoft YaHei"/>
              </a:rPr>
              <a:t>映射
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4023360"/>
            <a:ext cx="10972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97A2B6"/>
                </a:solidFill>
                <a:latin typeface="Microsoft YaHei"/>
              </a:rPr>
              <a:t>↕
绑定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1264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C43D"/>
                </a:solidFill>
                <a:latin typeface="Microsoft YaHei"/>
              </a:rPr>
              <a:t>关键洞察　</a:t>
            </a:r>
            <a:r>
              <a:rPr sz="1250" b="0">
                <a:solidFill>
                  <a:srgbClr val="CFD7E6"/>
                </a:solidFill>
                <a:latin typeface="Microsoft YaHei"/>
              </a:rPr>
              <a:t>本体让“人”和“AI Agent”读到同一份业务真相——这是企业 AI 可信、可落地、可治理的前提。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7A2B6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C8C0"/>
                </a:solidFill>
                <a:latin typeface="Microsoft YaHei"/>
              </a:rPr>
              <a:t>ONTOLOGY · 本体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本体的两大要素与一个引擎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593592" cy="416052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593592" cy="594360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32278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1424"/>
                </a:solidFill>
                <a:latin typeface="Microsoft YaHei"/>
              </a:rPr>
              <a:t>① 语义元素 Semantic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C8C0"/>
                </a:solidFill>
                <a:latin typeface="Microsoft YaHei"/>
              </a:rPr>
              <a:t>组织的“名词”——结构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3182112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250" b="1">
                <a:solidFill>
                  <a:srgbClr val="1AC8C0"/>
                </a:solidFill>
                <a:latin typeface="Microsoft YaHei"/>
              </a:rPr>
              <a:t>▸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对象 Object：</a:t>
            </a:r>
            <a:r>
              <a:rPr sz="1250" b="0">
                <a:solidFill>
                  <a:srgbClr val="CFD7E6"/>
                </a:solidFill>
                <a:latin typeface="Microsoft YaHei"/>
              </a:rPr>
              <a:t>实体或事件(如设备、订单)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250" b="1">
                <a:solidFill>
                  <a:srgbClr val="1AC8C0"/>
                </a:solidFill>
                <a:latin typeface="Microsoft YaHei"/>
              </a:rPr>
              <a:t>▸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属性 Property：</a:t>
            </a:r>
            <a:r>
              <a:rPr sz="1250" b="0">
                <a:solidFill>
                  <a:srgbClr val="CFD7E6"/>
                </a:solidFill>
                <a:latin typeface="Microsoft YaHei"/>
              </a:rPr>
              <a:t>对象的特征字段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250" b="1">
                <a:solidFill>
                  <a:srgbClr val="1AC8C0"/>
                </a:solidFill>
                <a:latin typeface="Microsoft YaHei"/>
              </a:rPr>
              <a:t>▸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链接 Link：</a:t>
            </a:r>
            <a:r>
              <a:rPr sz="1250" b="0">
                <a:solidFill>
                  <a:srgbClr val="CFD7E6"/>
                </a:solidFill>
                <a:latin typeface="Microsoft YaHei"/>
              </a:rPr>
              <a:t>对象之间的关系网络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250" b="1">
                <a:solidFill>
                  <a:srgbClr val="1AC8C0"/>
                </a:solidFill>
                <a:latin typeface="Microsoft YaHei"/>
              </a:rPr>
              <a:t>▸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结果：</a:t>
            </a:r>
            <a:r>
              <a:rPr sz="1250" b="0">
                <a:solidFill>
                  <a:srgbClr val="CFD7E6"/>
                </a:solidFill>
                <a:latin typeface="Microsoft YaHei"/>
              </a:rPr>
              <a:t>把孤立数据织成业务知识图谱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3593592" cy="416052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417320"/>
            <a:ext cx="3593592" cy="594360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81328"/>
            <a:ext cx="32278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1424"/>
                </a:solidFill>
                <a:latin typeface="Microsoft YaHei"/>
              </a:rPr>
              <a:t>② 动力元素 Kinetic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8C06"/>
                </a:solidFill>
                <a:latin typeface="Microsoft YaHei"/>
              </a:rPr>
              <a:t>组织的“动词”——行动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06040"/>
            <a:ext cx="3182112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250" b="1">
                <a:solidFill>
                  <a:srgbClr val="F48C06"/>
                </a:solidFill>
                <a:latin typeface="Microsoft YaHei"/>
              </a:rPr>
              <a:t>▸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动作 Action：</a:t>
            </a:r>
            <a:r>
              <a:rPr sz="1250" b="0">
                <a:solidFill>
                  <a:srgbClr val="CFD7E6"/>
                </a:solidFill>
                <a:latin typeface="Microsoft YaHei"/>
              </a:rPr>
              <a:t>捕获操作员输入/编排决策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250" b="1">
                <a:solidFill>
                  <a:srgbClr val="F48C06"/>
                </a:solidFill>
                <a:latin typeface="Microsoft YaHei"/>
              </a:rPr>
              <a:t>▸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函数 Function：</a:t>
            </a:r>
            <a:r>
              <a:rPr sz="1250" b="0">
                <a:solidFill>
                  <a:srgbClr val="CFD7E6"/>
                </a:solidFill>
                <a:latin typeface="Microsoft YaHei"/>
              </a:rPr>
              <a:t>承载任意复杂业务逻辑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250" b="1">
                <a:solidFill>
                  <a:srgbClr val="F48C06"/>
                </a:solidFill>
                <a:latin typeface="Microsoft YaHei"/>
              </a:rPr>
              <a:t>▸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动态安全：</a:t>
            </a:r>
            <a:r>
              <a:rPr sz="1250" b="0">
                <a:solidFill>
                  <a:srgbClr val="CFD7E6"/>
                </a:solidFill>
                <a:latin typeface="Microsoft YaHei"/>
              </a:rPr>
              <a:t>按权限/条件控制写入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250" b="1">
                <a:solidFill>
                  <a:srgbClr val="F48C06"/>
                </a:solidFill>
                <a:latin typeface="Microsoft YaHei"/>
              </a:rPr>
              <a:t>▸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行动日志：</a:t>
            </a:r>
            <a:r>
              <a:rPr sz="1250" b="0">
                <a:solidFill>
                  <a:srgbClr val="CFD7E6"/>
                </a:solidFill>
                <a:latin typeface="Microsoft YaHei"/>
              </a:rPr>
              <a:t>记录决策溯源，供学习复盘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417320"/>
            <a:ext cx="3593592" cy="416052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417320"/>
            <a:ext cx="3593592" cy="594360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81328"/>
            <a:ext cx="32278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1424"/>
                </a:solidFill>
                <a:latin typeface="Microsoft YaHei"/>
              </a:rPr>
              <a:t>③ 本体引擎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48840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C43D"/>
                </a:solidFill>
                <a:latin typeface="Microsoft YaHei"/>
              </a:rPr>
              <a:t>让本体可运行、可进化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06040"/>
            <a:ext cx="3182112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250" b="1">
                <a:solidFill>
                  <a:srgbClr val="FFC43D"/>
                </a:solidFill>
                <a:latin typeface="Microsoft YaHei"/>
              </a:rPr>
              <a:t>▸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规模查询：</a:t>
            </a:r>
            <a:r>
              <a:rPr sz="1250" b="0">
                <a:solidFill>
                  <a:srgbClr val="CFD7E6"/>
                </a:solidFill>
                <a:latin typeface="Microsoft YaHei"/>
              </a:rPr>
              <a:t>对数十亿对象实时检索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250" b="1">
                <a:solidFill>
                  <a:srgbClr val="FFC43D"/>
                </a:solidFill>
                <a:latin typeface="Microsoft YaHei"/>
              </a:rPr>
              <a:t>▸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动作编排：</a:t>
            </a:r>
            <a:r>
              <a:rPr sz="1250" b="0">
                <a:solidFill>
                  <a:srgbClr val="CFD7E6"/>
                </a:solidFill>
                <a:latin typeface="Microsoft YaHei"/>
              </a:rPr>
              <a:t>编排数万级动作执行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250" b="1">
                <a:solidFill>
                  <a:srgbClr val="FFC43D"/>
                </a:solidFill>
                <a:latin typeface="Microsoft YaHei"/>
              </a:rPr>
              <a:t>▸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反馈学习：</a:t>
            </a:r>
            <a:r>
              <a:rPr sz="1250" b="0">
                <a:solidFill>
                  <a:srgbClr val="CFD7E6"/>
                </a:solidFill>
                <a:latin typeface="Microsoft YaHei"/>
              </a:rPr>
              <a:t>持续吸收反馈、迭代优化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250" b="1">
                <a:solidFill>
                  <a:srgbClr val="FFC43D"/>
                </a:solidFill>
                <a:latin typeface="Microsoft YaHei"/>
              </a:rPr>
              <a:t>▸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写入编排：</a:t>
            </a:r>
            <a:r>
              <a:rPr sz="1250" b="0">
                <a:solidFill>
                  <a:srgbClr val="CFD7E6"/>
                </a:solidFill>
                <a:latin typeface="Microsoft YaHei"/>
              </a:rPr>
              <a:t>数据漏斗保证索引实时一致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760720"/>
            <a:ext cx="11201400" cy="713232"/>
          </a:xfrm>
          <a:prstGeom prst="rect">
            <a:avLst/>
          </a:prstGeom>
          <a:solidFill>
            <a:srgbClr val="30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870448"/>
            <a:ext cx="10698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C8C0"/>
                </a:solidFill>
                <a:latin typeface="Microsoft YaHei"/>
              </a:rPr>
              <a:t>语义 = 让 AI“看懂”业务；  动力 = 让 AI“改变”业务；  引擎 = 让这套体系在生产环境实时运转。  </a:t>
            </a:r>
            <a:r>
              <a:rPr sz="1300" b="0">
                <a:solidFill>
                  <a:srgbClr val="CFD7E6"/>
                </a:solidFill>
                <a:latin typeface="Microsoft YaHei"/>
              </a:rPr>
              <a:t>三者合一，本体才从“数据模型”升级为“运营操作系统”。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7A2B6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C8C0"/>
                </a:solidFill>
                <a:latin typeface="Microsoft YaHei"/>
              </a:rPr>
              <a:t>ONTOLOGY · 本体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本体为何是 Palantir 最深的护城河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企业 AI 落地的核心痛点 → 本体解法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828800"/>
            <a:ext cx="5257800" cy="768096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64008" cy="768096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Microsoft YaHei"/>
              </a:rPr>
              <a:t>痛点 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数据孤岛、口径不一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35CB7A"/>
                </a:solidFill>
                <a:latin typeface="Microsoft YaHei"/>
              </a:rPr>
              <a:t>→  </a:t>
            </a:r>
            <a:r>
              <a:rPr sz="1150" b="0">
                <a:solidFill>
                  <a:srgbClr val="CFD7E6"/>
                </a:solidFill>
                <a:latin typeface="Microsoft YaHei"/>
              </a:rPr>
              <a:t>本体统一语义，单一业务真相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706624"/>
            <a:ext cx="5257800" cy="768096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706624"/>
            <a:ext cx="64008" cy="768096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98064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Microsoft YaHei"/>
              </a:rPr>
              <a:t>痛点 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LLM 会“幻觉”、不可信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18104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35CB7A"/>
                </a:solidFill>
                <a:latin typeface="Microsoft YaHei"/>
              </a:rPr>
              <a:t>→  </a:t>
            </a:r>
            <a:r>
              <a:rPr sz="1150" b="0">
                <a:solidFill>
                  <a:srgbClr val="CFD7E6"/>
                </a:solidFill>
                <a:latin typeface="Microsoft YaHei"/>
              </a:rPr>
              <a:t>AI 在结构化对象/动作上行动，可约束可溯源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584448"/>
            <a:ext cx="5257800" cy="768096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3584448"/>
            <a:ext cx="64008" cy="768096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75888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Microsoft YaHei"/>
              </a:rPr>
              <a:t>痛点 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AI 只能“建议”不能“执行”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95928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35CB7A"/>
                </a:solidFill>
                <a:latin typeface="Microsoft YaHei"/>
              </a:rPr>
              <a:t>→  </a:t>
            </a:r>
            <a:r>
              <a:rPr sz="1150" b="0">
                <a:solidFill>
                  <a:srgbClr val="CFD7E6"/>
                </a:solidFill>
                <a:latin typeface="Microsoft YaHei"/>
              </a:rPr>
              <a:t>动作层把AI输出直接写回业务系统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4462272"/>
            <a:ext cx="5257800" cy="768096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4462272"/>
            <a:ext cx="64008" cy="768096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53712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Microsoft YaHei"/>
              </a:rPr>
              <a:t>痛点 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难治理、权限失控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73752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35CB7A"/>
                </a:solidFill>
                <a:latin typeface="Microsoft YaHei"/>
              </a:rPr>
              <a:t>→  </a:t>
            </a:r>
            <a:r>
              <a:rPr sz="1150" b="0">
                <a:solidFill>
                  <a:srgbClr val="CFD7E6"/>
                </a:solidFill>
                <a:latin typeface="Microsoft YaHei"/>
              </a:rPr>
              <a:t>动态安全 + 行动日志，细粒度合规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5340096"/>
            <a:ext cx="5257800" cy="768096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5340096"/>
            <a:ext cx="64008" cy="768096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31536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Microsoft YaHei"/>
              </a:rPr>
              <a:t>痛点 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一次性项目、不复利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51576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35CB7A"/>
                </a:solidFill>
                <a:latin typeface="Microsoft YaHei"/>
              </a:rPr>
              <a:t>→  </a:t>
            </a:r>
            <a:r>
              <a:rPr sz="1150" b="0">
                <a:solidFill>
                  <a:srgbClr val="CFD7E6"/>
                </a:solidFill>
                <a:latin typeface="Microsoft YaHei"/>
              </a:rPr>
              <a:t>反馈学习让系统越用越聪明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3258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复利护城河：越用越深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874519"/>
            <a:ext cx="5029200" cy="749808"/>
          </a:xfrm>
          <a:prstGeom prst="rect">
            <a:avLst/>
          </a:prstGeom>
          <a:solidFill>
            <a:srgbClr val="24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874519"/>
            <a:ext cx="502920" cy="749808"/>
          </a:xfrm>
          <a:prstGeom prst="rect">
            <a:avLst/>
          </a:prstGeom>
          <a:solidFill>
            <a:srgbClr val="2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874519"/>
            <a:ext cx="502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01424"/>
                </a:solidFill>
                <a:latin typeface="Microsoft YaHe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1965959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更多业务接入本体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对象/链接更丰富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606039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2E9BF0"/>
                </a:solidFill>
                <a:latin typeface="Microsoft YaHei"/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788919"/>
            <a:ext cx="5029200" cy="749808"/>
          </a:xfrm>
          <a:prstGeom prst="rect">
            <a:avLst/>
          </a:prstGeom>
          <a:solidFill>
            <a:srgbClr val="24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2788919"/>
            <a:ext cx="502920" cy="749808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788919"/>
            <a:ext cx="502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01424"/>
                </a:solidFill>
                <a:latin typeface="Microsoft YaHe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2880359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AI 在本体上做更多动作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覆盖更多工作流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520439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48C06"/>
                </a:solidFill>
                <a:latin typeface="Microsoft YaHei"/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703319"/>
            <a:ext cx="5029200" cy="749808"/>
          </a:xfrm>
          <a:prstGeom prst="rect">
            <a:avLst/>
          </a:prstGeom>
          <a:solidFill>
            <a:srgbClr val="24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3703319"/>
            <a:ext cx="502920" cy="749808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703319"/>
            <a:ext cx="502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01424"/>
                </a:solidFill>
                <a:latin typeface="Microsoft YaHe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3794759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行动日志沉淀决策数据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形成专有数据资产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434839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C43D"/>
                </a:solidFill>
                <a:latin typeface="Microsoft YaHei"/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617719"/>
            <a:ext cx="5029200" cy="749808"/>
          </a:xfrm>
          <a:prstGeom prst="rect">
            <a:avLst/>
          </a:prstGeom>
          <a:solidFill>
            <a:srgbClr val="24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4617719"/>
            <a:ext cx="502920" cy="749808"/>
          </a:xfrm>
          <a:prstGeom prst="rect">
            <a:avLst/>
          </a:prstGeom>
          <a:solidFill>
            <a:srgbClr val="35C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617719"/>
            <a:ext cx="502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01424"/>
                </a:solidFill>
                <a:latin typeface="Microsoft YaHe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4709159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反馈学习持续优化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效果提升、迁移成本上升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5623560"/>
            <a:ext cx="5029200" cy="841248"/>
          </a:xfrm>
          <a:prstGeom prst="rect">
            <a:avLst/>
          </a:prstGeom>
          <a:solidFill>
            <a:srgbClr val="30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9400" y="5724144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C8C0"/>
                </a:solidFill>
                <a:latin typeface="Microsoft YaHei"/>
              </a:rPr>
              <a:t>结论：</a:t>
            </a:r>
            <a:r>
              <a:rPr sz="1150" b="0">
                <a:solidFill>
                  <a:srgbClr val="CFD7E6"/>
                </a:solidFill>
                <a:latin typeface="Microsoft YaHei"/>
              </a:rPr>
              <a:t>护城河不在算法，而在“被本体建模的组织知识 + 沉淀的决策数据”——竞品难以复制，客户难以迁移。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7A2B6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8C06"/>
                </a:solidFill>
                <a:latin typeface="Microsoft YaHei"/>
              </a:rPr>
              <a:t>AIP · AI 平台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AIP 是什么：把生成式 AI 接入“运营”的引擎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9844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48C06"/>
                </a:solidFill>
                <a:latin typeface="Microsoft YaHei"/>
              </a:rPr>
              <a:t>定位　</a:t>
            </a:r>
            <a:r>
              <a:rPr sz="1350" b="0">
                <a:solidFill>
                  <a:srgbClr val="CFD7E6"/>
                </a:solidFill>
                <a:latin typeface="Microsoft YaHei"/>
              </a:rPr>
              <a:t>AIP (Artificial Intelligence Platform) 把大模型从“会聊天”升级为“会干活”——让 LLM 在本体的对象与动作之上感知数据、调用工具、触发真实业务行动，并在企业级安全边界内运行。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240280"/>
            <a:ext cx="5257800" cy="182880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240280"/>
            <a:ext cx="5257800" cy="457200"/>
          </a:xfrm>
          <a:prstGeom prst="rect">
            <a:avLst/>
          </a:prstGeom>
          <a:solidFill>
            <a:srgbClr val="30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286000"/>
            <a:ext cx="4937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97A2B6"/>
                </a:solidFill>
                <a:latin typeface="Microsoft YaHei"/>
              </a:rPr>
              <a:t>通用聊天机器人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Microsoft YaHei"/>
              </a:rPr>
              <a:t>✕ </a:t>
            </a:r>
            <a:r>
              <a:rPr sz="1200" b="0">
                <a:solidFill>
                  <a:srgbClr val="CFD7E6"/>
                </a:solidFill>
                <a:latin typeface="Microsoft YaHei"/>
              </a:rPr>
              <a:t>脱离企业数据，易幻觉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9067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Microsoft YaHei"/>
              </a:rPr>
              <a:t>✕ </a:t>
            </a:r>
            <a:r>
              <a:rPr sz="1200" b="0">
                <a:solidFill>
                  <a:srgbClr val="CFD7E6"/>
                </a:solidFill>
                <a:latin typeface="Microsoft YaHei"/>
              </a:rPr>
              <a:t>只能给“建议”，无法执行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924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Microsoft YaHei"/>
              </a:rPr>
              <a:t>✕ </a:t>
            </a:r>
            <a:r>
              <a:rPr sz="1200" b="0">
                <a:solidFill>
                  <a:srgbClr val="CFD7E6"/>
                </a:solidFill>
                <a:latin typeface="Microsoft YaHei"/>
              </a:rPr>
              <a:t>无权限/审计，难以治理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9417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Microsoft YaHei"/>
              </a:rPr>
              <a:t>✕ </a:t>
            </a:r>
            <a:r>
              <a:rPr sz="1200" b="0">
                <a:solidFill>
                  <a:srgbClr val="CFD7E6"/>
                </a:solidFill>
                <a:latin typeface="Microsoft YaHei"/>
              </a:rPr>
              <a:t>项目难以规模化、不复利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2240280"/>
            <a:ext cx="5532120" cy="182880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2240280"/>
            <a:ext cx="5532120" cy="457200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286000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1424"/>
                </a:solidFill>
                <a:latin typeface="Microsoft YaHei"/>
              </a:rPr>
              <a:t>Palantir AIP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889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CB7A"/>
                </a:solidFill>
                <a:latin typeface="Microsoft YaHei"/>
              </a:rPr>
              <a:t>✓ </a:t>
            </a:r>
            <a:r>
              <a:rPr sz="1200" b="0">
                <a:solidFill>
                  <a:srgbClr val="CFD7E6"/>
                </a:solidFill>
                <a:latin typeface="Microsoft YaHei"/>
              </a:rPr>
              <a:t>扎根本体，回答有据可查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9067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CB7A"/>
                </a:solidFill>
                <a:latin typeface="Microsoft YaHei"/>
              </a:rPr>
              <a:t>✓ </a:t>
            </a:r>
            <a:r>
              <a:rPr sz="1200" b="0">
                <a:solidFill>
                  <a:srgbClr val="CFD7E6"/>
                </a:solidFill>
                <a:latin typeface="Microsoft YaHei"/>
              </a:rPr>
              <a:t>可直接触发动作、写回系统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924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CB7A"/>
                </a:solidFill>
                <a:latin typeface="Microsoft YaHei"/>
              </a:rPr>
              <a:t>✓ </a:t>
            </a:r>
            <a:r>
              <a:rPr sz="1200" b="0">
                <a:solidFill>
                  <a:srgbClr val="CFD7E6"/>
                </a:solidFill>
                <a:latin typeface="Microsoft YaHei"/>
              </a:rPr>
              <a:t>继承动态安全与行动日志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941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CB7A"/>
                </a:solidFill>
                <a:latin typeface="Microsoft YaHei"/>
              </a:rPr>
              <a:t>✓ </a:t>
            </a:r>
            <a:r>
              <a:rPr sz="1200" b="0">
                <a:solidFill>
                  <a:srgbClr val="CFD7E6"/>
                </a:solidFill>
                <a:latin typeface="Microsoft YaHei"/>
              </a:rPr>
              <a:t>工作流复用 + 反馈学习复利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4343400"/>
            <a:ext cx="3520440" cy="1325880"/>
          </a:xfrm>
          <a:prstGeom prst="rect">
            <a:avLst/>
          </a:prstGeom>
          <a:solidFill>
            <a:srgbClr val="24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4343400"/>
            <a:ext cx="3520440" cy="54864"/>
          </a:xfrm>
          <a:prstGeom prst="rect">
            <a:avLst/>
          </a:prstGeom>
          <a:solidFill>
            <a:srgbClr val="2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988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9BF0"/>
                </a:solidFill>
                <a:latin typeface="Microsoft YaHei"/>
              </a:rPr>
              <a:t>数据感知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19472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理解本体对象/属性/链接，回答基于真实业务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43984" y="4343400"/>
            <a:ext cx="3520440" cy="1325880"/>
          </a:xfrm>
          <a:prstGeom prst="rect">
            <a:avLst/>
          </a:prstGeom>
          <a:solidFill>
            <a:srgbClr val="24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43984" y="4343400"/>
            <a:ext cx="3520440" cy="54864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44988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C8C0"/>
                </a:solidFill>
                <a:latin typeface="Microsoft YaHei"/>
              </a:rPr>
              <a:t>工具调用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919472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调度函数与动作，编排跨系统决策流程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74736" y="4343400"/>
            <a:ext cx="3520440" cy="1325880"/>
          </a:xfrm>
          <a:prstGeom prst="rect">
            <a:avLst/>
          </a:prstGeom>
          <a:solidFill>
            <a:srgbClr val="24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74736" y="4343400"/>
            <a:ext cx="3520440" cy="54864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75904" y="44988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C43D"/>
                </a:solidFill>
                <a:latin typeface="Microsoft YaHei"/>
              </a:rPr>
              <a:t>反馈学习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4919472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捕获专家反馈，体验“每天都在变好”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897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48C06"/>
                </a:solidFill>
                <a:latin typeface="Microsoft YaHei"/>
              </a:rPr>
              <a:t>一句话　</a:t>
            </a:r>
            <a:r>
              <a:rPr sz="1250" b="0">
                <a:solidFill>
                  <a:srgbClr val="CFD7E6"/>
                </a:solidFill>
                <a:latin typeface="Microsoft YaHei"/>
              </a:rPr>
              <a:t>本体提供“业务语言与行动接口”，AIP 提供“会用这套语言行动的 AI”——二者缺一不可。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7A2B6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8C06"/>
                </a:solidFill>
                <a:latin typeface="Microsoft YaHei"/>
              </a:rPr>
              <a:t>AIP · AI 平台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AIP 架构：本体之上的安全 AI 编排层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417320"/>
            <a:ext cx="9784080" cy="914400"/>
          </a:xfrm>
          <a:prstGeom prst="rect">
            <a:avLst/>
          </a:prstGeom>
          <a:solidFill>
            <a:srgbClr val="332612"/>
          </a:solidFill>
          <a:ln w="17780">
            <a:solidFill>
              <a:srgbClr val="F48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1417320"/>
            <a:ext cx="109728" cy="914400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536192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8C06"/>
                </a:solidFill>
                <a:latin typeface="Microsoft YaHei"/>
              </a:rPr>
              <a:t>应用与交付层  AI Mesh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92808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Foundry + Apollo + AIP 协同：从 LLM Web 应用、视觉-语言移动应用，到嵌入式边缘 AI 全谱交付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441448"/>
            <a:ext cx="9784080" cy="914400"/>
          </a:xfrm>
          <a:prstGeom prst="rect">
            <a:avLst/>
          </a:prstGeom>
          <a:solidFill>
            <a:srgbClr val="123033"/>
          </a:solidFill>
          <a:ln w="17780">
            <a:solidFill>
              <a:srgbClr val="1AC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720" y="2441448"/>
            <a:ext cx="109728" cy="914400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5603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C8C0"/>
                </a:solidFill>
                <a:latin typeface="Microsoft YaHei"/>
              </a:rPr>
              <a:t>AI 编排层 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916936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Agent / 工作流编排 · 工具(动作·函数)调用 · 人在回路审批 · 专家反馈捕获与学习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3465576"/>
            <a:ext cx="9784080" cy="914400"/>
          </a:xfrm>
          <a:prstGeom prst="rect">
            <a:avLst/>
          </a:prstGeom>
          <a:solidFill>
            <a:srgbClr val="332C12"/>
          </a:solidFill>
          <a:ln w="17780">
            <a:solidFill>
              <a:srgbClr val="FFC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" y="3465576"/>
            <a:ext cx="109728" cy="914400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3584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C43D"/>
                </a:solidFill>
                <a:latin typeface="Microsoft YaHei"/>
              </a:rPr>
              <a:t>安全 LLM 接入层  Secure LLM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41064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经 Palantir 托管基础设施安全接入商用与开源模型；传输数据不被第三方模型提供商留存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4489704"/>
            <a:ext cx="9784080" cy="914400"/>
          </a:xfrm>
          <a:prstGeom prst="rect">
            <a:avLst/>
          </a:prstGeom>
          <a:solidFill>
            <a:srgbClr val="12223A"/>
          </a:solidFill>
          <a:ln w="17780">
            <a:solidFill>
              <a:srgbClr val="2E9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88720" y="4489704"/>
            <a:ext cx="109728" cy="914400"/>
          </a:xfrm>
          <a:prstGeom prst="rect">
            <a:avLst/>
          </a:prstGeom>
          <a:solidFill>
            <a:srgbClr val="2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4608576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2E9BF0"/>
                </a:solidFill>
                <a:latin typeface="Microsoft YaHei"/>
              </a:rPr>
              <a:t>本体层  Ontology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965192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对象·属性·链接(语义) + 动作·函数·动态安全(动力)——AI 行动的统一底座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5513832"/>
            <a:ext cx="9784080" cy="914400"/>
          </a:xfrm>
          <a:prstGeom prst="rect">
            <a:avLst/>
          </a:prstGeom>
          <a:solidFill>
            <a:srgbClr val="242E4F"/>
          </a:solidFill>
          <a:ln w="17780">
            <a:solidFill>
              <a:srgbClr val="9B5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88720" y="5513832"/>
            <a:ext cx="109728" cy="914400"/>
          </a:xfrm>
          <a:prstGeom prst="rect">
            <a:avLst/>
          </a:prstGeom>
          <a:solidFill>
            <a:srgbClr val="9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563270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9B59C6"/>
                </a:solidFill>
                <a:latin typeface="Microsoft YaHei"/>
              </a:rPr>
              <a:t>数据与基础设施层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989320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数据集成/管道 · 跨云·本地·边缘部署(Apollo) · 细粒度权限与审计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1417320"/>
            <a:ext cx="731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97A2B6"/>
                </a:solidFill>
                <a:latin typeface="Microsoft YaHei"/>
              </a:rPr>
              <a:t>应
用
↓
数
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7A2B6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8C06"/>
                </a:solidFill>
                <a:latin typeface="Microsoft YaHei"/>
              </a:rPr>
              <a:t>AIP · AI 平台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AIP Bootcamp：重塑企业软件的 GTM 打法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9844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8C06"/>
                </a:solidFill>
                <a:latin typeface="Microsoft YaHei"/>
              </a:rPr>
              <a:t>核心理念　</a:t>
            </a:r>
            <a:r>
              <a:rPr sz="1350" b="0">
                <a:solidFill>
                  <a:srgbClr val="CFD7E6"/>
                </a:solidFill>
                <a:latin typeface="Microsoft YaHei"/>
              </a:rPr>
              <a:t>“用客户的真实数据，在几天内交付真实工作流”——先让客户看到价值，再谈采购。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65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5 天：从 0 到真实用例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23160"/>
            <a:ext cx="5349240" cy="786384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423160"/>
            <a:ext cx="822960" cy="786384"/>
          </a:xfrm>
          <a:prstGeom prst="rect">
            <a:avLst/>
          </a:prstGeom>
          <a:solidFill>
            <a:srgbClr val="2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8229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01424"/>
                </a:solidFill>
                <a:latin typeface="Microsoft YaHei"/>
              </a:rPr>
              <a:t>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32888"/>
            <a:ext cx="4297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E9BF0"/>
                </a:solidFill>
                <a:latin typeface="Microsoft YaHei"/>
              </a:rPr>
              <a:t>接入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连接客户真实数据，构建/复用本体对象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319272"/>
            <a:ext cx="5349240" cy="786384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3319272"/>
            <a:ext cx="822960" cy="786384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319272"/>
            <a:ext cx="8229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01424"/>
                </a:solidFill>
                <a:latin typeface="Microsoft YaHei"/>
              </a:rPr>
              <a:t>D2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429000"/>
            <a:ext cx="4297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C8C0"/>
                </a:solidFill>
                <a:latin typeface="Microsoft YaHei"/>
              </a:rPr>
              <a:t>建模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定义关键工作流与动作，明确决策点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215384"/>
            <a:ext cx="5349240" cy="786384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4215384"/>
            <a:ext cx="822960" cy="786384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215384"/>
            <a:ext cx="8229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01424"/>
                </a:solidFill>
                <a:latin typeface="Microsoft YaHei"/>
              </a:rPr>
              <a:t>D3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325112"/>
            <a:ext cx="4297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48C06"/>
                </a:solidFill>
                <a:latin typeface="Microsoft YaHei"/>
              </a:rPr>
              <a:t>构建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用 AIP 搭建 AI 驱动的运营应用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5111496"/>
            <a:ext cx="5349240" cy="786384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5111496"/>
            <a:ext cx="822960" cy="786384"/>
          </a:xfrm>
          <a:prstGeom prst="rect">
            <a:avLst/>
          </a:prstGeom>
          <a:solidFill>
            <a:srgbClr val="35C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111496"/>
            <a:ext cx="8229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01424"/>
                </a:solidFill>
                <a:latin typeface="Microsoft YaHei"/>
              </a:rPr>
              <a:t>D4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221224"/>
            <a:ext cx="4297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35CB7A"/>
                </a:solidFill>
                <a:latin typeface="Microsoft YaHei"/>
              </a:rPr>
              <a:t>见效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跑出可量化 ROI 的真实用例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9659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可量化的商业成效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423160"/>
            <a:ext cx="2542032" cy="1188720"/>
          </a:xfrm>
          <a:prstGeom prst="rect">
            <a:avLst/>
          </a:prstGeom>
          <a:solidFill>
            <a:srgbClr val="24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423160"/>
            <a:ext cx="2542032" cy="54864"/>
          </a:xfrm>
          <a:prstGeom prst="rect">
            <a:avLst/>
          </a:prstGeom>
          <a:solidFill>
            <a:srgbClr val="35C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624328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35CB7A"/>
                </a:solidFill>
                <a:latin typeface="Microsoft YaHei"/>
              </a:rPr>
              <a:t>~75%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172968"/>
            <a:ext cx="2359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Bootcamp 转化率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70848" y="2423160"/>
            <a:ext cx="2542032" cy="1188720"/>
          </a:xfrm>
          <a:prstGeom prst="rect">
            <a:avLst/>
          </a:prstGeom>
          <a:solidFill>
            <a:srgbClr val="24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0848" y="2423160"/>
            <a:ext cx="2542032" cy="54864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624328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C43D"/>
                </a:solidFill>
                <a:latin typeface="Microsoft YaHei"/>
              </a:rPr>
              <a:t>~1年 → 数天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3172968"/>
            <a:ext cx="2359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销售周期压缩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49040"/>
            <a:ext cx="2542032" cy="1188720"/>
          </a:xfrm>
          <a:prstGeom prst="rect">
            <a:avLst/>
          </a:prstGeom>
          <a:solidFill>
            <a:srgbClr val="24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3749040"/>
            <a:ext cx="2542032" cy="54864"/>
          </a:xfrm>
          <a:prstGeom prst="rect">
            <a:avLst/>
          </a:prstGeom>
          <a:solidFill>
            <a:srgbClr val="2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950208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E9BF0"/>
                </a:solidFill>
                <a:latin typeface="Microsoft YaHei"/>
              </a:rPr>
              <a:t>+22%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498848"/>
            <a:ext cx="2359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US商业新客环比增速(Q4)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70848" y="3749040"/>
            <a:ext cx="2542032" cy="1188720"/>
          </a:xfrm>
          <a:prstGeom prst="rect">
            <a:avLst/>
          </a:prstGeom>
          <a:solidFill>
            <a:srgbClr val="24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70848" y="3749040"/>
            <a:ext cx="2542032" cy="54864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0848" y="3950208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AC8C0"/>
                </a:solidFill>
                <a:latin typeface="Microsoft YaHei"/>
              </a:rPr>
              <a:t>1,007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288" y="4498848"/>
            <a:ext cx="2359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TTM 商业客户 (+31% YoY)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166360"/>
            <a:ext cx="5330952" cy="914400"/>
          </a:xfrm>
          <a:prstGeom prst="rect">
            <a:avLst/>
          </a:prstGeom>
          <a:solidFill>
            <a:srgbClr val="30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5266944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48C06"/>
                </a:solidFill>
                <a:latin typeface="Microsoft YaHei"/>
              </a:rPr>
              <a:t>GTM 创新：</a:t>
            </a:r>
            <a:r>
              <a:rPr sz="1150" b="0">
                <a:solidFill>
                  <a:srgbClr val="CFD7E6"/>
                </a:solidFill>
                <a:latin typeface="Microsoft YaHei"/>
              </a:rPr>
              <a:t>把“先见效再付费”产品化，用高触达交付换取高转化与短周期——本质是用本体+AIP的“快速验证能力”作为最强销售武器。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7A2B6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C8C0"/>
                </a:solidFill>
                <a:latin typeface="Microsoft YaHei"/>
              </a:rPr>
              <a:t>SYNERGY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本体 × AIP：1+1 远大于 2 的价值飞轮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828800"/>
            <a:ext cx="3291840" cy="2377440"/>
          </a:xfrm>
          <a:prstGeom prst="roundRect">
            <a:avLst/>
          </a:prstGeom>
          <a:solidFill>
            <a:srgbClr val="123038"/>
          </a:solidFill>
          <a:ln w="25400">
            <a:solidFill>
              <a:srgbClr val="1AC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AC8C0"/>
                </a:solidFill>
                <a:latin typeface="Microsoft YaHei"/>
              </a:rPr>
              <a:t>本体 Ontology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46888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CFD7E6"/>
                </a:solidFill>
                <a:latin typeface="Microsoft YaHei"/>
              </a:rPr>
              <a:t>提供业务语言与行动接口</a:t>
            </a:r>
          </a:p>
          <a:p>
            <a:pPr algn="l">
              <a:spcBef>
                <a:spcPts val="600"/>
              </a:spcBef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· 统一语义真相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· 可执行的动作层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· 动态安全与溯源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828800"/>
            <a:ext cx="3291840" cy="2377440"/>
          </a:xfrm>
          <a:prstGeom prst="roundRect">
            <a:avLst/>
          </a:prstGeom>
          <a:solidFill>
            <a:srgbClr val="332612"/>
          </a:solidFill>
          <a:ln w="25400">
            <a:solidFill>
              <a:srgbClr val="F48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9659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48C06"/>
                </a:solidFill>
                <a:latin typeface="Microsoft YaHei"/>
              </a:rPr>
              <a:t>AIP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46888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CFD7E6"/>
                </a:solidFill>
                <a:latin typeface="Microsoft YaHei"/>
              </a:rPr>
              <a:t>提供会行动的 AI</a:t>
            </a:r>
          </a:p>
          <a:p>
            <a:pPr algn="l">
              <a:spcBef>
                <a:spcPts val="600"/>
              </a:spcBef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· 数据感知问答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· 工具/动作编排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· 专家反馈学习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48840"/>
            <a:ext cx="3017520" cy="1737360"/>
          </a:xfrm>
          <a:prstGeom prst="round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01424"/>
                </a:solidFill>
                <a:latin typeface="Microsoft YaHei"/>
              </a:rPr>
              <a:t>协同效应</a:t>
            </a:r>
          </a:p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01424"/>
                </a:solidFill>
                <a:latin typeface="Microsoft YaHei"/>
              </a:rPr>
              <a:t>AI 在可信业务底座上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101424"/>
                </a:solidFill>
                <a:latin typeface="Microsoft YaHei"/>
              </a:rPr>
              <a:t>安全地“理解→决策→执行→学习”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28346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AC8C0"/>
                </a:solidFill>
                <a:latin typeface="Microsoft YaHe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8346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48C06"/>
                </a:solidFill>
                <a:latin typeface="Microsoft YaHei"/>
              </a:rPr>
              <a:t>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617720"/>
            <a:ext cx="2606040" cy="137160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4617720"/>
            <a:ext cx="2606040" cy="54864"/>
          </a:xfrm>
          <a:prstGeom prst="rect">
            <a:avLst/>
          </a:prstGeom>
          <a:solidFill>
            <a:srgbClr val="35C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80060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5CB7A"/>
                </a:solidFill>
                <a:latin typeface="Microsoft YaHei"/>
              </a:rPr>
              <a:t>可信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285232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回答与行动皆有据可溯源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2152" y="4617720"/>
            <a:ext cx="2606040" cy="137160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02152" y="4617720"/>
            <a:ext cx="2606040" cy="54864"/>
          </a:xfrm>
          <a:prstGeom prst="rect">
            <a:avLst/>
          </a:prstGeom>
          <a:solidFill>
            <a:srgbClr val="2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2152" y="480060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9BF0"/>
                </a:solidFill>
                <a:latin typeface="Microsoft YaHei"/>
              </a:rPr>
              <a:t>可执行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6744" y="5285232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AI 输出直接写回业务系统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4617720"/>
            <a:ext cx="2606040" cy="137160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91072" y="4617720"/>
            <a:ext cx="2606040" cy="54864"/>
          </a:xfrm>
          <a:prstGeom prst="rect">
            <a:avLst/>
          </a:prstGeom>
          <a:solidFill>
            <a:srgbClr val="9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80060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9B59C6"/>
                </a:solidFill>
                <a:latin typeface="Microsoft YaHei"/>
              </a:rPr>
              <a:t>可治理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5285232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继承权限/审计/合规边界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79992" y="4617720"/>
            <a:ext cx="2606040" cy="137160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79992" y="4617720"/>
            <a:ext cx="2606040" cy="54864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9992" y="480060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C43D"/>
                </a:solidFill>
                <a:latin typeface="Microsoft YaHei"/>
              </a:rPr>
              <a:t>会复利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584" y="5285232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反馈学习让系统越用越强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17220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CFD7E6"/>
                </a:solidFill>
                <a:latin typeface="Microsoft YaHei"/>
              </a:rPr>
              <a:t>这正是 Palantir 难以被“模型厂商 + BI 工具”组合替代的根本原因：护城河来自二者的耦合，而非单点能力。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7A2B6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C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35C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CB7A"/>
                </a:solidFill>
                <a:latin typeface="Microsoft YaHei"/>
              </a:rPr>
              <a:t>FINANCIALS · Q1 FY2026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财务实证：应用层价值正在加速兑现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724912" cy="169164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724912" cy="64008"/>
          </a:xfrm>
          <a:prstGeom prst="rect">
            <a:avLst/>
          </a:prstGeom>
          <a:solidFill>
            <a:srgbClr val="35C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35CB7A"/>
                </a:solidFill>
                <a:latin typeface="Microsoft YaHei"/>
              </a:rPr>
              <a:t>$1.6B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2724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总营收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97A2B6"/>
                </a:solidFill>
                <a:latin typeface="Microsoft YaHei"/>
              </a:rPr>
              <a:t>YoY +85% · 上市以来最快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371600"/>
            <a:ext cx="2724912" cy="169164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1371600"/>
            <a:ext cx="2724912" cy="64008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1572768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48C06"/>
                </a:solidFill>
                <a:latin typeface="Microsoft YaHei"/>
              </a:rPr>
              <a:t>+133%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212848"/>
            <a:ext cx="2724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US 商业营收增速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606040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97A2B6"/>
                </a:solidFill>
                <a:latin typeface="Microsoft YaHei"/>
              </a:rPr>
              <a:t>$595M · QoQ +18%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7064" y="1371600"/>
            <a:ext cx="2724912" cy="169164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1371600"/>
            <a:ext cx="2724912" cy="64008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572768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AC8C0"/>
                </a:solidFill>
                <a:latin typeface="Microsoft YaHei"/>
              </a:rPr>
              <a:t>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212848"/>
            <a:ext cx="2724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调整后经营利润率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606040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97A2B6"/>
                </a:solidFill>
                <a:latin typeface="Microsoft YaHei"/>
              </a:rPr>
              <a:t>经营利润 $984M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9136" y="1371600"/>
            <a:ext cx="2724912" cy="169164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89136" y="1371600"/>
            <a:ext cx="2724912" cy="64008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9136" y="1572768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C43D"/>
                </a:solidFill>
                <a:latin typeface="Microsoft YaHei"/>
              </a:rPr>
              <a:t>$871M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2212848"/>
            <a:ext cx="2724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GAAP 净利润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606040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97A2B6"/>
                </a:solidFill>
                <a:latin typeface="Microsoft YaHei"/>
              </a:rPr>
              <a:t>调整后 EPS $0.33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291840"/>
            <a:ext cx="5486400" cy="233172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291840"/>
            <a:ext cx="5486400" cy="64008"/>
          </a:xfrm>
          <a:prstGeom prst="rect">
            <a:avLst/>
          </a:prstGeom>
          <a:solidFill>
            <a:srgbClr val="2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290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增长结构：商业与政府双轮驱动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931920"/>
            <a:ext cx="109728" cy="237744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3886200"/>
            <a:ext cx="1828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US 商业营收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3886200"/>
            <a:ext cx="3108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CFD7E6"/>
                </a:solidFill>
                <a:latin typeface="Microsoft YaHei"/>
              </a:rPr>
              <a:t>$595M  ·  +133% YoY  ·  +18% QoQ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270248"/>
            <a:ext cx="109728" cy="237744"/>
          </a:xfrm>
          <a:prstGeom prst="rect">
            <a:avLst/>
          </a:prstGeom>
          <a:solidFill>
            <a:srgbClr val="2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224528"/>
            <a:ext cx="1828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US 政府营收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4224528"/>
            <a:ext cx="3108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CFD7E6"/>
                </a:solidFill>
                <a:latin typeface="Microsoft YaHei"/>
              </a:rPr>
              <a:t>$687M  ·  +84% YoY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608576"/>
            <a:ext cx="109728" cy="237744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4562856"/>
            <a:ext cx="1828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US 总营收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4562856"/>
            <a:ext cx="3108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CFD7E6"/>
                </a:solidFill>
                <a:latin typeface="Microsoft YaHei"/>
              </a:rPr>
              <a:t>首次突破 100% 增长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946904"/>
            <a:ext cx="109728" cy="237744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901184"/>
            <a:ext cx="1828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TTM 商业客户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4901184"/>
            <a:ext cx="3108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CFD7E6"/>
                </a:solidFill>
                <a:latin typeface="Microsoft YaHei"/>
              </a:rPr>
              <a:t>1,007 家  ·  +31% YoY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285232"/>
            <a:ext cx="109728" cy="237744"/>
          </a:xfrm>
          <a:prstGeom prst="rect">
            <a:avLst/>
          </a:prstGeom>
          <a:solidFill>
            <a:srgbClr val="35C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5239512"/>
            <a:ext cx="1828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ARR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5239512"/>
            <a:ext cx="3108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CFD7E6"/>
                </a:solidFill>
                <a:latin typeface="Microsoft YaHei"/>
              </a:rPr>
              <a:t>$6.5B+ ，AIP 驱动加速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45352" y="3291840"/>
            <a:ext cx="5468112" cy="233172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45352" y="3291840"/>
            <a:ext cx="5468112" cy="64008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3952" y="34290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FY2026 全年指引（上调）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3931920"/>
            <a:ext cx="5029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>
                <a:solidFill>
                  <a:srgbClr val="FFC43D"/>
                </a:solidFill>
                <a:latin typeface="Microsoft YaHei"/>
              </a:rPr>
              <a:t>全年营收　</a:t>
            </a:r>
            <a:r>
              <a:rPr sz="1300" b="0">
                <a:solidFill>
                  <a:srgbClr val="CFD7E6"/>
                </a:solidFill>
                <a:latin typeface="Microsoft YaHei"/>
              </a:rPr>
              <a:t>$7.650B – $7.662B（+71% YoY）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FFC43D"/>
                </a:solidFill>
                <a:latin typeface="Microsoft YaHei"/>
              </a:rPr>
              <a:t>US 商业　</a:t>
            </a:r>
            <a:r>
              <a:rPr sz="1300" b="0">
                <a:solidFill>
                  <a:srgbClr val="CFD7E6"/>
                </a:solidFill>
                <a:latin typeface="Microsoft YaHei"/>
              </a:rPr>
              <a:t>&gt; $3.224B（增速 ≥ 120%）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300" b="1">
                <a:solidFill>
                  <a:srgbClr val="FFC43D"/>
                </a:solidFill>
                <a:latin typeface="Microsoft YaHei"/>
              </a:rPr>
              <a:t>信号　</a:t>
            </a:r>
            <a:r>
              <a:rPr sz="1300" b="0">
                <a:solidFill>
                  <a:srgbClr val="CFD7E6"/>
                </a:solidFill>
                <a:latin typeface="Microsoft YaHei"/>
              </a:rPr>
              <a:t>较前次指引中值上调约 10 个百分点，AI 需求是主驱动。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8064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5CB7A"/>
                </a:solidFill>
                <a:latin typeface="Microsoft YaHei"/>
              </a:rPr>
              <a:t>解读　</a:t>
            </a:r>
            <a:r>
              <a:rPr sz="1250" b="0">
                <a:solidFill>
                  <a:srgbClr val="CFD7E6"/>
                </a:solidFill>
                <a:latin typeface="Microsoft YaHei"/>
              </a:rPr>
              <a:t>高增长 + 高利润率同时实现，说明本体+AIP 不是“烧钱换增长”，而是高毛利、可复利的应用层价值——这正是“倒金字塔”中应用层应有的经济回报。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7A2B6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C43D"/>
                </a:solidFill>
                <a:latin typeface="Microsoft YaHei"/>
              </a:rPr>
              <a:t>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对“行业智能化”的方法论启示与关键路径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801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43D"/>
                </a:solidFill>
                <a:latin typeface="Microsoft YaHei"/>
              </a:rPr>
              <a:t>Palantir 给行业智能化项目的可复制路径：</a:t>
            </a:r>
            <a:r>
              <a:rPr sz="1400" b="0">
                <a:solidFill>
                  <a:srgbClr val="CFD7E6"/>
                </a:solidFill>
                <a:latin typeface="Microsoft YaHei"/>
              </a:rPr>
              <a:t>先建本体，再接 AI，以快速验证驱动规模化。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3611880" cy="192024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3611880" cy="54864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C8C0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21408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先建“行业本体”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把行业的核心对象、关系、动作、规则建模为统一语义底座，让 AI 与人共享真相。这是任何行业智能化的“地基工程”。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611880" cy="192024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920240"/>
            <a:ext cx="3611880" cy="54864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084832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48C06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121408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把 AI 接入“行动闭环”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788920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不要止步于问答/报表，要让 AI 直接触发审批、调度、下单等真实动作，在闭环中产生可量化 ROI。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920240"/>
            <a:ext cx="3611880" cy="192024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920240"/>
            <a:ext cx="3611880" cy="54864"/>
          </a:xfrm>
          <a:prstGeom prst="rect">
            <a:avLst/>
          </a:prstGeom>
          <a:solidFill>
            <a:srgbClr val="9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084832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9B59C6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121408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安全与治理前置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788920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动态权限、审计、决策溯源必须内建，否则行业(金融/医疗/制造)无法规模化采用。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23360"/>
            <a:ext cx="3611880" cy="192024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023360"/>
            <a:ext cx="3611880" cy="54864"/>
          </a:xfrm>
          <a:prstGeom prst="rect">
            <a:avLst/>
          </a:prstGeom>
          <a:solidFill>
            <a:srgbClr val="35C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87952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5CB7A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224528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以“快速验证”破局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用类 Bootcamp 的方式，几天内跑出真实用例，先证明价值再规模采购，压缩决策周期。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4023360"/>
            <a:ext cx="3611880" cy="192024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4023360"/>
            <a:ext cx="3611880" cy="54864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4187952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C43D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224528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构建反馈复利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892040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沉淀专有决策数据、引入反馈学习，让系统越用越强，形成应用层独有护城河。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2440" y="4023360"/>
            <a:ext cx="3611880" cy="192024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4023360"/>
            <a:ext cx="3611880" cy="54864"/>
          </a:xfrm>
          <a:prstGeom prst="rect">
            <a:avLst/>
          </a:prstGeom>
          <a:solidFill>
            <a:srgbClr val="2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187952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E9BF0"/>
                </a:solidFill>
                <a:latin typeface="Microsoft Ya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224528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捕获应用层价值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892040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CFD7E6"/>
                </a:solidFill>
                <a:latin typeface="Microsoft YaHei"/>
              </a:rPr>
              <a:t>价值不在模型/算力，而在“模型驱动业务行动”。应用层应主动定义并捕获这部分增量价值。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7A2B6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Microsoft YaHei"/>
              </a:rPr>
              <a:t>RISKS &amp;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风险与挑战：标杆不等于可直接照搬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0" cy="146304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73152" cy="14630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8191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Microsoft YaHei"/>
              </a:rPr>
              <a:t>⚠ </a:t>
            </a:r>
            <a:r>
              <a:rPr sz="1500" b="1">
                <a:solidFill>
                  <a:srgbClr val="FFFFFF"/>
                </a:solidFill>
                <a:latin typeface="Microsoft YaHei"/>
              </a:rPr>
              <a:t>估值与预期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20824"/>
            <a:ext cx="5029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高速增长已被高估值充分定价，任何减速都可能引发剧烈回调；增长可持续性需持续验证。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486400" cy="146304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73152" cy="1463040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8191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8C06"/>
                </a:solidFill>
                <a:latin typeface="Microsoft YaHei"/>
              </a:rPr>
              <a:t>⚠ </a:t>
            </a:r>
            <a:r>
              <a:rPr sz="1500" b="1">
                <a:solidFill>
                  <a:srgbClr val="FFFFFF"/>
                </a:solidFill>
                <a:latin typeface="Microsoft YaHei"/>
              </a:rPr>
              <a:t>高触达交付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20824"/>
            <a:ext cx="5029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Bootcamp/前向部署工程师模式人力密集，规模化与毛利之间存在张力，复制到长尾客户有难度。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44952"/>
            <a:ext cx="5486400" cy="146304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044952"/>
            <a:ext cx="73152" cy="1463040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0954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43D"/>
                </a:solidFill>
                <a:latin typeface="Microsoft YaHei"/>
              </a:rPr>
              <a:t>⚠ </a:t>
            </a:r>
            <a:r>
              <a:rPr sz="1500" b="1">
                <a:solidFill>
                  <a:srgbClr val="FFFFFF"/>
                </a:solidFill>
                <a:latin typeface="Microsoft YaHei"/>
              </a:rPr>
              <a:t>实施门槛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48456"/>
            <a:ext cx="5029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本体建模需要深度业务理解与组织变革，落地周期与change management成本不可低估。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044952"/>
            <a:ext cx="5486400" cy="146304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044952"/>
            <a:ext cx="73152" cy="1463040"/>
          </a:xfrm>
          <a:prstGeom prst="rect">
            <a:avLst/>
          </a:prstGeom>
          <a:solidFill>
            <a:srgbClr val="9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20954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B59C6"/>
                </a:solidFill>
                <a:latin typeface="Microsoft YaHei"/>
              </a:rPr>
              <a:t>⚠ </a:t>
            </a:r>
            <a:r>
              <a:rPr sz="1500" b="1">
                <a:solidFill>
                  <a:srgbClr val="FFFFFF"/>
                </a:solidFill>
                <a:latin typeface="Microsoft YaHei"/>
              </a:rPr>
              <a:t>竞争与替代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48456"/>
            <a:ext cx="5029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云厂商(微软/AWS/Google)与模型厂商向应用层延伸，“本体”概念正被更多平台模仿。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672584"/>
            <a:ext cx="5486400" cy="146304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672584"/>
            <a:ext cx="73152" cy="1463040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3717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C8C0"/>
                </a:solidFill>
                <a:latin typeface="Microsoft YaHei"/>
              </a:rPr>
              <a:t>⚠ </a:t>
            </a:r>
            <a:r>
              <a:rPr sz="1500" b="1">
                <a:solidFill>
                  <a:srgbClr val="FFFFFF"/>
                </a:solidFill>
                <a:latin typeface="Microsoft YaHei"/>
              </a:rPr>
              <a:t>客户集中与合规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76088"/>
            <a:ext cx="5029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政府/大客户占比高，受预算周期、地缘政治与数据合规监管影响显著。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672584"/>
            <a:ext cx="5486400" cy="146304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672584"/>
            <a:ext cx="73152" cy="1463040"/>
          </a:xfrm>
          <a:prstGeom prst="rect">
            <a:avLst/>
          </a:prstGeom>
          <a:solidFill>
            <a:srgbClr val="2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83717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9BF0"/>
                </a:solidFill>
                <a:latin typeface="Microsoft YaHei"/>
              </a:rPr>
              <a:t>⚠ </a:t>
            </a:r>
            <a:r>
              <a:rPr sz="1500" b="1">
                <a:solidFill>
                  <a:srgbClr val="FFFFFF"/>
                </a:solidFill>
                <a:latin typeface="Microsoft YaHei"/>
              </a:rPr>
              <a:t>对标可迁移性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276088"/>
            <a:ext cx="5029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FD7E6"/>
                </a:solidFill>
                <a:latin typeface="Microsoft YaHei"/>
              </a:rPr>
              <a:t>Palantir 优势源于长期积累的本体工程能力，后来者难以短期复制其工程与方法论壁垒。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7A2B6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C8C0"/>
                </a:solidFill>
                <a:latin typeface="Microsoft YaHei"/>
              </a:rPr>
              <a:t>CONCLUSION · 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本体是地基，AIP 是引擎，飞轮是护城河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91440" cy="914400"/>
          </a:xfrm>
          <a:prstGeom prst="rect">
            <a:avLst/>
          </a:prstGeom>
          <a:solidFill>
            <a:srgbClr val="1A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148840"/>
            <a:ext cx="2011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C8C0"/>
                </a:solidFill>
                <a:latin typeface="Microsoft YaHei"/>
              </a:rPr>
              <a:t>本体 Ontology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276856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CFD7E6"/>
                </a:solidFill>
                <a:latin typeface="Microsoft YaHei"/>
              </a:rPr>
              <a:t>把企业数据资产升级为“可被 AI 操作的运营操作系统”——语义让 AI 看懂业务，动力让 AI 改变业务，引擎让它实时运转。这是 Palantir 最深的护城河。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154680"/>
            <a:ext cx="10515600" cy="91440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154680"/>
            <a:ext cx="91440" cy="914400"/>
          </a:xfrm>
          <a:prstGeom prst="rect">
            <a:avLst/>
          </a:prstGeom>
          <a:solidFill>
            <a:srgbClr val="F4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154680"/>
            <a:ext cx="2011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48C06"/>
                </a:solidFill>
                <a:latin typeface="Microsoft YaHei"/>
              </a:rPr>
              <a:t>AIP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82696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CFD7E6"/>
                </a:solidFill>
                <a:latin typeface="Microsoft YaHei"/>
              </a:rPr>
              <a:t>把生成式 AI 从“会聊天”变成“会干活”：在本体之上安全地理解、决策、执行、学习，并以 Bootcamp 把“快速验证 ROI”变成最强销售武器。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160520"/>
            <a:ext cx="10515600" cy="91440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160520"/>
            <a:ext cx="91440" cy="914400"/>
          </a:xfrm>
          <a:prstGeom prst="rect">
            <a:avLst/>
          </a:prstGeom>
          <a:solidFill>
            <a:srgbClr val="35C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160520"/>
            <a:ext cx="2011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35CB7A"/>
                </a:solidFill>
                <a:latin typeface="Microsoft YaHei"/>
              </a:rPr>
              <a:t>价值兑现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288536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CFD7E6"/>
                </a:solidFill>
                <a:latin typeface="Microsoft YaHei"/>
              </a:rPr>
              <a:t>Q1 FY2026 营收 +85%、US 商业 +133%、调整后经营利润率 60%——高增长与高利润并存，印证应用层可以捕获最大经济价值。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solidFill>
            <a:srgbClr val="1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5166360"/>
            <a:ext cx="91440" cy="914400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166360"/>
            <a:ext cx="2011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C43D"/>
                </a:solidFill>
                <a:latin typeface="Microsoft YaHei"/>
              </a:rPr>
              <a:t>对本项目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294376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CFD7E6"/>
                </a:solidFill>
                <a:latin typeface="Microsoft YaHei"/>
              </a:rPr>
              <a:t>行业智能化的关键路径 = 先建行业本体 → 把 AI 接入行动闭环 → 安全治理前置 → 快速验证破局 → 反馈复利 → 主动捕获应用层价值。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9BF0"/>
                </a:solidFill>
                <a:latin typeface="Microsoft YaHei"/>
              </a:rPr>
              <a:t>“硬件之上模型创造 10 倍价值，模型之上应用创造 100 倍价值”——Palantir 是这一“倒金字塔”叙事最有力的实证。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