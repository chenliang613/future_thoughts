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502920" y="1188720"/>
            <a:ext cx="11201400" cy="4617720"/>
          </a:xfrm>
          <a:prstGeom prst="roundRect">
            <a:avLst>
              <a:gd name="adj" fmla="val 3500"/>
            </a:avLst>
          </a:prstGeom>
          <a:solidFill>
            <a:srgbClr val="ECF3F9"/>
          </a:solidFill>
          <a:ln w="34925">
            <a:solidFill>
              <a:srgbClr val="10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146304"/>
            <a:ext cx="11247120" cy="5486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0" b="1">
                <a:solidFill>
                  <a:srgbClr val="0F2A4A"/>
                </a:solidFill>
                <a:latin typeface="Microsoft YaHei"/>
                <a:ea typeface="Microsoft YaHei"/>
              </a:rPr>
              <a:t>Agent 逻辑架构图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76656"/>
            <a:ext cx="11247120" cy="3657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556677"/>
                </a:solidFill>
                <a:latin typeface="Microsoft YaHei"/>
                <a:ea typeface="Microsoft YaHei"/>
              </a:rPr>
              <a:t>场景能力逐级叠加：LLM 决定 Agent 上限，Harness 决定 Agent 下限 —— 99% 的生产落地，吃的是下限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201400" cy="3657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03A5A"/>
                </a:solidFill>
                <a:latin typeface="Microsoft YaHei"/>
                <a:ea typeface="Microsoft YaHei"/>
              </a:rPr>
              <a:t>场景 4 ｜ 大框包含场景 1 / 2 / 3 —— 这就是 Harness 的内涵</a:t>
            </a:r>
          </a:p>
        </p:txBody>
      </p:sp>
      <p:sp>
        <p:nvSpPr>
          <p:cNvPr id="6" name="Oval 5"/>
          <p:cNvSpPr/>
          <p:nvPr/>
        </p:nvSpPr>
        <p:spPr>
          <a:xfrm>
            <a:off x="5387187" y="2107692"/>
            <a:ext cx="1417320" cy="1417320"/>
          </a:xfrm>
          <a:prstGeom prst="ellipse">
            <a:avLst/>
          </a:prstGeom>
          <a:solidFill>
            <a:srgbClr val="D9483B"/>
          </a:solidFill>
          <a:ln w="25400">
            <a:solidFill>
              <a:srgbClr val="A93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LLM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大模型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FFE3DE"/>
                </a:solidFill>
                <a:latin typeface="Microsoft YaHei"/>
                <a:ea typeface="Microsoft YaHei"/>
              </a:rPr>
              <a:t>Agent 的上限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53412"/>
            <a:ext cx="2240280" cy="132588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2E86C1"/>
                </a:solidFill>
                <a:latin typeface="Microsoft YaHei"/>
                <a:ea typeface="Microsoft YaHei"/>
              </a:rPr>
              <a:t>场景 1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2B2B2B"/>
                </a:solidFill>
                <a:latin typeface="Microsoft YaHei"/>
                <a:ea typeface="Microsoft YaHei"/>
              </a:rPr>
              <a:t>LLM + MCP 工具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E86C1"/>
                </a:solidFill>
                <a:latin typeface="Microsoft YaHei"/>
                <a:ea typeface="Microsoft YaHei"/>
              </a:rPr>
              <a:t>能力：简单问答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E86C1"/>
                </a:solidFill>
                <a:latin typeface="Microsoft YaHei"/>
                <a:ea typeface="Microsoft YaHei"/>
              </a:rPr>
              <a:t>与内容生成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2153412"/>
            <a:ext cx="2240280" cy="132588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27AE60"/>
                </a:solidFill>
                <a:latin typeface="Microsoft YaHei"/>
                <a:ea typeface="Microsoft YaHei"/>
              </a:rPr>
              <a:t>场景 2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2B2B2B"/>
                </a:solidFill>
                <a:latin typeface="Microsoft YaHei"/>
                <a:ea typeface="Microsoft YaHei"/>
              </a:rPr>
              <a:t>LLM + RAG / SKILL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7AE60"/>
                </a:solidFill>
                <a:latin typeface="Microsoft YaHei"/>
                <a:ea typeface="Microsoft YaHei"/>
              </a:rPr>
              <a:t>能力：定义知识库，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7AE60"/>
                </a:solidFill>
                <a:latin typeface="Microsoft YaHei"/>
                <a:ea typeface="Microsoft YaHei"/>
              </a:rPr>
              <a:t>规范 Agent 业务流程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2807" y="4224528"/>
            <a:ext cx="2926080" cy="1325880"/>
          </a:xfrm>
          <a:prstGeom prst="roundRect">
            <a:avLst>
              <a:gd name="adj" fmla="val 10000"/>
            </a:avLst>
          </a:prstGeom>
          <a:solidFill>
            <a:srgbClr val="F2E9F8"/>
          </a:solidFill>
          <a:ln w="254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8E44AD"/>
                </a:solidFill>
                <a:latin typeface="Microsoft YaHei"/>
                <a:ea typeface="Microsoft YaHei"/>
              </a:rPr>
              <a:t>场景 3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2B2B2B"/>
                </a:solidFill>
                <a:latin typeface="Microsoft YaHei"/>
                <a:ea typeface="Microsoft YaHei"/>
              </a:rPr>
              <a:t>多 Agent 调度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8E44AD"/>
                </a:solidFill>
                <a:latin typeface="Microsoft YaHei"/>
                <a:ea typeface="Microsoft YaHei"/>
              </a:rPr>
              <a:t>能力：协同 · 自适应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017520" y="2816352"/>
            <a:ext cx="2369667" cy="0"/>
          </a:xfrm>
          <a:prstGeom prst="line">
            <a:avLst/>
          </a:prstGeom>
          <a:ln w="38100">
            <a:solidFill>
              <a:srgbClr val="2E86C1"/>
            </a:solidFill>
            <a:headEnd type="oval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04507" y="2816352"/>
            <a:ext cx="2385213" cy="0"/>
          </a:xfrm>
          <a:prstGeom prst="line">
            <a:avLst/>
          </a:prstGeom>
          <a:ln w="38100">
            <a:solidFill>
              <a:srgbClr val="27AE60"/>
            </a:solidFill>
            <a:headEnd type="oval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5847" y="3525012"/>
            <a:ext cx="0" cy="699516"/>
          </a:xfrm>
          <a:prstGeom prst="line">
            <a:avLst/>
          </a:prstGeom>
          <a:ln w="38100">
            <a:solidFill>
              <a:srgbClr val="8E44AD"/>
            </a:solidFill>
            <a:headEnd type="oval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59353" y="1924812"/>
            <a:ext cx="228600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E86C1"/>
                </a:solidFill>
                <a:latin typeface="Microsoft YaHei"/>
                <a:ea typeface="Microsoft YaHei"/>
              </a:rPr>
              <a:t>〔LLM + MCP 工具〕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Agent 经 MCP 连接外部工具；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凭借 LLM 的 AIGC 能力，完成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E86C1"/>
                </a:solidFill>
                <a:latin typeface="Microsoft YaHei"/>
                <a:ea typeface="Microsoft YaHei"/>
              </a:rPr>
              <a:t>简单问答 与 内容生成，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已在报告撰写、知识库问答、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智能客服等场景大规模应用。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4113" y="1650492"/>
            <a:ext cx="228600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7AE60"/>
                </a:solidFill>
                <a:latin typeface="Microsoft YaHei"/>
                <a:ea typeface="Microsoft YaHei"/>
              </a:rPr>
              <a:t>〔LLM + RAG / SKILL〕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7AE60"/>
                </a:solidFill>
                <a:latin typeface="Microsoft YaHei"/>
                <a:ea typeface="Microsoft YaHei"/>
              </a:rPr>
              <a:t>通过定义知识库，规范 Agent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7AE60"/>
                </a:solidFill>
                <a:latin typeface="Microsoft YaHei"/>
                <a:ea typeface="Microsoft YaHei"/>
              </a:rPr>
              <a:t>工作的业务流程。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RAG：提供 LLM 之外的知识库。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SKILL：把业务知识转为 SOP，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让 AI 自主阅读理解执行；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load_skill() 动态加载 SKILL.md，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把规则/流程/约束注入上下文。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47007" y="3335274"/>
            <a:ext cx="429768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8E44AD"/>
                </a:solidFill>
                <a:latin typeface="Microsoft YaHei"/>
                <a:ea typeface="Microsoft YaHei"/>
              </a:rPr>
              <a:t>〔多 Agent 调度〕分工协同 · 跨 Agent 任务交接 · 全局自适应优化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多智能体系统进入爆发期：企业从「使用 AI 工具」演进为「构建 AI 组织」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943600"/>
            <a:ext cx="11201400" cy="822960"/>
          </a:xfrm>
          <a:prstGeom prst="roundRect">
            <a:avLst>
              <a:gd name="adj" fmla="val 14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场景 4 = Harness：同一个 LLM 在金融/医疗/制造业落地效果差 10 倍，差距几乎全部来自 Harness 工程。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CFE3F5"/>
                </a:solidFill>
                <a:latin typeface="Microsoft YaHei"/>
                <a:ea typeface="Microsoft YaHei"/>
              </a:rPr>
              <a:t>行业智能化的 100× 价值释放，不是等下一代模型，而是把今天的模型用 Harness 工程「包」成可靠的行业 Agent。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411480" y="1097280"/>
            <a:ext cx="11365992" cy="4617720"/>
          </a:xfrm>
          <a:prstGeom prst="roundRect">
            <a:avLst>
              <a:gd name="adj" fmla="val 3000"/>
            </a:avLst>
          </a:prstGeom>
          <a:solidFill>
            <a:srgbClr val="ECF3F9"/>
          </a:solidFill>
          <a:ln w="34925">
            <a:solidFill>
              <a:srgbClr val="10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>
                <a:solidFill>
                  <a:srgbClr val="0F2A4A"/>
                </a:solidFill>
                <a:latin typeface="Microsoft YaHei"/>
                <a:ea typeface="Microsoft YaHei"/>
              </a:rPr>
              <a:t>Agent 逻辑架构图  — 场景能力逐级叠加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40080"/>
            <a:ext cx="11247120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556677"/>
                </a:solidFill>
                <a:latin typeface="Microsoft YaHei"/>
                <a:ea typeface="Microsoft YaHei"/>
              </a:rPr>
              <a:t>同一 LLM 内核之上，每进一个场景就叠加一层能力：工具 → 知识/流程 → 多 Agent；最外层用 Harness 统包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65992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03A5A"/>
                </a:solidFill>
                <a:latin typeface="Microsoft YaHei"/>
                <a:ea typeface="Microsoft YaHei"/>
              </a:rPr>
              <a:t>场景 4 ｜ 一个大框包含场景 1 / 2 / 3 —— 这就是 Harness 的内涵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754880"/>
            <a:ext cx="10607040" cy="713232"/>
          </a:xfrm>
          <a:prstGeom prst="roundRect">
            <a:avLst>
              <a:gd name="adj" fmla="val 18000"/>
            </a:avLst>
          </a:prstGeom>
          <a:solidFill>
            <a:srgbClr val="D9483B"/>
          </a:solidFill>
          <a:ln w="22225">
            <a:solidFill>
              <a:srgbClr val="A93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LLM 大模型 —— 共享内核 · 决定 Agent 的上限（场景 1 / 2 / 3 共同的底座）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840480"/>
            <a:ext cx="3154680" cy="859536"/>
          </a:xfrm>
          <a:prstGeom prst="roundRect">
            <a:avLst>
              <a:gd name="adj" fmla="val 8000"/>
            </a:avLst>
          </a:prstGeom>
          <a:solidFill>
            <a:srgbClr val="2E86C1"/>
          </a:solidFill>
          <a:ln w="22225">
            <a:solidFill>
              <a:srgbClr val="1F5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场景 1 ｜ LLM + MCP 工具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能力：简单问答 · 内容生成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E8F1FA"/>
                </a:solidFill>
                <a:latin typeface="Microsoft YaHei"/>
                <a:ea typeface="Microsoft YaHei"/>
              </a:rPr>
              <a:t>（报告撰写 / 知识库问答 / 智能客服）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3840480"/>
            <a:ext cx="3154680" cy="859536"/>
          </a:xfrm>
          <a:prstGeom prst="roundRect">
            <a:avLst>
              <a:gd name="adj" fmla="val 8000"/>
            </a:avLst>
          </a:prstGeom>
          <a:solidFill>
            <a:srgbClr val="DCE9F6"/>
          </a:solidFill>
          <a:ln w="158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E86C1"/>
                </a:solidFill>
                <a:latin typeface="Microsoft YaHei"/>
                <a:ea typeface="Microsoft YaHei"/>
              </a:rPr>
              <a:t>继承 场景 1：LLM + MCP 工具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B2B2B"/>
                </a:solidFill>
                <a:latin typeface="Microsoft YaHei"/>
                <a:ea typeface="Microsoft YaHei"/>
              </a:rPr>
              <a:t>简单问答 · 内容生成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926080"/>
            <a:ext cx="3154680" cy="859536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 w="22225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场景 2 ｜ + RAG / SKILL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能力：定义知识库，规范业务流程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E6F6EC"/>
                </a:solidFill>
                <a:latin typeface="Microsoft YaHei"/>
                <a:ea typeface="Microsoft YaHei"/>
              </a:rPr>
              <a:t>（SKILL→SOP · load_skill() 注入上下文）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840480"/>
            <a:ext cx="3154680" cy="859536"/>
          </a:xfrm>
          <a:prstGeom prst="roundRect">
            <a:avLst>
              <a:gd name="adj" fmla="val 8000"/>
            </a:avLst>
          </a:prstGeom>
          <a:solidFill>
            <a:srgbClr val="DCE9F6"/>
          </a:solidFill>
          <a:ln w="158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E86C1"/>
                </a:solidFill>
                <a:latin typeface="Microsoft YaHei"/>
                <a:ea typeface="Microsoft YaHei"/>
              </a:rPr>
              <a:t>继承 场景 1：LLM + MCP 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926080"/>
            <a:ext cx="3154680" cy="859536"/>
          </a:xfrm>
          <a:prstGeom prst="roundRect">
            <a:avLst>
              <a:gd name="adj" fmla="val 8000"/>
            </a:avLst>
          </a:prstGeom>
          <a:solidFill>
            <a:srgbClr val="DDF2E4"/>
          </a:solidFill>
          <a:ln w="1587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7AE60"/>
                </a:solidFill>
                <a:latin typeface="Microsoft YaHei"/>
                <a:ea typeface="Microsoft YaHei"/>
              </a:rPr>
              <a:t>继承 场景 2：+ RAG / SKILL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B2B2B"/>
                </a:solidFill>
                <a:latin typeface="Microsoft YaHei"/>
                <a:ea typeface="Microsoft YaHei"/>
              </a:rPr>
              <a:t>定义知识库 · 规范业务流程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011680"/>
            <a:ext cx="3154680" cy="859536"/>
          </a:xfrm>
          <a:prstGeom prst="roundRect">
            <a:avLst>
              <a:gd name="adj" fmla="val 8000"/>
            </a:avLst>
          </a:prstGeom>
          <a:solidFill>
            <a:srgbClr val="8E44AD"/>
          </a:solidFill>
          <a:ln w="22225">
            <a:solidFill>
              <a:srgbClr val="6E32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场景 3 ｜ + 多 Agent 调度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能力：分工协同 · 任务交接 · 自适应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2E9F8"/>
                </a:solidFill>
                <a:latin typeface="Microsoft YaHei"/>
                <a:ea typeface="Microsoft YaHei"/>
              </a:rPr>
              <a:t>（从「用 AI 工具」到「构建 AI 组织」）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977640" y="3337560"/>
            <a:ext cx="438912" cy="594360"/>
          </a:xfrm>
          <a:prstGeom prst="line">
            <a:avLst/>
          </a:prstGeom>
          <a:ln w="44450">
            <a:solidFill>
              <a:srgbClr val="556677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479792" y="2423160"/>
            <a:ext cx="429768" cy="594360"/>
          </a:xfrm>
          <a:prstGeom prst="line">
            <a:avLst/>
          </a:prstGeom>
          <a:ln w="44450">
            <a:solidFill>
              <a:srgbClr val="556677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04488" y="1993392"/>
            <a:ext cx="1371600" cy="2743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556677"/>
                </a:solidFill>
                <a:latin typeface="Microsoft YaHei"/>
                <a:ea typeface="Microsoft YaHei"/>
              </a:rPr>
              <a:t>逐级叠加 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993392"/>
            <a:ext cx="1371600" cy="2743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556677"/>
                </a:solidFill>
                <a:latin typeface="Microsoft YaHei"/>
                <a:ea typeface="Microsoft YaHei"/>
              </a:rPr>
              <a:t>逐级叠加 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870448"/>
            <a:ext cx="11365992" cy="841248"/>
          </a:xfrm>
          <a:prstGeom prst="roundRect">
            <a:avLst>
              <a:gd name="adj" fmla="val 14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Harness 决定 Agent 的下限：同一 LLM 在金融/医疗/制造业落地效果差 10 倍，差距几乎全部来自 Harness 工程。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CFE3F5"/>
                </a:solidFill>
                <a:latin typeface="Microsoft YaHei"/>
                <a:ea typeface="Microsoft YaHei"/>
              </a:rPr>
              <a:t>100× 价值释放，不是等下一代模型，而是把今天的模型用 Harness 工程「包」成可靠的行业 Agent。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384048" y="1005840"/>
            <a:ext cx="11430000" cy="4828032"/>
          </a:xfrm>
          <a:prstGeom prst="roundRect">
            <a:avLst>
              <a:gd name="adj" fmla="val 2800"/>
            </a:avLst>
          </a:prstGeom>
          <a:solidFill>
            <a:srgbClr val="ECF3F9"/>
          </a:solidFill>
          <a:ln w="34925">
            <a:solidFill>
              <a:srgbClr val="10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109728"/>
            <a:ext cx="11338560" cy="50292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700" b="1">
                <a:solidFill>
                  <a:srgbClr val="0F2A4A"/>
                </a:solidFill>
                <a:latin typeface="Microsoft YaHei"/>
                <a:ea typeface="Microsoft YaHei"/>
              </a:rPr>
              <a:t>Agent 逻辑架构图  — 分层能力全景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03504"/>
            <a:ext cx="11338560" cy="36576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556677"/>
                </a:solidFill>
                <a:latin typeface="Microsoft YaHei"/>
                <a:ea typeface="Microsoft YaHei"/>
              </a:rPr>
              <a:t>业界共识：Agent = LLM 大脑 + 记忆 + 规划 + 工具 + 感知/执行，以 ReAct 闭环运行；自底向上逐层叠加，外层由 Harness 工程统包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042416"/>
            <a:ext cx="11430000" cy="329184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03A5A"/>
                </a:solidFill>
                <a:latin typeface="Microsoft YaHei"/>
                <a:ea typeface="Microsoft YaHei"/>
              </a:rPr>
              <a:t>Harness 工程外壳 ｜ 决定 Agent 的下限 —— 把今天的模型「包」成可靠的行业 Agent（内含全部能力层）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81328"/>
            <a:ext cx="7726679" cy="877824"/>
          </a:xfrm>
          <a:prstGeom prst="roundRect">
            <a:avLst>
              <a:gd name="adj" fmla="val 8000"/>
            </a:avLst>
          </a:prstGeom>
          <a:solidFill>
            <a:srgbClr val="F2E9F8"/>
          </a:solidFill>
          <a:ln w="1905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536192"/>
            <a:ext cx="1417320" cy="768096"/>
          </a:xfrm>
          <a:prstGeom prst="roundRect">
            <a:avLst>
              <a:gd name="adj" fmla="val 12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多 Agent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协同编排层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6856" y="1481328"/>
            <a:ext cx="6053327" cy="8778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B2B2B"/>
                </a:solidFill>
                <a:latin typeface="Microsoft YaHei"/>
                <a:ea typeface="Microsoft YaHei"/>
              </a:rPr>
              <a:t>Orchestrator 中央调度 + 专精子 Agent（研究 / 编码 / 分析）并行协作；协议 A2A 互通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8E44AD"/>
                </a:solidFill>
                <a:latin typeface="Microsoft YaHei"/>
                <a:ea typeface="Microsoft YaHei"/>
              </a:rPr>
              <a:t>能力：分工协同 · 跨 Agent 任务交接 · 全局自适应优化 —— 从「用 AI 工具」到「构建 AI 组织」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32304"/>
            <a:ext cx="7726679" cy="1078992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2487168"/>
            <a:ext cx="1417320" cy="969264"/>
          </a:xfrm>
          <a:prstGeom prst="roundRect">
            <a:avLst>
              <a:gd name="adj" fmla="val 12000"/>
            </a:avLst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Agent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能力层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76856" y="2542032"/>
            <a:ext cx="1431035" cy="8595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E86C1"/>
                </a:solidFill>
                <a:latin typeface="Microsoft YaHei"/>
                <a:ea typeface="Microsoft YaHei"/>
              </a:rPr>
              <a:t>规划 Planning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B2B2B"/>
                </a:solidFill>
                <a:latin typeface="Microsoft YaHei"/>
                <a:ea typeface="Microsoft YaHei"/>
              </a:rPr>
              <a:t>任务分解·多方案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B2B2B"/>
                </a:solidFill>
                <a:latin typeface="Microsoft YaHei"/>
                <a:ea typeface="Microsoft YaHei"/>
              </a:rPr>
              <a:t>反思·记忆增强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7619" y="2542032"/>
            <a:ext cx="1431035" cy="8595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7AE60"/>
                </a:solidFill>
                <a:latin typeface="Microsoft YaHei"/>
                <a:ea typeface="Microsoft YaHei"/>
              </a:rPr>
              <a:t>记忆 Memory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B2B2B"/>
                </a:solidFill>
                <a:latin typeface="Microsoft YaHei"/>
                <a:ea typeface="Microsoft YaHei"/>
              </a:rPr>
              <a:t>短期/情景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B2B2B"/>
                </a:solidFill>
                <a:latin typeface="Microsoft YaHei"/>
                <a:ea typeface="Microsoft YaHei"/>
              </a:rPr>
              <a:t>语义/程序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58383" y="2542032"/>
            <a:ext cx="1431035" cy="8595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E67E22"/>
                </a:solidFill>
                <a:latin typeface="Microsoft YaHei"/>
                <a:ea typeface="Microsoft YaHei"/>
              </a:rPr>
              <a:t>工具调用 Tools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B2B2B"/>
                </a:solidFill>
                <a:latin typeface="Microsoft YaHei"/>
                <a:ea typeface="Microsoft YaHei"/>
              </a:rPr>
              <a:t>经 MCP 调用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B2B2B"/>
                </a:solidFill>
                <a:latin typeface="Microsoft YaHei"/>
                <a:ea typeface="Microsoft YaHei"/>
              </a:rPr>
              <a:t>API / 外部系统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99147" y="2542032"/>
            <a:ext cx="1431035" cy="8595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8E44AD"/>
                </a:solidFill>
                <a:latin typeface="Microsoft YaHei"/>
                <a:ea typeface="Microsoft YaHei"/>
              </a:rPr>
              <a:t>反思 Reflection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B2B2B"/>
                </a:solidFill>
                <a:latin typeface="Microsoft YaHei"/>
                <a:ea typeface="Microsoft YaHei"/>
              </a:rPr>
              <a:t>自我批评·纠错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B2B2B"/>
                </a:solidFill>
                <a:latin typeface="Microsoft YaHei"/>
                <a:ea typeface="Microsoft YaHei"/>
              </a:rPr>
              <a:t>减少累计失败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584448"/>
            <a:ext cx="7726679" cy="786384"/>
          </a:xfrm>
          <a:prstGeom prst="roundRect">
            <a:avLst>
              <a:gd name="adj" fmla="val 8000"/>
            </a:avLst>
          </a:prstGeom>
          <a:solidFill>
            <a:srgbClr val="FCEFE2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" y="3639312"/>
            <a:ext cx="1417320" cy="676656"/>
          </a:xfrm>
          <a:prstGeom prst="roundRect">
            <a:avLst>
              <a:gd name="adj" fmla="val 12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运行闭环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ReAct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76856" y="3730752"/>
            <a:ext cx="1225295" cy="512064"/>
          </a:xfrm>
          <a:prstGeom prst="roundRect">
            <a:avLst>
              <a:gd name="adj" fmla="val 16000"/>
            </a:avLst>
          </a:prstGeom>
          <a:solidFill>
            <a:srgbClr val="FCEFE2"/>
          </a:solidFill>
          <a:ln w="158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E67E22"/>
                </a:solidFill>
                <a:latin typeface="Microsoft YaHei"/>
                <a:ea typeface="Microsoft YaHei"/>
              </a:rPr>
              <a:t>感知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56677"/>
                </a:solidFill>
                <a:latin typeface="Microsoft YaHei"/>
                <a:ea typeface="Microsoft YaHei"/>
              </a:rPr>
              <a:t>Perception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02151" y="3977640"/>
            <a:ext cx="384048" cy="0"/>
          </a:xfrm>
          <a:prstGeom prst="line">
            <a:avLst/>
          </a:prstGeom>
          <a:ln w="28575">
            <a:solidFill>
              <a:srgbClr val="E67E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86199" y="3730752"/>
            <a:ext cx="1225295" cy="512064"/>
          </a:xfrm>
          <a:prstGeom prst="roundRect">
            <a:avLst>
              <a:gd name="adj" fmla="val 16000"/>
            </a:avLst>
          </a:prstGeom>
          <a:solidFill>
            <a:srgbClr val="FCEFE2"/>
          </a:solidFill>
          <a:ln w="158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E67E22"/>
                </a:solidFill>
                <a:latin typeface="Microsoft YaHei"/>
                <a:ea typeface="Microsoft YaHei"/>
              </a:rPr>
              <a:t>推理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56677"/>
                </a:solidFill>
                <a:latin typeface="Microsoft YaHei"/>
                <a:ea typeface="Microsoft YaHei"/>
              </a:rPr>
              <a:t>Reasoning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11495" y="3977640"/>
            <a:ext cx="384048" cy="0"/>
          </a:xfrm>
          <a:prstGeom prst="line">
            <a:avLst/>
          </a:prstGeom>
          <a:ln w="28575">
            <a:solidFill>
              <a:srgbClr val="E67E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95543" y="3730752"/>
            <a:ext cx="1225295" cy="512064"/>
          </a:xfrm>
          <a:prstGeom prst="roundRect">
            <a:avLst>
              <a:gd name="adj" fmla="val 16000"/>
            </a:avLst>
          </a:prstGeom>
          <a:solidFill>
            <a:srgbClr val="FCEFE2"/>
          </a:solidFill>
          <a:ln w="158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E67E22"/>
                </a:solidFill>
                <a:latin typeface="Microsoft YaHei"/>
                <a:ea typeface="Microsoft YaHei"/>
              </a:rPr>
              <a:t>行动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56677"/>
                </a:solidFill>
                <a:latin typeface="Microsoft YaHei"/>
                <a:ea typeface="Microsoft YaHei"/>
              </a:rPr>
              <a:t>Action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20839" y="3977640"/>
            <a:ext cx="384048" cy="0"/>
          </a:xfrm>
          <a:prstGeom prst="line">
            <a:avLst/>
          </a:prstGeom>
          <a:ln w="28575">
            <a:solidFill>
              <a:srgbClr val="E67E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04887" y="3730752"/>
            <a:ext cx="1225295" cy="512064"/>
          </a:xfrm>
          <a:prstGeom prst="roundRect">
            <a:avLst>
              <a:gd name="adj" fmla="val 16000"/>
            </a:avLst>
          </a:prstGeom>
          <a:solidFill>
            <a:srgbClr val="FCEFE2"/>
          </a:solidFill>
          <a:ln w="158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E67E22"/>
                </a:solidFill>
                <a:latin typeface="Microsoft YaHei"/>
                <a:ea typeface="Microsoft YaHei"/>
              </a:rPr>
              <a:t>观察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56677"/>
                </a:solidFill>
                <a:latin typeface="Microsoft YaHei"/>
                <a:ea typeface="Microsoft YaHei"/>
              </a:rPr>
              <a:t>Observation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76856" y="4224528"/>
            <a:ext cx="6053327" cy="182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56677"/>
                </a:solidFill>
                <a:latin typeface="Microsoft YaHei"/>
                <a:ea typeface="Microsoft YaHei"/>
              </a:rPr>
              <a:t>↺ 循环迭代至目标达成；失败则反思重试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443984"/>
            <a:ext cx="7726679" cy="1024128"/>
          </a:xfrm>
          <a:prstGeom prst="roundRect">
            <a:avLst>
              <a:gd name="adj" fmla="val 8000"/>
            </a:avLst>
          </a:prstGeom>
          <a:solidFill>
            <a:srgbClr val="FBEAE7"/>
          </a:solidFill>
          <a:ln w="19050">
            <a:solidFill>
              <a:srgbClr val="D9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8096" y="4498848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D9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LLM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模型层 · 底座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76856" y="4443984"/>
            <a:ext cx="6053327" cy="10241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D9483B"/>
                </a:solidFill>
                <a:latin typeface="Microsoft YaHei"/>
                <a:ea typeface="Microsoft YaHei"/>
              </a:rPr>
              <a:t>LLM 大模型 —— 推理 / 生成内核，决定 Agent 的上限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B2B2B"/>
                </a:solidFill>
                <a:latin typeface="Microsoft YaHei"/>
                <a:ea typeface="Microsoft YaHei"/>
              </a:rPr>
              <a:t>强大 AIGC 能力：报告撰写 · 知识库问答 · 智能客服等场景大规模应用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56677"/>
                </a:solidFill>
                <a:latin typeface="Microsoft YaHei"/>
                <a:ea typeface="Microsoft YaHei"/>
              </a:rPr>
              <a:t>最新一代模型（如 Claude Opus 4.8）持续抬高 Agent 能力天花板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548640" y="1572768"/>
            <a:ext cx="0" cy="3803904"/>
          </a:xfrm>
          <a:prstGeom prst="line">
            <a:avLst/>
          </a:prstGeom>
          <a:ln w="31750">
            <a:solidFill>
              <a:srgbClr val="103A5A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4320" y="2743200"/>
            <a:ext cx="365760" cy="12801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03A5A"/>
                </a:solidFill>
                <a:latin typeface="Microsoft YaHei"/>
                <a:ea typeface="Microsoft YaHei"/>
              </a:rPr>
              <a:t>逐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03A5A"/>
                </a:solidFill>
                <a:latin typeface="Microsoft YaHei"/>
                <a:ea typeface="Microsoft YaHei"/>
              </a:rPr>
              <a:t>层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03A5A"/>
                </a:solidFill>
                <a:latin typeface="Microsoft YaHei"/>
                <a:ea typeface="Microsoft YaHei"/>
              </a:rPr>
              <a:t>叠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03A5A"/>
                </a:solidFill>
                <a:latin typeface="Microsoft YaHei"/>
                <a:ea typeface="Microsoft YaHei"/>
              </a:rPr>
              <a:t>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13648" y="1481328"/>
            <a:ext cx="3108960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10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13648" y="148132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10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知识 · 记忆 · 协议供给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CFE3F5"/>
                </a:solidFill>
                <a:latin typeface="Microsoft YaHei"/>
                <a:ea typeface="Microsoft YaHei"/>
              </a:rPr>
              <a:t>（规范 Agent 操作）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23376" y="2048256"/>
            <a:ext cx="2889504" cy="713232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587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254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7AE60"/>
                </a:solidFill>
                <a:latin typeface="Microsoft YaHei"/>
                <a:ea typeface="Microsoft YaHei"/>
              </a:rPr>
              <a:t>RAG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B2B2B"/>
                </a:solidFill>
                <a:latin typeface="Microsoft YaHei"/>
                <a:ea typeface="Microsoft YaHei"/>
              </a:rPr>
              <a:t>提供 LLM 之外的知识库；无状态检索，按需注入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23376" y="2852928"/>
            <a:ext cx="2889504" cy="713232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58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254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E86C1"/>
                </a:solidFill>
                <a:latin typeface="Microsoft YaHei"/>
                <a:ea typeface="Microsoft YaHei"/>
              </a:rPr>
              <a:t>记忆 Memory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B2B2B"/>
                </a:solidFill>
                <a:latin typeface="Microsoft YaHei"/>
                <a:ea typeface="Microsoft YaHei"/>
              </a:rPr>
              <a:t>有状态：情景 / 语义 / 程序，跨会话沉淀与进化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23376" y="3657600"/>
            <a:ext cx="2889504" cy="713232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254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8E44AD"/>
                </a:solidFill>
                <a:latin typeface="Microsoft YaHei"/>
                <a:ea typeface="Microsoft YaHei"/>
              </a:rPr>
              <a:t>SKILL → SOP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B2B2B"/>
                </a:solidFill>
                <a:latin typeface="Microsoft YaHei"/>
                <a:ea typeface="Microsoft YaHei"/>
              </a:rPr>
              <a:t>把业务知识转标准流程；load_skill() 动态注入上下文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23376" y="4462272"/>
            <a:ext cx="2889504" cy="713232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58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254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E67E22"/>
                </a:solidFill>
                <a:latin typeface="Microsoft YaHei"/>
                <a:ea typeface="Microsoft YaHei"/>
              </a:rPr>
              <a:t>MCP（Anthropic）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B2B2B"/>
                </a:solidFill>
                <a:latin typeface="Microsoft YaHei"/>
                <a:ea typeface="Microsoft YaHei"/>
              </a:rPr>
              <a:t>开放协议：连接工具 / API / 数据源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23376" y="5266944"/>
            <a:ext cx="2889504" cy="713232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5875">
            <a:solidFill>
              <a:srgbClr val="D9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254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D9483B"/>
                </a:solidFill>
                <a:latin typeface="Microsoft YaHei"/>
                <a:ea typeface="Microsoft YaHei"/>
              </a:rPr>
              <a:t>A2A（Google）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B2B2B"/>
                </a:solidFill>
                <a:latin typeface="Microsoft YaHei"/>
                <a:ea typeface="Microsoft YaHei"/>
              </a:rPr>
              <a:t>开放协议：连接 Agent 与 Agent，使其可组合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8439911" y="2971800"/>
            <a:ext cx="173737" cy="0"/>
          </a:xfrm>
          <a:prstGeom prst="line">
            <a:avLst/>
          </a:prstGeom>
          <a:ln w="25400">
            <a:solidFill>
              <a:srgbClr val="55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8439911" y="4956048"/>
            <a:ext cx="173737" cy="0"/>
          </a:xfrm>
          <a:prstGeom prst="line">
            <a:avLst/>
          </a:prstGeom>
          <a:ln w="25400">
            <a:solidFill>
              <a:srgbClr val="55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84048" y="5925312"/>
            <a:ext cx="11430000" cy="804672"/>
          </a:xfrm>
          <a:prstGeom prst="roundRect">
            <a:avLst>
              <a:gd name="adj" fmla="val 14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LLM 决定 Agent 上限，Harness 决定 Agent 下限 —— 同一模型在金融/医疗/制造业落地效果差 10 倍，差距几乎全部来自 Harness 工程。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CFE3F5"/>
                </a:solidFill>
                <a:latin typeface="Microsoft YaHei"/>
                <a:ea typeface="Microsoft YaHei"/>
              </a:rPr>
              <a:t>行业智能化的 100× 价值释放，不是等下一代模型，而是把今天的模型用 Harness 工程「包」成可靠的行业 Agent。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