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</a:rPr>
              <a:t>行业智能化项目成功的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核心方法论和关键发展路径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ADD"/>
                </a:solidFill>
              </a:rPr>
              <a:t>Core Methodology &amp; Key Development Path for Industry AI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6858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综合宏观趋势 · 关键挑战 · 行业场景分析 · 全球实证数据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</a:rPr>
              <a:t>基于中国产业研究 + 美国3,000+企业落地数据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029200" cy="1463040"/>
          </a:xfrm>
          <a:prstGeom prst="rect">
            <a:avLst/>
          </a:prstGeom>
          <a:solidFill>
            <a:srgbClr val="14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项目定位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245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目标：找到行业智能化项目成功的核心方法论和关键发展路径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354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范围：宏观趋势 → 关键挑战 → 优先场景 → 方法论合成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版本：Project 1.0  |  2026年4月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731520"/>
            <a:ext cx="3474720" cy="530352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8412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核心假设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健康的AI产业结构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27632"/>
            <a:ext cx="3108960" cy="658368"/>
          </a:xfrm>
          <a:prstGeom prst="rect">
            <a:avLst/>
          </a:prstGeom>
          <a:solidFill>
            <a:srgbClr val="1A3A7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556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行业应用层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175564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100×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395728"/>
            <a:ext cx="2286000" cy="658368"/>
          </a:xfrm>
          <a:prstGeom prst="rect">
            <a:avLst/>
          </a:prstGeom>
          <a:solidFill>
            <a:srgbClr val="1A3A70"/>
          </a:solidFill>
          <a:ln w="19050">
            <a:solidFill>
              <a:srgbClr val="8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5237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BBFF"/>
                </a:solidFill>
              </a:rPr>
              <a:t>模型层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5237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BBFF"/>
                </a:solidFill>
              </a:rPr>
              <a:t>10×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163824"/>
            <a:ext cx="1463040" cy="658368"/>
          </a:xfrm>
          <a:prstGeom prst="rect">
            <a:avLst/>
          </a:prstGeom>
          <a:solidFill>
            <a:srgbClr val="1A3A70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硬件层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2918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99"/>
                </a:solidFill>
              </a:rPr>
              <a:t>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13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BBFF"/>
                </a:solidFill>
              </a:rPr>
              <a:t>倒金字塔  =  健康生态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245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行业应用创造的价值
应是硬件的100倍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行业智能化项目和产业发展分析  ·  Project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为什么启动这个项目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AI产业结构的核心矛盾：正金字塔 vs. 倒金字塔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03520" cy="384048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当前：正金字塔（不健康）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901952"/>
            <a:ext cx="2194560" cy="713232"/>
          </a:xfrm>
          <a:prstGeom prst="rect">
            <a:avLst/>
          </a:prstGeom>
          <a:solidFill>
            <a:srgbClr val="FFEEEE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2011680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362A"/>
                </a:solidFill>
              </a:rPr>
              <a:t>行业应用层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304288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1×
价值最小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59" y="2688336"/>
            <a:ext cx="1463040" cy="713232"/>
          </a:xfrm>
          <a:prstGeom prst="rect">
            <a:avLst/>
          </a:prstGeom>
          <a:solidFill>
            <a:srgbClr val="FFF6EA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7" y="2798064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A1A"/>
                </a:solidFill>
              </a:rPr>
              <a:t>模型层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7" y="3090672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10×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474720"/>
            <a:ext cx="731520" cy="713232"/>
          </a:xfrm>
          <a:prstGeom prst="rect">
            <a:avLst/>
          </a:prstGeom>
          <a:solidFill>
            <a:srgbClr val="E8F0FE"/>
          </a:solidFill>
          <a:ln w="1905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3584448"/>
            <a:ext cx="512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4A"/>
                </a:solidFill>
              </a:rPr>
              <a:t>硬件层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877056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100×
价值最大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2A"/>
                </a:solidFill>
              </a:rPr>
              <a:t>市场质疑：AI有泡沫？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28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硬件厂商赚走绝大部分AI价值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29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行业应用层获得的价值不足硬件的1%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431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产业价值分配严重失衡，不可持续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733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80%+ AI项目止步于POC（全球数据）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87568" y="3429000"/>
            <a:ext cx="8229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3429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14173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1968" y="1417320"/>
            <a:ext cx="5303520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1463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目标：倒金字塔（健康生态）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7" y="1901952"/>
            <a:ext cx="731520" cy="713232"/>
          </a:xfrm>
          <a:prstGeom prst="rect">
            <a:avLst/>
          </a:prstGeom>
          <a:solidFill>
            <a:srgbClr val="F2F4F8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7695" y="2011680"/>
            <a:ext cx="512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硬件层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5" y="2304288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99"/>
                </a:solidFill>
              </a:rPr>
              <a:t>1×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0767" y="2688336"/>
            <a:ext cx="1645920" cy="713232"/>
          </a:xfrm>
          <a:prstGeom prst="rect">
            <a:avLst/>
          </a:prstGeom>
          <a:solidFill>
            <a:srgbClr val="E8F0FE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5" y="2798064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模型层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5" y="309067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CC"/>
                </a:solidFill>
              </a:rPr>
              <a:t>10×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7848" y="3474720"/>
            <a:ext cx="2651760" cy="713232"/>
          </a:xfrm>
          <a:prstGeom prst="rect">
            <a:avLst/>
          </a:prstGeom>
          <a:solidFill>
            <a:srgbClr val="E8F8E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358444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行业应用层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3877056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A4A"/>
                </a:solidFill>
              </a:rPr>
              <a:t>100×
价值最大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8A4A"/>
                </a:solidFill>
              </a:rPr>
              <a:t>如何让行业应用创造100×价值？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4828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行业应用深度解决真实业务痛点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5129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构建数据飞轮 + 行业知识壁垒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9128" y="5431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形成通用技术难以替代的核心能力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5733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这是本项目方法论的核心命题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项目目标：系统性回答「行业智能化项目如何成功」——从趋势判断、挑战应对到可执行的方法论路径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方法论的三大研究基础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趋势 × 挑战 × 场景 → 合成核心方法论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840480" cy="5138928"/>
          </a:xfrm>
          <a:prstGeom prst="rect">
            <a:avLst/>
          </a:prstGeom>
          <a:solidFill>
            <a:srgbClr val="E8F0FE"/>
          </a:solidFill>
          <a:ln w="2540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840480" cy="621792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宏观趋势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2026年：亿级智能体时代到来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1693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多Agent协作成为主流架构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竞争焦点：参数规模 → 产业落地深度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7141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50%+先行企业AI已进入生产环境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486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编程范式颠覆：软件研发受影响最大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17320"/>
            <a:ext cx="3840480" cy="5138928"/>
          </a:xfrm>
          <a:prstGeom prst="rect">
            <a:avLst/>
          </a:prstGeom>
          <a:solidFill>
            <a:srgbClr val="FFEEEE"/>
          </a:solidFill>
          <a:ln w="2540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17320"/>
            <a:ext cx="3840480" cy="621792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1600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关键挑战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3969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全球95%的AI试点无法创造可衡量ROI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1693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7大核心障碍：数据/技术/成本/人才/
   组织/合规/系统集成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69417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美国：42%企业在2025年放弃AI项目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47141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成本普遍低估：85%误差超10%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2486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合规执行期到来（HIPAA/FINRA/SOX）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840480" cy="5138928"/>
          </a:xfrm>
          <a:prstGeom prst="rect">
            <a:avLst/>
          </a:prstGeom>
          <a:solidFill>
            <a:srgbClr val="E8F8EE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417320"/>
            <a:ext cx="3840480" cy="62179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600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优先场景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3969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第一梯队：金融、政务、零售电商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1693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判断标准：数字化程度×数据密度×ROI可验证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69417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优先业务：客服&gt;研发&gt;营销&gt;供应链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7141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5个Agent适配特征：重复/信息密集/
   决策链长/高频交互/7×24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486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▸  制造业：从服务侧切入，再向生产延伸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47395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↓   三大研究基础合成 → 行业智能化项目成功的核心方法论 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核心洞察：为什么95%的AI项目无法创造价值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MIT NANDA 2025 · S&amp;P Global (n=1,006) · McKinsey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4A"/>
                </a:solidFill>
              </a:rPr>
              <a:t>AI项目全球漏斗（MIT NANDA, 2025）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8412480" cy="548640"/>
          </a:xfrm>
          <a:prstGeom prst="rect">
            <a:avLst/>
          </a:prstGeom>
          <a:solidFill>
            <a:srgbClr val="E8F0FE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984248"/>
            <a:ext cx="8138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评估企业级AI工具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59" y="19659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CC"/>
                </a:solidFill>
              </a:rPr>
              <a:t>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32887"/>
            <a:ext cx="5486400" cy="548640"/>
          </a:xfrm>
          <a:prstGeom prst="rect">
            <a:avLst/>
          </a:prstGeom>
          <a:solidFill>
            <a:srgbClr val="FFF2E0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64261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A1A"/>
                </a:solidFill>
              </a:rPr>
              <a:t>进入试点阶段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624327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7A1A"/>
                </a:solidFill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91255"/>
            <a:ext cx="3474720" cy="548640"/>
          </a:xfrm>
          <a:prstGeom prst="rect">
            <a:avLst/>
          </a:prstGeom>
          <a:solidFill>
            <a:srgbClr val="FFEBE8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30098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362A"/>
                </a:solidFill>
              </a:rPr>
              <a:t>部署至生产环境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82695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362A"/>
                </a:solidFill>
              </a:rP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9623"/>
            <a:ext cx="2011680" cy="548640"/>
          </a:xfrm>
          <a:prstGeom prst="rect">
            <a:avLst/>
          </a:prstGeom>
          <a:solidFill>
            <a:srgbClr val="FFE0DE"/>
          </a:solidFill>
          <a:ln w="19050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959351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0000"/>
                </a:solidFill>
              </a:rPr>
              <a:t>产生可衡量的业务价值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941063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0000"/>
                </a:solidFill>
              </a:rPr>
              <a:t>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4A"/>
                </a:solidFill>
              </a:rPr>
              <a:t>五大失败根因（跨研究合成）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566928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457200" cy="896112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1168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9019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F362A"/>
                </a:solidFill>
              </a:rPr>
              <a:t>技术先行，洞察后补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先选技术后找场景。AI能力与实际业务痛点脱节，ROI无法量化。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98064"/>
            <a:ext cx="566928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98064"/>
            <a:ext cx="457200" cy="896112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9809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871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A1A"/>
                </a:solidFill>
              </a:rPr>
              <a:t>数据基础不牢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1821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73%企业将数据质量列为#1障碍（Forrester）。数据孤岛、低质量数据直接导致模型失效。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67328"/>
            <a:ext cx="566928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67328"/>
            <a:ext cx="457200" cy="896112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95020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8404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C5500"/>
                </a:solidFill>
              </a:rPr>
              <a:t>POC≠生产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15137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试验80%准确率 ≠ 生产99%可靠性。调试周期3-6个月，成本是预估的2-3倍。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736592"/>
            <a:ext cx="566928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736592"/>
            <a:ext cx="457200" cy="896112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9194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8097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CC"/>
                </a:solidFill>
              </a:rPr>
              <a:t>组织变革缺位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51206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流程未重构、岗位未设计、高层未背书。AI项目被当作IT项目而非战略项目。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705856"/>
            <a:ext cx="566928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705856"/>
            <a:ext cx="457200" cy="89611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588873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5779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B1F4A"/>
                </a:solidFill>
              </a:rPr>
              <a:t>ROI路径不清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608990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68%企业无法有效衡量AI ROI。决策层信心不足，项目在预算审批时夭折。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Sources: MIT NANDA 'The GenAI Divide' 2025 · Forrester/Capital One · McKinsey State of AI 2025 · Gartner · S&amp;P Global Market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方法论 Step 1 — 场景选择框架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在哪里下注：用5个过滤器找到胜率最高的智能化场景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4A"/>
                </a:solidFill>
              </a:rPr>
              <a:t>核心原则：没有洞察，就没有方向。场景选择是行业智能化成功的第一个关键决策。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874519"/>
            <a:ext cx="2331720" cy="4462272"/>
          </a:xfrm>
          <a:prstGeom prst="rect">
            <a:avLst/>
          </a:prstGeom>
          <a:solidFill>
            <a:srgbClr val="E8F0FE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874519"/>
            <a:ext cx="2331720" cy="45720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911095"/>
            <a:ext cx="2148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过滤器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0756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数字化程度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4048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CC"/>
                </a:solidFill>
              </a:rPr>
              <a:t>业务流程是否已在数字系统中运行？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全流程数字化 → 直接接入，成本最低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46704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半数字化 → 接口改造成本需评估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13632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物理为主 → 智能化改造周期长、风险高（慎入）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5513831"/>
            <a:ext cx="2331720" cy="82296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5550407"/>
            <a:ext cx="2148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电商/金融最优，制造业生产侧风险最高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8" y="1874519"/>
            <a:ext cx="2331720" cy="4462272"/>
          </a:xfrm>
          <a:prstGeom prst="rect">
            <a:avLst/>
          </a:prstGeom>
          <a:solidFill>
            <a:srgbClr val="E8F0FE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24328" y="1874519"/>
            <a:ext cx="2331720" cy="45720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1911095"/>
            <a:ext cx="2148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过滤器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0756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数据密度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4048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CC"/>
                </a:solidFill>
              </a:rPr>
              <a:t>是否有足够质量和数量的历史数据？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4056" y="2779776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用户行为数据（交易/点击/对话）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3346704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结构化业务数据（合规/风控/财务）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3913632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非结构化/稀疏数据 → 需先建数据飞轮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24328" y="5513831"/>
            <a:ext cx="2331720" cy="82296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550407"/>
            <a:ext cx="2148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数据越密集，模型越好用，飞轮越快转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624" y="1874519"/>
            <a:ext cx="2331720" cy="4462272"/>
          </a:xfrm>
          <a:prstGeom prst="rect">
            <a:avLst/>
          </a:prstGeom>
          <a:solidFill>
            <a:srgbClr val="E8F8E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92624" y="1874519"/>
            <a:ext cx="233172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11095"/>
            <a:ext cx="2148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过滤器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20756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ROI可验证性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24048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A4A"/>
                </a:solidFill>
              </a:rPr>
              <a:t>成功指标是否清晰可量化？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2779776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直接财务指标：转化率、审批时效、人力替代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3346704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间接指标：满意度、错误率 → 归因复杂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3913632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无清晰指标 → 决策层信心难以维持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2624" y="5513831"/>
            <a:ext cx="2331720" cy="82296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5550407"/>
            <a:ext cx="2148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ROI链路越短，项目越容易获得持续投入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1874519"/>
            <a:ext cx="2331720" cy="4462272"/>
          </a:xfrm>
          <a:prstGeom prst="rect">
            <a:avLst/>
          </a:prstGeom>
          <a:solidFill>
            <a:srgbClr val="E8F8E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0919" y="1874519"/>
            <a:ext cx="233172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59" y="1911095"/>
            <a:ext cx="2148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过滤器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59" y="20756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重复性与规则化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59" y="24048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A4A"/>
                </a:solidFill>
              </a:rPr>
              <a:t>业务动作是否重复且规则明确？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7" y="2779776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高重复+规则清晰 → Agent可完全接管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0647" y="3346704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半结构化判断 → 人机协作模式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7" y="3913632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高度创意/情感性工作 → AI辅助，人主导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19" y="5513831"/>
            <a:ext cx="2331720" cy="82296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59" y="5550407"/>
            <a:ext cx="2148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重复性越高，自动化价值越大，风险越低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9215" y="1874519"/>
            <a:ext cx="2331720" cy="4462272"/>
          </a:xfrm>
          <a:prstGeom prst="rect">
            <a:avLst/>
          </a:prstGeom>
          <a:solidFill>
            <a:srgbClr val="FFEEEE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29215" y="1874519"/>
            <a:ext cx="2331720" cy="457200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0655" y="1911095"/>
            <a:ext cx="2148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过滤器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0655" y="20756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容错率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0655" y="24048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F362A"/>
                </a:solidFill>
              </a:rPr>
              <a:t>该场景出错的代价是什么？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38943" y="2779776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低容错（医疗诊断/信贷/法律） → 必须人工审核，合规成本极高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38943" y="3346704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中容错（营销/内容/客服）→ 适合Agent主导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38943" y="3913632"/>
            <a:ext cx="21305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•  高容错（建议/摘要/草稿）→ 最优先切入点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29215" y="5513831"/>
            <a:ext cx="2331720" cy="822960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0655" y="5550407"/>
            <a:ext cx="2148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从高容错场景起步，积累信任后扩展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场景选择框架基于：MIT NANDA失败归因 · 智能化报告1.1行业优先级分析 · 美国企业落地实证数据 · 行业智能化发展挑战1.0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方法论 Step 2 — 三大成功基础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数据地基 × 技术选型 × 组织准备：任何一项缺失，项目都会在规模化时崩塌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840480" cy="5138928"/>
          </a:xfrm>
          <a:prstGeom prst="rect">
            <a:avLst/>
          </a:prstGeom>
          <a:solidFill>
            <a:srgbClr val="E8F0FE"/>
          </a:solidFill>
          <a:ln w="254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840480" cy="50292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基础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459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数据地基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01168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665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4A"/>
                </a:solidFill>
              </a:rPr>
              <a:t>数据治理先行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5915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AI项目开始前完成数据审计：质量、完整性、标注状态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06324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118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4A"/>
                </a:solidFill>
              </a:rPr>
              <a:t>数据孤岛打通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41071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打通ERP/CRM/OA的API接口，建立统一数据层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11480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16966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4A"/>
                </a:solidFill>
              </a:rPr>
              <a:t>数据飞轮设计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46227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系统设计之初就规划：AI输出如何反哺训练数据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516636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4A"/>
                </a:solidFill>
              </a:rPr>
              <a:t>合规与隐私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51383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GDPR/个保法/HIPAA要求嵌入数据架构，而非事后补丁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44768"/>
            <a:ext cx="3840480" cy="41148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6172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73%企业将数据质量列为#1障碍
（Forrester, 500 data leaders）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417320"/>
            <a:ext cx="3840480" cy="5138928"/>
          </a:xfrm>
          <a:prstGeom prst="rect">
            <a:avLst/>
          </a:prstGeom>
          <a:solidFill>
            <a:srgbClr val="ECF3FF"/>
          </a:solidFill>
          <a:ln w="2540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1417320"/>
            <a:ext cx="3840480" cy="50292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4447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基础 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16459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技术选型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01168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0665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场景驱动选型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35915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业务需求决定模型，而非技术追潮。通用模型≠行业最优解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06324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3118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垂直微调投入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41071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行业数据Fine-tuning或RAG知识库是垂直领域的核心壁垒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11480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416966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购买vs自建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46227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MIT数据：外购成功率67% vs 自建33%。非核心能力优先外购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16636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工程可靠性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551383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POC 80%准确 ≠ 生产就绪。生产需要99%+可靠性、容灾和回滚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6144768"/>
            <a:ext cx="3840480" cy="41148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6172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MIT：内部自建AI成功率
仅为外购方案的1/3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417320"/>
            <a:ext cx="3840480" cy="5138928"/>
          </a:xfrm>
          <a:prstGeom prst="rect">
            <a:avLst/>
          </a:prstGeom>
          <a:solidFill>
            <a:srgbClr val="E8F8EE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1417320"/>
            <a:ext cx="3840480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14447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基础 III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16459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组织准备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201168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20665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一把手工程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35915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顶层战略背书是成功的必要条件。AI不是IT项目，是战略项目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306324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3118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复合型人才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41071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业务专家+AI工程师 = 极稀缺。培养/引进'翻译型'人才是关键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411480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416966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流程重构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46227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Agent介入后，审批链、岗位职责需系统重设计，而非叠加工具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5166360"/>
            <a:ext cx="35661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5632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变革管理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513832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3344"/>
                </a:solidFill>
              </a:rPr>
              <a:t>员工焦虑需正视。清晰的人机协作岗位设计，降低抵制风险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6144768"/>
            <a:ext cx="384048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9327" y="6172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组织变革是最难跨越的障碍：
技术挑战可解决，人心挑战难量化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Sources: Forrester/Capital One Survey · MIT NANDA · McKinsey · 行业智能化发展挑战1.0 · 美国落地失败案例研究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核心方法论 — 行业智能化三环模型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「选对场景 · 建好基础 · 赢在执行」——缺任何一环，倒金字塔无法成立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63040"/>
            <a:ext cx="3200400" cy="1463040"/>
          </a:xfrm>
          <a:prstGeom prst="rect">
            <a:avLst/>
          </a:prstGeom>
          <a:solidFill>
            <a:srgbClr val="E8F8E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3200400" cy="34747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99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环一：场景决策层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8653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5过滤器选场景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945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行业×业务双维筛选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5237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ROI路径预定义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063240"/>
            <a:ext cx="3200400" cy="1463040"/>
          </a:xfrm>
          <a:prstGeom prst="rect">
            <a:avLst/>
          </a:prstGeom>
          <a:solidFill>
            <a:srgbClr val="E8F0FE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063240"/>
            <a:ext cx="3200400" cy="347472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3099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环二：基础建设层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4655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数据治理与飞轮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7947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技术选型与适配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1239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组织变革准备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663440"/>
            <a:ext cx="3200400" cy="1463040"/>
          </a:xfrm>
          <a:prstGeom prst="rect">
            <a:avLst/>
          </a:prstGeom>
          <a:solidFill>
            <a:srgbClr val="FFF5E6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663440"/>
            <a:ext cx="3200400" cy="347472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7000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环三：执行落地层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0657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小步快跑·快速验证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3949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人机协作界面设计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241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• 持续迭代与运营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417320"/>
            <a:ext cx="4937760" cy="5138928"/>
          </a:xfrm>
          <a:prstGeom prst="rect">
            <a:avLst/>
          </a:prstGeom>
          <a:solidFill>
            <a:srgbClr val="E8F8EE"/>
          </a:solidFill>
          <a:ln w="381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1874519"/>
            <a:ext cx="4023360" cy="4224528"/>
          </a:xfrm>
          <a:prstGeom prst="rect">
            <a:avLst/>
          </a:prstGeom>
          <a:solidFill>
            <a:srgbClr val="E8F0FE"/>
          </a:solidFill>
          <a:ln w="3810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2331720"/>
            <a:ext cx="3108960" cy="3310128"/>
          </a:xfrm>
          <a:prstGeom prst="rect">
            <a:avLst/>
          </a:prstGeom>
          <a:solidFill>
            <a:srgbClr val="EBF3FF"/>
          </a:solidFill>
          <a:ln w="381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3957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4A"/>
                </a:solidFill>
              </a:rPr>
              <a:t>核心命题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077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F4A"/>
                </a:solidFill>
              </a:rPr>
              <a:t>行业应用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2552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创造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5935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100×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3308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B1F4A"/>
                </a:solidFill>
              </a:rPr>
              <a:t>硬件的价值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348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1A8A4A"/>
                </a:solidFill>
              </a:rPr>
              <a:t>= 倒金字塔实现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800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56CC"/>
                </a:solidFill>
              </a:rPr>
              <a:t>场景×基础×执行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0840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F362A"/>
                </a:solidFill>
              </a:rPr>
              <a:t>缺一不可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1463040"/>
            <a:ext cx="3200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4A"/>
                </a:solidFill>
              </a:rPr>
              <a:t>三环如何联动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1956816"/>
            <a:ext cx="777240" cy="50292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20299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00253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没有场景洞察，基础投资方向错误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2596896"/>
            <a:ext cx="777240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26700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2642615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没有数据基础，技术再先进也无用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3236976"/>
            <a:ext cx="777240" cy="502920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33101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28269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没有组织配合，工具再好也落不了地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3877056"/>
            <a:ext cx="777240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39502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92277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三环齐备→小范围验证→ROI可见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4517136"/>
            <a:ext cx="777240" cy="50292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459028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562855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ROI验证→扩大投资→数据飞轮加速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5157216"/>
            <a:ext cx="7772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52303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520293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飞轮加速→行业壁垒→100×价值实现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三环模型综合自：CLAUDE.md项目定位 · 智能化报告1.1 · 行业智能化发展挑战1.0 · MIT/McKinsey/Gartner实证数据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方法论 Step 3 — 行业场景优先矩阵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在哪些行业的哪些场景，三环方法论的胜率最高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4A"/>
                </a:solidFill>
              </a:rPr>
              <a:t>优先级判断矩阵：行业 × 业务场景 × 5过滤器得分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1612880" cy="41148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行业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优先
梯队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874519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最优先落地场景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74519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主要障碍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874519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建议切入点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11612880" cy="850392"/>
          </a:xfrm>
          <a:prstGeom prst="rect">
            <a:avLst/>
          </a:prstGeom>
          <a:solidFill>
            <a:srgbClr val="FFFBE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59152"/>
            <a:ext cx="1005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金融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59152"/>
            <a:ext cx="1078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第一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359152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智能风控 · 信贷审批
智能客服 · 合规审查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5915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规则清晰、数据密集
ROI直接可量化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5915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FINRA/SOX
合规成本高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35915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智能客服优先
(最低合规风险)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11612880" cy="850392"/>
          </a:xfrm>
          <a:prstGeom prst="rect">
            <a:avLst/>
          </a:prstGeom>
          <a:solidFill>
            <a:srgbClr val="FFF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227832"/>
            <a:ext cx="1005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政务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27832"/>
            <a:ext cx="1078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第一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227832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审批流程自动化
政策问答 · 跨部门协同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22783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标准化流程
数据有保障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22783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数据共享政策
系统整合复杂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22783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政策咨询问答
(高频低风险)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23360"/>
            <a:ext cx="11612880" cy="850392"/>
          </a:xfrm>
          <a:prstGeom prst="rect">
            <a:avLst/>
          </a:prstGeom>
          <a:solidFill>
            <a:srgbClr val="F2FFF5"/>
          </a:solidFill>
          <a:ln w="63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96512"/>
            <a:ext cx="1005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A4A"/>
                </a:solidFill>
              </a:rPr>
              <a:t>零售/电商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096512"/>
            <a:ext cx="1078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8A4A"/>
                </a:solidFill>
              </a:rPr>
              <a:t>第一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79" y="4096512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个性化推荐 · 智能客服
供应链 · 大促运营Agent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09651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全链路数字化
数据飞轮天然存在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09651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CCPA隐私法
薄利率容错低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09651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推荐/客服双线
(ROI最快验证)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11612880" cy="850392"/>
          </a:xfrm>
          <a:prstGeom prst="rect">
            <a:avLst/>
          </a:prstGeom>
          <a:solidFill>
            <a:srgbClr val="F0F5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965192"/>
            <a:ext cx="1005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CC"/>
                </a:solidFill>
              </a:rPr>
              <a:t>制造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965192"/>
            <a:ext cx="1078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6CC"/>
                </a:solidFill>
              </a:rPr>
              <a:t>第二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4965192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预测性维护
质量检测 · 供应链优化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96519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国家战略支持
价值场景清晰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96519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OT/IT融合难
物理失效风险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496519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服务侧切入
(非生产控制)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60720"/>
            <a:ext cx="11612880" cy="850392"/>
          </a:xfrm>
          <a:prstGeom prst="rect">
            <a:avLst/>
          </a:prstGeom>
          <a:solidFill>
            <a:srgbClr val="F5F0FF"/>
          </a:solidFill>
          <a:ln w="6350">
            <a:solidFill>
              <a:srgbClr val="7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833872"/>
            <a:ext cx="1005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55AA"/>
                </a:solidFill>
              </a:rPr>
              <a:t>医疗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833872"/>
            <a:ext cx="1078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755AA"/>
                </a:solidFill>
              </a:rPr>
              <a:t>第三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79" y="5833872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辅助诊断 · 影像分析
医院运营 · 新药研发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8338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潜力巨大
数据价值高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83387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HIPAA/监管严
容错率极低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83387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44"/>
                </a:solidFill>
              </a:rPr>
              <a:t>行政/运营AI优先
(避开临床决策)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Sources: 智能化报告1.1行业优先级 · 行业智能化发展挑战1.0 · US enterprise AI data (Gartner/MIT/HIPAA/FINRA)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核心方法论 — 行业智能化五大成功法则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从全球失败案例与成功范式中提炼的可执行原则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833872" cy="1938528"/>
          </a:xfrm>
          <a:prstGeom prst="rect">
            <a:avLst/>
          </a:prstGeom>
          <a:solidFill>
            <a:srgbClr val="E8F0FE"/>
          </a:solidFill>
          <a:ln w="1905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833872" cy="420624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7218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法则一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72184"/>
            <a:ext cx="4782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洞察先行，场景为王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92808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B1F4A"/>
                </a:solidFill>
              </a:rPr>
              <a:t>没有洞察，就没有方向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6712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你对行业懂不懂、你对问题看得穿不穿、你知不知道客户真正要什么——
这三个问题的答案决定了你的智能化项目是否值得启动。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060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用5过滤器筛场景，拒绝因追概念而盲目启动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8346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业务专家必须主导场景定义，AI工程师是执行者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0632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场景ROI路径必须在立项时写清楚，不清楚的不做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417320"/>
            <a:ext cx="5833872" cy="1938528"/>
          </a:xfrm>
          <a:prstGeom prst="rect">
            <a:avLst/>
          </a:prstGeom>
          <a:solidFill>
            <a:srgbClr val="EBF3FF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7" y="1417320"/>
            <a:ext cx="5833872" cy="420624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47218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法则二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7" y="1472184"/>
            <a:ext cx="4782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数据先建，地基先行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892808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A56CC"/>
                </a:solidFill>
              </a:rPr>
              <a:t>没有数据飞轮，就没有行业壁垒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6712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全球73%的AI项目将数据质量列为#1障碍。数据治理不是AI项目的前置工作，
它本身就是AI战略的核心组成部分。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6060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数据治理先于模型选型，数据质量审计是项目立项必要条件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设计数据飞轮：AI输出→用户反馈→训练数据→更好的AI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063240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隐私合规架构在设计阶段嵌入，而非事后加固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47288"/>
            <a:ext cx="5833872" cy="1938528"/>
          </a:xfrm>
          <a:prstGeom prst="rect">
            <a:avLst/>
          </a:prstGeom>
          <a:solidFill>
            <a:srgbClr val="E8F8E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447288"/>
            <a:ext cx="5833872" cy="420624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5021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法则三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502152"/>
            <a:ext cx="4782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小步快跑，ROI优先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922776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A8A4A"/>
                </a:solidFill>
              </a:rPr>
              <a:t>没有可见的ROI，就没有持续的投入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97096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MIT研究：只有5%的AI试点能创造可衡量价值。关键在于：先验证ROI，
再扩大规模。不要一次做大，要一次做透。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6360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第一个场景必须ROI清晰、可量化、可在6个月内验证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8646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从高容错、高重复场景起步，积累信任，建立组织信心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0932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验证ROI后再扩场景，避免资源分散在10个半成品POC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3447288"/>
            <a:ext cx="5833872" cy="1938528"/>
          </a:xfrm>
          <a:prstGeom prst="rect">
            <a:avLst/>
          </a:prstGeom>
          <a:solidFill>
            <a:srgbClr val="FFF5E6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7" y="3447288"/>
            <a:ext cx="5833872" cy="420624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5021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法则四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7" y="3502152"/>
            <a:ext cx="4782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人机共赢，组织先行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3922776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07A1A"/>
                </a:solidFill>
              </a:rPr>
              <a:t>没有组织准备，工具再好也落不了地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197096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成功的AI项目改变的不只是工具，而是权力结构、工作流程和组织文化。
这比任何技术挑战都更难，也更重要。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6360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CEO级背书是必要条件，AI项目=战略项目，而非IT项目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8646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先设计'人机协作岗位'，再部署Agent，避免员工抵制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5093208"/>
            <a:ext cx="5614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→ 流程重构与AI部署并行推进，而非先上AI再改流程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486400"/>
            <a:ext cx="11612880" cy="1170432"/>
          </a:xfrm>
          <a:prstGeom prst="rect">
            <a:avLst/>
          </a:prstGeom>
          <a:solidFill>
            <a:srgbClr val="FFEEEE"/>
          </a:solidFill>
          <a:ln w="19050">
            <a:solidFill>
              <a:srgbClr val="BF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486400"/>
            <a:ext cx="11612880" cy="420624"/>
          </a:xfrm>
          <a:prstGeom prst="rect">
            <a:avLst/>
          </a:prstGeom>
          <a:solidFill>
            <a:srgbClr val="BF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55412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法则五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5541264"/>
            <a:ext cx="10561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合规内嵌，持续运营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96188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F362A"/>
                </a:solidFill>
              </a:rPr>
              <a:t>没有治理体系，规模化就是风险放大器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596188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BF362A"/>
                </a:solidFill>
              </a:rPr>
              <a:t>没有治理体系，规模化就是风险放大器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236208"/>
            <a:ext cx="55869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美国131条州级AI法律、HIPAA/FINRA/SOX等行业监管正在执行期落地。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236208"/>
            <a:ext cx="557418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44"/>
                </a:solidFill>
              </a:rPr>
              <a:t>→ 合规要求在AI系统设计时嵌入，而非部署后修补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6437376"/>
            <a:ext cx="557418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44"/>
                </a:solidFill>
              </a:rPr>
              <a:t>→ 建立AI治理框架：版本管理、行为监控、回滚机制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59" y="5961888"/>
            <a:ext cx="557418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44"/>
                </a:solidFill>
              </a:rPr>
              <a:t>→ 合规要求在AI系统设计时嵌入，而非部署后修补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6163055"/>
            <a:ext cx="557418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44"/>
                </a:solidFill>
              </a:rPr>
              <a:t>→ 建立AI治理框架：版本管理、行为监控、回滚机制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6364224"/>
            <a:ext cx="557418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44"/>
                </a:solidFill>
              </a:rPr>
              <a:t>→ 从'项目交付'思维转向'持续运营'思维（AgentOps）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五大法则综合自：CLAUDE.md核心命题 · init_mind.md洞察原则 · MIT/Gartner/McKinsey实证 · 行业智能化发展挑战1.0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关键发展路径 — 行业智能化三阶段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从单点验证到组织级智能化：每个阶段的目标、行动和里程碑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840480" cy="5138928"/>
          </a:xfrm>
          <a:prstGeom prst="rect">
            <a:avLst/>
          </a:prstGeom>
          <a:solidFill>
            <a:srgbClr val="E8F0FE"/>
          </a:solidFill>
          <a:ln w="254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840480" cy="71323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53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099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 – 6 个月 · 单点验证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212848"/>
            <a:ext cx="36210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94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B1F4A"/>
                </a:solidFill>
              </a:rPr>
              <a:t>目标：证明AI在特定场景能创造可量化价值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34056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70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B1F4A"/>
                </a:solidFill>
              </a:rPr>
              <a:t>选定场景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08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用5过滤器选出1个ROI最清晰的场景，拒绝同时启动多个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392424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B1F4A"/>
                </a:solidFill>
              </a:rPr>
              <a:t>数据审计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66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完成目标场景的数据质量评估，确定数据飞轮设计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050791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873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B1F4A"/>
                </a:solidFill>
              </a:rPr>
              <a:t>最小MVP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构建最精简的Agent，在真实业务中运行，不追求功能完整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709160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B1F4A"/>
                </a:solidFill>
              </a:rPr>
              <a:t>ROI验证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6个月内完成ROI验证：转化率/时效/成本至少一项可见改善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42432"/>
            <a:ext cx="3840480" cy="50292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76072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ROI基线已建立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91159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数据飞轮已启动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0624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组织信心已建立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291072"/>
            <a:ext cx="3840480" cy="292608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小步快跑，一次做透一个场景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417320"/>
            <a:ext cx="3840480" cy="5138928"/>
          </a:xfrm>
          <a:prstGeom prst="rect">
            <a:avLst/>
          </a:prstGeom>
          <a:solidFill>
            <a:srgbClr val="EBF3FF"/>
          </a:solidFill>
          <a:ln w="2540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1417320"/>
            <a:ext cx="3840480" cy="713232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1453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阶段二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17099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 – 18 个月 · 流程级扩展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2212848"/>
            <a:ext cx="36210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2494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56CC"/>
                </a:solidFill>
              </a:rPr>
              <a:t>目标：将验证成功的AI能力扩展到相关业务流程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8" y="2734056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2770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56CC"/>
                </a:solidFill>
              </a:rPr>
              <a:t>流程重构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008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基于第一阶段经验，系统重设计涉及Agent的业务流程和岗位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61688" y="3392424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4290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56CC"/>
                </a:solidFill>
              </a:rPr>
              <a:t>场景复制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666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将成功模式复制到2-3个相邻场景，验证方法论可迁移性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1688" y="4050791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0873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56CC"/>
                </a:solidFill>
              </a:rPr>
              <a:t>数据飞轮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第一阶段的AI输出已成为训练数据，模型性能持续提升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61688" y="4709160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56CC"/>
                </a:solidFill>
              </a:rPr>
              <a:t>合规落地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建立AI治理框架：版本控制、行为监控、审计日志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59" y="5742432"/>
            <a:ext cx="3840480" cy="502920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576072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多场景ROI验证完成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591159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数据飞轮效果可见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1688" y="60624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AI治理框架上线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9" y="6291072"/>
            <a:ext cx="3840480" cy="292608"/>
          </a:xfrm>
          <a:prstGeom prst="rect">
            <a:avLst/>
          </a:prstGeom>
          <a:solidFill>
            <a:srgbClr val="08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399" y="63093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快速复制，建立方法论可迁移性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1417320"/>
            <a:ext cx="3840480" cy="5138928"/>
          </a:xfrm>
          <a:prstGeom prst="rect">
            <a:avLst/>
          </a:prstGeom>
          <a:solidFill>
            <a:srgbClr val="E8F8EE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1417320"/>
            <a:ext cx="3840480" cy="71323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7" y="1453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阶段三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17099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18 – 36 个月 · 组织级智能化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9327" y="2212848"/>
            <a:ext cx="36210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22494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8A4A"/>
                </a:solidFill>
              </a:rPr>
              <a:t>目标：构建企业AI组织能力，形成行业级竞争壁垒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39327" y="2734056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2770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8A4A"/>
                </a:solidFill>
              </a:rPr>
              <a:t>多Agent协同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3008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构建Multi-Agent架构，实现跨部门、跨系统的业务流程自动化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9327" y="3392424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4290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8A4A"/>
                </a:solidFill>
              </a:rPr>
              <a:t>硅基团队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3666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AI Agent与人类员工混合协作，形成'认知型企业'雏形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9327" y="4050791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40873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8A4A"/>
                </a:solidFill>
              </a:rPr>
              <a:t>行业壁垒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专有数据集+行业知识库+运营经验沉淀为难以复制的竞争优势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9327" y="4709160"/>
            <a:ext cx="36210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8A4A"/>
                </a:solidFill>
              </a:rPr>
              <a:t>100×价值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44"/>
                </a:solidFill>
              </a:rPr>
              <a:t>行业应用层价值创造开始超越底层技术投入，倒金字塔成形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5742432"/>
            <a:ext cx="3840480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7" y="576072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行业壁垒已形成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7" y="591159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数据护城河建立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39327" y="60624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✓ 倒金字塔实现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6291072"/>
            <a:ext cx="3840480" cy="292608"/>
          </a:xfrm>
          <a:prstGeom prst="rect">
            <a:avLst/>
          </a:prstGeom>
          <a:solidFill>
            <a:srgbClr val="0E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21040" y="63093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系统构建，形成不可复制的行业壁垒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3566160"/>
            <a:ext cx="91440" cy="6400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69080" y="3493008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F4A"/>
                </a:solidFill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59" y="3566160"/>
            <a:ext cx="91440" cy="6400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19" y="3493008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F4A"/>
                </a:solidFill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99"/>
                </a:solidFill>
              </a:rPr>
              <a:t>发展路径基于：MIT NANDA行业AI落地规律 · Gartner Agentic AI成熟度曲线 · 智能化报告1.1三阶段路线图 · McKinsey AI规模化方法论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方法论全景 — 一页总览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行业智能化项目成功的核心方法论 · Project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566928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核心命题：行业应用层创造100×硬件价值 = 健康的倒金字塔AI产业生态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2249424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249424" cy="384048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9397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研究输入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52374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宏观趋势：亿级智能体时代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7238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关键挑战：7大落地障碍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62102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优先场景：数字化×数据×ROI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2057400"/>
            <a:ext cx="2249424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6896" y="2057400"/>
            <a:ext cx="2249424" cy="384048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209397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三环方法论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52374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环一：场景决策（5过滤器）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307238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环二：三大基础建设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362102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环三：执行落地与运营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2057400"/>
            <a:ext cx="2249424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9472" y="2057400"/>
            <a:ext cx="2249424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209397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五大法则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2374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法则一：洞察先行，场景为王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7238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法则二：数据先建，地基先行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62102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法则三：小步快跑，ROI优先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69663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法则四：人机共赢，组织先行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1830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法则五：合规内嵌，持续运营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2048" y="2057400"/>
            <a:ext cx="2249424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8" y="2057400"/>
            <a:ext cx="2249424" cy="384048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209397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三阶段路径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252374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阶段一(0-6M)：单点验证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5" y="307238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阶段二(6-18M)：流程级扩展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5" y="362102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阶段三(18-36M)：组织级智能化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64624" y="2057400"/>
            <a:ext cx="2249424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4624" y="2057400"/>
            <a:ext cx="2249424" cy="38404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209397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成功判定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252374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ROI可量化，指标已定义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07238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数据飞轮已启动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3621024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行业壁垒已形成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169663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44"/>
                </a:solidFill>
              </a:rPr>
              <a:t>▸ 价值&gt;底层技术投入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291072"/>
            <a:ext cx="11612880" cy="475488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3276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</a:rPr>
              <a:t>「你对行业懂不懂，你对问题看得穿不穿，你知不知道客户真正要什么」——这三个问题，决定了倒金字塔能否实现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行业智能化项目和产业发展分析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Project 1.0  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四大交付物 · 已完成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804672"/>
          </a:xfrm>
          <a:prstGeom prst="rect">
            <a:avLst/>
          </a:prstGeom>
          <a:solidFill>
            <a:srgbClr val="10224C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" cy="80467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8A4A"/>
                </a:solidFill>
              </a:rPr>
              <a:t>行业智能化发展的宏观趋势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6243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AACC"/>
                </a:solidFill>
              </a:rPr>
              <a:t>→ 智能化报告1.0.md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000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亿级智能体时代 · 多Agent主流架构 · 行业优先级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10515600" cy="804672"/>
          </a:xfrm>
          <a:prstGeom prst="rect">
            <a:avLst/>
          </a:prstGeom>
          <a:solidFill>
            <a:srgbClr val="10224C"/>
          </a:solidFill>
          <a:ln w="19050"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02920" cy="804672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A1A"/>
                </a:solidFill>
              </a:rPr>
              <a:t>行业智能化项目的关键挑战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930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AACC"/>
                </a:solidFill>
              </a:rPr>
              <a:t>→ 行业智能化发展挑战1.0.md + 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8687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7大落地障碍 · 美国3000+企业实证 · 失败根因分析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10515600" cy="804672"/>
          </a:xfrm>
          <a:prstGeom prst="rect">
            <a:avLst/>
          </a:prstGeom>
          <a:solidFill>
            <a:srgbClr val="10224C"/>
          </a:solidFill>
          <a:ln w="19050">
            <a:solidFill>
              <a:srgbClr val="1A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02920" cy="804672"/>
          </a:xfrm>
          <a:prstGeom prst="rect">
            <a:avLst/>
          </a:prstGeom>
          <a:solidFill>
            <a:srgbClr val="1A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3308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690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CC"/>
                </a:solidFill>
              </a:rPr>
              <a:t>哪些行业场景优先落地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3616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AACC"/>
                </a:solidFill>
              </a:rPr>
              <a:t>→ 智能化报告1.0.md（含场景分析）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87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5过滤器模型 · 行业×场景优先矩阵 · Agent适配标准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10515600" cy="804672"/>
          </a:xfrm>
          <a:prstGeom prst="rect">
            <a:avLst/>
          </a:prstGeom>
          <a:solidFill>
            <a:srgbClr val="10224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502920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01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93775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核心方法论和关键发展路径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2303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AACC"/>
                </a:solidFill>
              </a:rPr>
              <a:t>→ 本PPT（行业智能化项目成功方法论.pptx）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5604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三环模型 · 五大法则 · 三阶段路径 → 倒金字塔实现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773168"/>
            <a:ext cx="12188952" cy="1261872"/>
          </a:xfrm>
          <a:prstGeom prst="rect">
            <a:avLst/>
          </a:prstGeom>
          <a:solidFill>
            <a:srgbClr val="06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下一步：在实际行业项目中应用本方法论，持续迭代更新，向Project 2.0演进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AACC"/>
                </a:solidFill>
              </a:rPr>
              <a:t>没有正确的假设，就没有正确的方向；没有正确的方向，就没有正确的思想；没有正确的思想，就没有正确的理论；没有正确的理论，就没有正确的战略。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88AA"/>
                </a:solidFill>
              </a:rPr>
              <a:t>April 2026  ·  Project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69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8AA"/>
                </a:solidFill>
              </a:rPr>
              <a:t>行业智能化项目和产业发展分析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