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Agent时代的数据基础设施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096D6"/>
                </a:solidFill>
              </a:rPr>
              <a:t>数据是Agent的世界模型 -- Agent在没有人工干预的情况下，理解数据并做出正确决策的效率，决定了数据的真正价值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05840"/>
            <a:ext cx="11521440" cy="1417320"/>
          </a:xfrm>
          <a:prstGeom prst="roundRect">
            <a:avLst/>
          </a:prstGeom>
          <a:solidFill>
            <a:srgbClr val="1E253A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</a:rPr>
              <a:t>智能化业务层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59B6"/>
                </a:solidFill>
              </a:rPr>
              <a:t>Agent as New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1097280"/>
            <a:ext cx="1572768" cy="45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智能客服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多轮对话 · 知识检索
自动工单 · 情感分析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097280"/>
            <a:ext cx="1572768" cy="457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供应链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需求预测 · 库存优化
物流调度 · 风险预警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1097280"/>
            <a:ext cx="1572768" cy="457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金融风控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实时反欺诈 · 信贷审批
合规审查 · 市场监控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03720" y="1097280"/>
            <a:ext cx="1572768" cy="45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研发效能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代码生成 · 测试自动化
CI/CD编排 · 文档生成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49640" y="1097280"/>
            <a:ext cx="1572768" cy="45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医疗诊断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辅助诊断 · 影像分析
药物推荐 · 病历摘要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1097280"/>
            <a:ext cx="1572768" cy="123444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95560" y="1097280"/>
            <a:ext cx="1572768" cy="457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118872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数据分析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444752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自然语言查询 · 自动建模
报表生成 · 异常检测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2487168"/>
            <a:ext cx="11521440" cy="658368"/>
          </a:xfrm>
          <a:prstGeom prst="roundRect">
            <a:avLst/>
          </a:prstGeom>
          <a:solidFill>
            <a:srgbClr val="2A1F3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5328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Agent 连接协议层  —  打通「基础设施大脑」与「智能化业务」的桥梁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43200"/>
            <a:ext cx="2697480" cy="36576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798064"/>
            <a:ext cx="50292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79806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77063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Model Context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292608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标准化上下文接入 | 让Agent发现并调用数据源与工具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2743200"/>
            <a:ext cx="2697480" cy="36576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91840" y="2798064"/>
            <a:ext cx="502920" cy="256032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279806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A2A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277063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Agent-to-Agent Protocol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292608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Agent间协作通信协议 | 多Agent编排、任务分发与结果聚合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743200"/>
            <a:ext cx="2697480" cy="36576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0760" y="2798064"/>
            <a:ext cx="502920" cy="25603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279806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277063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可复用能力单元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292608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封装领域知识为可调用技能 | Agent按需组合、即插即用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60" y="2743200"/>
            <a:ext cx="2697480" cy="36576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69680" y="2798064"/>
            <a:ext cx="502920" cy="256032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279806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277063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执行控制框架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292608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Agent运行时管控与编排 | 权限·审计·限流·回滚保障</a:t>
            </a:r>
          </a:p>
        </p:txBody>
      </p:sp>
      <p:sp>
        <p:nvSpPr>
          <p:cNvPr id="54" name="Up Arrow 53"/>
          <p:cNvSpPr/>
          <p:nvPr/>
        </p:nvSpPr>
        <p:spPr>
          <a:xfrm>
            <a:off x="3200400" y="2377440"/>
            <a:ext cx="228600" cy="137160"/>
          </a:xfrm>
          <a:prstGeom prst="up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3200400" y="3118104"/>
            <a:ext cx="228600" cy="13716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p Arrow 55"/>
          <p:cNvSpPr/>
          <p:nvPr/>
        </p:nvSpPr>
        <p:spPr>
          <a:xfrm>
            <a:off x="6035040" y="2377440"/>
            <a:ext cx="228600" cy="137160"/>
          </a:xfrm>
          <a:prstGeom prst="up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own Arrow 56"/>
          <p:cNvSpPr/>
          <p:nvPr/>
        </p:nvSpPr>
        <p:spPr>
          <a:xfrm>
            <a:off x="6035040" y="3118104"/>
            <a:ext cx="228600" cy="13716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Up Arrow 57"/>
          <p:cNvSpPr/>
          <p:nvPr/>
        </p:nvSpPr>
        <p:spPr>
          <a:xfrm>
            <a:off x="8869680" y="2377440"/>
            <a:ext cx="228600" cy="137160"/>
          </a:xfrm>
          <a:prstGeom prst="up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own Arrow 58"/>
          <p:cNvSpPr/>
          <p:nvPr/>
        </p:nvSpPr>
        <p:spPr>
          <a:xfrm>
            <a:off x="8869680" y="3118104"/>
            <a:ext cx="228600" cy="13716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20040" y="3218688"/>
            <a:ext cx="11521440" cy="1691640"/>
          </a:xfrm>
          <a:prstGeom prst="roundRect">
            <a:avLst/>
          </a:prstGeom>
          <a:solidFill>
            <a:srgbClr val="1C2D38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2918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96D6"/>
                </a:solidFill>
              </a:rPr>
              <a:t>基础设施大脑层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35661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96D6"/>
                </a:solidFill>
              </a:rPr>
              <a:t>模型 + 数据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65960" y="3355848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ABC9C"/>
                </a:solidFill>
              </a:rPr>
              <a:t>模型能力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65960" y="3611880"/>
            <a:ext cx="1536192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965960" y="3611880"/>
            <a:ext cx="1536192" cy="45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3703320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大语言模型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5935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GPT/Claude/Llama
推理·生成·规划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66160" y="3611880"/>
            <a:ext cx="1536192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566160" y="3611880"/>
            <a:ext cx="1536192" cy="457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75888" y="3703320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多模态模型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395935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视觉·语音·代码
跨模态理解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66360" y="3611880"/>
            <a:ext cx="1536192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166360" y="3611880"/>
            <a:ext cx="1536192" cy="45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76088" y="3703320"/>
            <a:ext cx="1316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专业模型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57800" y="395935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领域微调·小模型
低延迟·高精度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3355848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48C06"/>
                </a:solidFill>
              </a:rPr>
              <a:t>数据能力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03720" y="3611880"/>
            <a:ext cx="960120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903720" y="3611880"/>
            <a:ext cx="960120" cy="457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13448" y="3703320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多模态存储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39593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向量库·图谱·时序库
结构化+非结构化统一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909560" y="3611880"/>
            <a:ext cx="960120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909560" y="3611880"/>
            <a:ext cx="960120" cy="457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19288" y="3703320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语义数据层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39593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元数据·数据目录
业务语义·数据卡片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15400" y="3611880"/>
            <a:ext cx="960120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15400" y="3611880"/>
            <a:ext cx="960120" cy="45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25128" y="3703320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RAG与检索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06840" y="39593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混合检索·Rerank
实时召回·低延迟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21240" y="3611880"/>
            <a:ext cx="960120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921240" y="3611880"/>
            <a:ext cx="960120" cy="45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30968" y="3703320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记忆系统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12680" y="39593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长短期记忆·跨会话
上下文沉淀与压缩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927080" y="3611880"/>
            <a:ext cx="960120" cy="118872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927080" y="3611880"/>
            <a:ext cx="960120" cy="45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36808" y="3703320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安全治理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18520" y="39593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身份认证·行级权限
审计追溯·反馈闭环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040" y="4983480"/>
            <a:ext cx="11521440" cy="1051560"/>
          </a:xfrm>
          <a:prstGeom prst="roundRect">
            <a:avLst/>
          </a:prstGeom>
          <a:solidFill>
            <a:srgbClr val="1C2B3A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505663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算力基础设施层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1480" y="5330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Hardware Infra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96596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965960" y="5074920"/>
            <a:ext cx="1572768" cy="45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7568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GPU/TPU集群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训练·推理算力
NVIDIA/AMD/自研芯片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1188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611880" y="5074920"/>
            <a:ext cx="1572768" cy="457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2160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高速网络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0332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RDMA · InfiniBand
低延迟互联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25780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257800" y="5074920"/>
            <a:ext cx="1572768" cy="457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6752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分布式存储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4924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对象存储·块存储
高吞吐IO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90372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903720" y="5074920"/>
            <a:ext cx="1572768" cy="45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1344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云原生平台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K8s · Serverless
弹性伸缩·调度编排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54964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549640" y="5074920"/>
            <a:ext cx="1572768" cy="457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5936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边缘计算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4108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端侧推理·IoT网关
低延迟本地决策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195560" y="5074920"/>
            <a:ext cx="1572768" cy="8686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0195560" y="5074920"/>
            <a:ext cx="1572768" cy="45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305288" y="5166360"/>
            <a:ext cx="1353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能源与散热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87000" y="5422392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绿色数据中心
液冷·能效优化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" y="6126480"/>
            <a:ext cx="11521440" cy="640080"/>
          </a:xfrm>
          <a:prstGeom prst="roundRect">
            <a:avLst/>
          </a:prstGeom>
          <a:solidFill>
            <a:srgbClr val="24243E"/>
          </a:solidFill>
          <a:ln w="1524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</a:rPr>
              <a:t>核心洞察：Agent取代人类成为数据的主要消费者 —— 数据就是Agent的世界模型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数据的价值不再取决于你拥有多少，而取决于Agent在没有人工干预的情况下，理解数据并做出正确决策的效率 —— 谁让Agent低成本理解数据，谁就掌握智能化入口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