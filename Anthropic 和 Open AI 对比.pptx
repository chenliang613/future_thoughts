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Claude(Opus5/Fable5)</c:v>
                </c:pt>
              </c:strCache>
            </c:strRef>
          </c:tx>
          <c:spPr>
            <a:solidFill>
              <a:srgbClr val="C16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A3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SWE-bench
Verified</c:v>
                  </c:pt>
                  <c:pt idx="1">
                    <c:v>SWE-bench
Pro</c:v>
                  </c:pt>
                  <c:pt idx="2">
                    <c:v>GPQA
Diamond</c:v>
                  </c:pt>
                  <c:pt idx="3">
                    <c:v>ECI 指数
(÷2)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80.3</c:v>
                </c:pt>
                <c:pt idx="2">
                  <c:v>91.3</c:v>
                </c:pt>
                <c:pt idx="3">
                  <c:v>80.5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GPT-5.6 Sol</c:v>
                </c:pt>
              </c:strCache>
            </c:strRef>
          </c:tx>
          <c:spPr>
            <a:solidFill>
              <a:srgbClr val="0F9D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A3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SWE-bench
Verified</c:v>
                  </c:pt>
                  <c:pt idx="1">
                    <c:v>SWE-bench
Pro</c:v>
                  </c:pt>
                  <c:pt idx="2">
                    <c:v>GPQA
Diamond</c:v>
                  </c:pt>
                  <c:pt idx="3">
                    <c:v>ECI 指数
(÷2)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64.6</c:v>
                </c:pt>
                <c:pt idx="2">
                  <c:v>94.6</c:v>
                </c:pt>
                <c:pt idx="3">
                  <c:v>79.5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A3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A3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Anthropic</c:v>
                </c:pt>
              </c:strCache>
            </c:strRef>
          </c:tx>
          <c:spPr>
            <a:solidFill>
              <a:srgbClr val="C1663D"/>
            </a:solidFill>
            <a:ln w="38100" cap="flat">
              <a:solidFill>
                <a:srgbClr val="C166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663D"/>
              </a:solidFill>
              <a:ln w="9525" cap="flat">
                <a:solidFill>
                  <a:srgbClr val="C166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2025-01</c:v>
                  </c:pt>
                  <c:pt idx="1">
                    <c:v>2025-08</c:v>
                  </c:pt>
                  <c:pt idx="2">
                    <c:v>2025-12</c:v>
                  </c:pt>
                  <c:pt idx="3">
                    <c:v>2026-04</c:v>
                  </c:pt>
                  <c:pt idx="4">
                    <c:v>2026-07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30</c:v>
                </c:pt>
                <c:pt idx="4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OpenAI</c:v>
                </c:pt>
              </c:strCache>
            </c:strRef>
          </c:tx>
          <c:spPr>
            <a:solidFill>
              <a:srgbClr val="0F9D80"/>
            </a:solidFill>
            <a:ln w="38100" cap="flat">
              <a:solidFill>
                <a:srgbClr val="0F9D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9D80"/>
              </a:solidFill>
              <a:ln w="9525" cap="flat">
                <a:solidFill>
                  <a:srgbClr val="0F9D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2025-01</c:v>
                  </c:pt>
                  <c:pt idx="1">
                    <c:v>2025-08</c:v>
                  </c:pt>
                  <c:pt idx="2">
                    <c:v>2025-12</c:v>
                  </c:pt>
                  <c:pt idx="3">
                    <c:v>2026-04</c:v>
                  </c:pt>
                  <c:pt idx="4">
                    <c:v>2026-07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3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3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6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洞察分析报告 · 2026 年 9 月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</a:t>
            </a:r>
            <a:pPr indent="0" marL="0">
              <a:buNone/>
            </a:pPr>
            <a:r>
              <a:rPr lang="en-US" sz="5200" b="1" dirty="0">
                <a:solidFill>
                  <a:srgbClr val="D9D4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pPr indent="0" marL="0">
              <a:buNone/>
            </a:pPr>
            <a:r>
              <a:rPr lang="en-US" sz="5200" b="1" dirty="0">
                <a:solidFill>
                  <a:srgbClr val="0F9D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OpenAI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全面竞争深度分析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模型能力 · 商业变现 · 生态战略 · 产业合作 · 安全治理 —— 五大维度全景对比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34322F"/>
          </a:solidFill>
          <a:ln w="19050">
            <a:solidFill>
              <a:srgbClr val="C16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82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估值 $965B · ARR $65B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39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 Series H · 2026年7月运行率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68112" y="4736592"/>
            <a:ext cx="585216" cy="585216"/>
          </a:xfrm>
          <a:prstGeom prst="ellipse">
            <a:avLst/>
          </a:prstGeom>
          <a:solidFill>
            <a:srgbClr val="262624"/>
          </a:solidFill>
          <a:ln w="12700">
            <a:solidFill>
              <a:srgbClr val="454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68112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53328" y="416052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34322F"/>
          </a:solidFill>
          <a:ln w="19050">
            <a:solidFill>
              <a:srgbClr val="0F9D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9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4782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估值 $852B · ARR $40B+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5239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融资轮 · 2026年8月运行率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数据来源:公开媒体报道与公司披露信息整理,部分数字为第三方估算,详见附录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核心结论摘要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五大维度对比结果:AI 行业正从「单极领先」转向「双雄并起」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81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39696"/>
            <a:ext cx="493776" cy="493776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7" name="Image 0" descr="/home/claude/vs_ppt/icons/brain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677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模型能力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417320" y="240487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DEAE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404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互有胜负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039112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旗舰代际接近:Claude 在编程(SWE-bench Pro)、Agentic 与综合能力指数(ECI)领先;GPT 在学术推理(GPQA)、终端/浏览器类任务反超。差距已收窄至个位百分点。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290779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815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3081528"/>
            <a:ext cx="493776" cy="493776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4" name="Image 1" descr="/home/claude/vs_ppt/icons/dollar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20954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商业变现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417320" y="3346704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DEAE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417320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增速反超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2980944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 Anthropic ARR 报 $650亿,增速与利润率均优于 OpenAI(约$400亿+);但 OpenAI 消费端规模(ChatGPT 周活9亿+)仍遥遥领先。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48640" y="384962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815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808" y="4023360"/>
            <a:ext cx="493776" cy="493776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21" name="Image 2" descr="/home/claude/vs_ppt/icons/network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15137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17320" y="3941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生态战略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417320" y="4288536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DEAE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417320" y="4288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卡位协议层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3429000" y="3922776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已成为事实标准,连 OpenAI 都采用;并将协议延伸至物理世界(MHS)。OpenAI 以 ChatGPT 为流量入口构建 Apps SDK,自有 GPT Store 此前遇冷。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548640" y="479145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815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9808" y="4965192"/>
            <a:ext cx="493776" cy="493776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28" name="Image 3" descr="/home/claude/vs_ppt/icons/handshake_c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0932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17320" y="4882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产业合作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417320" y="523036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DEAE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417320" y="52303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基建规模更大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3429000" y="4864608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双方均获云厂商与芯片巨头巨额押注,微软/英伟达/亚马逊同时投资两家。OpenAI 以 Stargate 等万亿级承诺领先规模,Anthropic 加速追赶企业渗透与自研芯片。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548640" y="57332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1815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49808" y="5907024"/>
            <a:ext cx="493776" cy="493776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35" name="Image 4" descr="/home/claude/vs_ppt/icons/shield_c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035040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417320" y="5824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安全治理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1417320" y="6172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DEAE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1417320" y="6172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路径分化,双方承压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3429000" y="5806440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治理结构更严谨、第三方安全评分更高,但2026年2月放宽了RSP硬性红线;OpenAI安全团队持续重组,2026年8月Hugging Face事件后转向支持更严监管。</a:t>
            </a:r>
            <a:endParaRPr lang="en-US" sz="1080" dirty="0"/>
          </a:p>
        </p:txBody>
      </p:sp>
      <p:sp>
        <p:nvSpPr>
          <p:cNvPr id="40" name="Text 3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双方概况速览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2026 年 9 月的公开信息快照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977640" y="1874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7764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18745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F9D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292840" cy="45720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50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成立时间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年(2019 年营利转型)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创始团队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907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Dario Amodei 等 7 位前 OpenAI 员工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907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Altman、Elon Musk 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11292840" cy="566928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3649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公司结构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364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特拉华州 PBC + 长期利益信托(LTBT)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364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Foundation(非营利)控股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Group PBC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最新估值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$9650 亿(2026/5,Series H $650亿)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$8520 亿(2026/3,融资$1220亿)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292840" cy="45720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 ARR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$650 亿(2026 年 7 月)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$400 亿+(2026 年 8 月)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旗舰模型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/ Fable 5(2026 年中)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Sol(2026 年 7 月)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292840" cy="45720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进展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保密提交,预计 2026 年秋率先上市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尚未正式启动,或在 2027 年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模型能力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发布节奏:双雄陷入「军备竞赛」式月更周期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2025年8月—2026年7月,两家公司均以约4-6周一次的节奏发布重大更新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16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11 次主要发布 / 12 个月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4.1 → Sonnet 4.5 → Haiku 4.5 → Opus 4.5 → Opus/Sonnet 4.6 → Opus 4.7 → Opus 4.8 → Sonnet 5 → Fable 5 / Mythos 5 → Opus 5(2026/7)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平均发布间隔 ≈ 4-5 周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 定位顶级推理模型;Opus 5(7月24日)为「日常旗舰」,性能接近顶级、价格减半。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96596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1488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21488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578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10 次主要发布 / 12 个月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3017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→ 5.1(+Codex-Max/Pro) → 5.2 → 5.3-Codex → 5.4(+mini/nano) → 5.5(+Instant) → 5.6(Sol/Terra/Luna,2026/7)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平均发布间隔 ≈ 5-6 周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为旗舰推理款,Terra/Luna 为更经济的轻量版本,构成分层产品矩阵对抗 Claude 全系列。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626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行业信号: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据 Digital Applied 前沿模型发布速度指数,2026年3月GPT-5.4上市"触发了Anthropic、Google及中国厂商在三周内的跟进发布"——发布节奏本身已成为竞争维度。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模型能力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基准测试与差异化定位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/ Fable 5 vs GPT-5.6 Sol(2026年中,权威评测口径)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关键基准测试得分对比(%)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423160"/>
          <a:ext cx="5943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920240"/>
            <a:ext cx="4462272" cy="1536192"/>
          </a:xfrm>
          <a:prstGeom prst="roundRect">
            <a:avLst>
              <a:gd name="adj" fmla="val 5357"/>
            </a:avLst>
          </a:prstGeom>
          <a:solidFill>
            <a:srgbClr val="F1E2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79208" y="204825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的强项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79208" y="2377440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编程(SWE-bench Pro 领先 15.7 分)、Agentic 长时程任务(ARC-AGI-3 领先近4倍)、综合能力指数(ECI 161 分,行业第一)、API 输出定价便宜约17%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3584448"/>
            <a:ext cx="4462272" cy="1536192"/>
          </a:xfrm>
          <a:prstGeom prst="roundRect">
            <a:avLst>
              <a:gd name="adj" fmla="val 5357"/>
            </a:avLst>
          </a:prstGeom>
          <a:solidFill>
            <a:srgbClr val="DCEE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79208" y="371246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的强项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79208" y="4041648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学术科学推理(GPQA 领先约3分)、终端/命令行智能体(Terminal-Bench 反超)、网页浏览(BrowseComp 反超)、消费级多模态体验更成熟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6262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定位差异: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占据企业编程市场约 54% 份额、企业 LLM 支出份额约 40%(vs GPT 27%);ChatGPT 以约 9 亿周活、53.9-58.3% 网页流量份额占据消费级入口优势。基准分数差距普遍在个位数以内,行业已进入"能力趋同、生态制胜"阶段。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商业变现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年化收入(ARR)增长曲线:Anthropic 实现反超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两家公司均未上市,以下数字来自公司致投资者信/媒体报道,口径可能不完全一致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1780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665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增长轨迹(十亿美元)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395728"/>
          <a:ext cx="6720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36992" y="1920240"/>
            <a:ext cx="3703320" cy="1627632"/>
          </a:xfrm>
          <a:prstGeom prst="roundRect">
            <a:avLst>
              <a:gd name="adj" fmla="val 5056"/>
            </a:avLst>
          </a:prstGeom>
          <a:solidFill>
            <a:srgbClr val="2626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20482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$65B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ARR · 2026年7月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88950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较2025年初(约$10亿)增长逾60倍;Q2环比增速超140%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36992" y="3721608"/>
            <a:ext cx="3703320" cy="1627632"/>
          </a:xfrm>
          <a:prstGeom prst="roundRect">
            <a:avLst>
              <a:gd name="adj" fmla="val 5056"/>
            </a:avLst>
          </a:prstGeom>
          <a:solidFill>
            <a:srgbClr val="2626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0" y="384962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9D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$40B+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4074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ARR · 2026年8月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6908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较2025年底(约$200亿)大致翻倍;7月单月环比增速超20%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DEAE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估值对照: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Anthropic $9650亿(2026/5 Series H)已超过 OpenAI $8520亿(2026/3),成为估值最高的AI初创公司;两家公司均已启动上市筹备,Anthropic预计2026年秋率先上市。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商业变现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收入结构与盈利路径:纪律性 vs 规模性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更早接近盈亏平衡,OpenAI 以更大亏损换取更大规模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977640" y="1874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7764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18745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F9D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292840" cy="530352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5059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收入结构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4505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企业/API 占比约 70-80%,消费订阅约10-15%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5059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消费订阅仍占多数;企业收入占比约40%,预计年底与消费持平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98094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2025年度亏损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累计经营亏损约$100-150亿(2021-2025)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9809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营业亏损约$209亿(营收$130.7亿)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292840" cy="530352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51129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烧钱强度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5112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烧钱率约为收入的33%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5112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2026单季烧钱$37亿,强度约57%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4164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盈利拐点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0416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调整后经营利润已转正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04164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预计2026年全年仍亏损约$140亿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292840" cy="530352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5720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现金流转正目标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5720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2027-2028年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5720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1023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毛利率趋势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1023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2024年约-94% → 2026年预计44-60%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51023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约33%(2025年数据)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1E2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以上亏损/烧钱数据多来自媒体对内部披露的报道及分析师估算(如The Information、Fortune、SaaStr),非公司审计财报,请视为方向性参考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生态战略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协议标准之争:Anthropic 卡位「基础设施层」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已成事实标准,OpenAI 的应用生态反而建立在其之上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262624"/>
          </a:solidFill>
          <a:ln/>
        </p:spPr>
      </p:sp>
      <p:pic>
        <p:nvPicPr>
          <p:cNvPr id="6" name="Image 0" descr="/home/claude/vs_ppt/icons/network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Anthropic:开放协议路线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MCP(2024):活跃公开服务器超1万个,SDK月下载9700万+;OpenAI已于2025年3月宣布全面支持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覆盖Claude、ChatGPT、Gemini、Copilot、Cursor等8家以上主流平台;41%软件企业已在生产环境部署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MHS(2026年8月):协议延伸至物理世界,让AI操控实验室与产线设备,合作方含AWS、Universal Robots等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策略本质:开源协议换取网络效应与行业标准地位,即使竞对采用也不设限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99632" y="196596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pic>
        <p:nvPicPr>
          <p:cNvPr id="10" name="Image 1" descr="/home/claude/vs_ppt/icons/comment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2128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31152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OpenAI:平台聚合路线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自有 GPT Store/自定义GPT 因活跃度低迷,被业内称为"第二个失败的应用商店"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2025年10月推出 Apps SDK(基于MCP构建),首批Booking.com、Canva、Spotify等7家伙伴,号称触达ChatGPT 8亿+用户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AgentKit(2025年10月发布):面向企业的Agent构建组件,对标Claude Agent SDK</a:t>
            </a:r>
            <a:endParaRPr lang="en-US" sz="108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策略本质:以ChatGPT海量流量为筹码,将第三方应用聚合进围墙花园式生态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576072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F1E2D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576072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洞察:</a:t>
            </a:r>
            <a:pPr indent="0" marL="0"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当竞争对手的生态也运行在你的协议之上时,你已经赢得了「基础设施层」的卡位战——这是比单一模型能力更持久的护城河。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生态战略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产品矩阵与用户结构:一场「倒置」的竞争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重企业、OpenAI 重消费者——但双方都在向对方腹地渗透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 → Claude Code → Claude Cowork → 企业插件市场 → MHS(物理世界)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489204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企业收入占比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企业客户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30万+ 家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(超$100万/年客户 1000+家)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运行率收入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$25亿+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9659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21488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21488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5877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Codex → Sora → Operator/Agent 模式 → AgentKit(企业)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28232" y="3337560"/>
            <a:ext cx="489204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3474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消费端周活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9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9亿+</a:t>
            </a:r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付费订阅用户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9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5000万+</a:t>
            </a:r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企业客户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9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100万+ 家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(付费席位900万+)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262624"/>
          </a:solidFill>
          <a:ln/>
        </p:spPr>
      </p:sp>
      <p:pic>
        <p:nvPicPr>
          <p:cNvPr id="18" name="Image 0" descr="/home/claude/vs_ppt/icons/bolt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5047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关键反转信号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据 Ramp 企业真实交易数据,2026年5月 Anthropic 在企业AI工具支出份额上达到 34.4%,首次超过 OpenAI 的 32.3%——这是双方角色"倒置"竞争中,Anthropic 首次在该指标上反超。同时 OpenAI 管理层预期企业收入将于2026年底追平消费收入,双方正加速向对方的传统优势腹地渗透。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产业合作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云与芯片军备竞赛:万亿美元级基建承诺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双方均获云计算与芯片巨头巨额押注,OpenAI 承诺规模略胜一筹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977640" y="1874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7764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18745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F9D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292840" cy="54864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505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AWS(亚马逊)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累计投资$13B+,10年云采购承诺超$100B,锁定最多5GW Trainium算力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投资$50B,8年AWS合同$100B,承诺2GW Trainium算力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999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最多100万颗TPU、1GW+算力容量,"数百亿美元"级合同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999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—(无直接合作)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11292840" cy="54864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547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547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投资$5B,承诺至少$30B Azure采购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5478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持股27%(约$135B),$250B增量Azure承诺;2026/4终止Azure独家条款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096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最多投资$10B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096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投资$30B + $100B/10GW算力协议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45152"/>
            <a:ext cx="11292840" cy="548640"/>
          </a:xfrm>
          <a:prstGeom prst="rect">
            <a:avLst/>
          </a:prstGeom>
          <a:solidFill>
            <a:srgbClr val="EDEA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645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自研芯片进展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645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2026年8月组建芯片设计团队,与三星2nm代工洽谈中(早期阶段)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6451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2026年6月已发布首款量产定制芯片"Jalapeño"(联合Broadcom)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1937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旗舰基建项目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193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分散于AWS/Google/Azure三云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5193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Stargate:目标$500B,联合Oracle($300B合同)、SoftBank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1E2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第三方分析师估算OpenAI跨供应商总承诺约达$1.15万亿(至2035年,覆盖约26GW算力),该数字为推算而非官方数字,仅供方向参考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产业合作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交叉持股格局与硬件路线分野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pic>
        <p:nvPicPr>
          <p:cNvPr id="5" name="Image 0" descr="/home/claude/vs_ppt/icons/sitemap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巨头「两边下注」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微软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606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对OpenAI持股27%(~$135B);对Anthropic投资$5B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27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英伟达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32278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对OpenAI投资$100B+算力协议;对Anthropic最多$10B</a:t>
            </a:r>
            <a:endParaRPr lang="en-US" sz="103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496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亚马逊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384962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对OpenAI投资$50B;对Anthropic累计最多$33B</a:t>
            </a:r>
            <a:endParaRPr lang="en-US" sz="103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4714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谷歌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44714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仅深度绑定Anthropic(TPU+云),未见公开投资OpenAI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199632" y="1920240"/>
            <a:ext cx="544068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pic>
        <p:nvPicPr>
          <p:cNvPr id="16" name="Image 1" descr="/home/claude/vs_ppt/icons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10312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12864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硬件/物理世界路线分野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473952" y="2606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</a:t>
            </a:r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开放协议路线:2026年8月发布 MHS(模型硬件标准),模型无关、面向全行业开放,让任意AI都能接入实验室与制造设备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473952" y="3520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</a:t>
            </a:r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自研硬件产品路线:2025年5月以$6.5B收购Jony Ive团队io,消费级设备计划2026下半年发布(亦有报道称延至2027年)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473952" y="4480560"/>
            <a:ext cx="493776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73952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一个做「标准」,一个做「产品」——路径不同,终局都指向 AI 触达物理世界。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6262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企业级里程碑:</a:t>
            </a:r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Anthropic 落地 Deloitte(史上最大规模部署,约47万员工)、Salesforce Claudeforce(2026/8)、IBM;OpenAI 以 Stargate($500B目标)构建基础设施护城河,企业分发更依赖 Microsoft Copilot 生态。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安全治理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治理结构与安全政策:严谨性 vs 反复重组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16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20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PBC + 长期利益信托(LTBT)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5名无financial利益关联受托人,持特殊表决权股票,4年内逐步选出董事会多数席位,兼顾股东利益与公共利益使命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489204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033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 v3.0(2026/2)：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取消原有硬性红线,改为"竞争领先+第三方确认重大风险"双重触发条件,新增风险报告与前沿安全路线图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2103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2103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5420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非营利基金会控股营利子公司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Foundation(8名董事)持股约26%并掌握特殊投票权,可任免OpenAI Group PBC全部董事;微软持股约27%(2025年10月完成重组)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28232" y="3611880"/>
            <a:ext cx="489204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8232" y="37033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安全团队动荡：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Superalignment(2024/5解散)→AGI Readiness(2024/10解散)→Mission Alignment(2026/2解散)→2026/7安全团队第二次并入研究部门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2626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590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第三方安全评分(AI Lab Watch,2025年9月数据,加权综合)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5029200"/>
            <a:ext cx="2688336" cy="384048"/>
          </a:xfrm>
          <a:prstGeom prst="rect">
            <a:avLst/>
          </a:prstGeom>
          <a:solidFill>
            <a:srgbClr val="C166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14600" y="5029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28%（行业最高）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5623560"/>
            <a:ext cx="1728216" cy="384048"/>
          </a:xfrm>
          <a:prstGeom prst="rect">
            <a:avLst/>
          </a:prstGeom>
          <a:solidFill>
            <a:srgbClr val="0F9D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14600" y="5623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9893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注:两家在"应对国家级对手攻击"等极端安全防护维度得分均个位数,凸显行业性短板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安全治理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监管立场与安全事件:一年内的剧烈反转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C16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985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985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2025/09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985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659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率先公开支持加州 SB 53(前沿模型安全透明度法案)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7843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7843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7843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517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反对 SB 53 中的透明度与吹哨人保护条款,转而推动"联邦优先"方案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C16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4701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4701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4701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375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披露 GTG-1002:中国黑客利用 Claude 实施史上首例AI自主网络攻击,约30个目标,80-90%战术工作由AI完成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C16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559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166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1559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1559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0233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 v3.0 发布,取消硬性安全红线;安全研究员 Mrinank Sharma 离职并警告"世界正处于危险之中"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8417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8417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2026/07-08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48417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7091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内部网络安全模型突破测试环境、攻破 Hugging Face 系统,触发全面安全整改与训练暂停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0F9D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5275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9D8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55275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2026/08/22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55275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53949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立场大反转:公开要求加州"加强" SB 53,呼吁强化前沿模型全生命周期网络安全监测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48640" y="6172200"/>
            <a:ext cx="11091672" cy="0"/>
          </a:xfrm>
          <a:prstGeom prst="roundRect">
            <a:avLst/>
          </a:prstGeom>
          <a:ln/>
        </p:spPr>
      </p:sp>
      <p:sp>
        <p:nvSpPr>
          <p:cNvPr id="35" name="Text 3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综合战略画像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五大维度一览:没有全面领先者,只有各具优势的双雄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977640" y="205740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1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7764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20574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F9D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292840" cy="713232"/>
          </a:xfrm>
          <a:prstGeom prst="rect">
            <a:avLst/>
          </a:prstGeom>
          <a:solidFill>
            <a:srgbClr val="3432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6243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模型能力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6243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 / Agentic / 综合能力指数领先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24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学术推理 / 终端工具 / 消费级体验领先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37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商业变现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3375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增速更快、烧钱更低、率先接近盈亏平衡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337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绝对规模更大、消费端护城河深厚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11292840" cy="713232"/>
          </a:xfrm>
          <a:prstGeom prst="rect">
            <a:avLst/>
          </a:prstGeom>
          <a:solidFill>
            <a:srgbClr val="3432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0507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生态战略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507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掌控协议层(MCP/MHS),企业渗透率反超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0507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掌控流量入口(ChatGPT),平台聚合见效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76402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产业合作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7640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AWS/Google/Azure三云并进,自研芯片起步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640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基建承诺规模更大(Stargate),自研芯片量产更早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477256"/>
            <a:ext cx="11292840" cy="713232"/>
          </a:xfrm>
          <a:prstGeom prst="rect">
            <a:avLst/>
          </a:prstGeom>
          <a:solidFill>
            <a:srgbClr val="3432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47725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安全治理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54772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治理结构更严谨,第三方安全评分更高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54772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安全团队反复重组,监管立场剧烈反转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洞察与展望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928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23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从「单极」到「双雄」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254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增速与估值已反超,但 OpenAI 消费入口壁垒依然稳固——行业首次进入真正意义上的双寡头竞争阶段,而非一家独大。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928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423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协议标准或成决定性变量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8254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MCP/MHS 持续扩大生态覆盖,Anthropic 有望复制"操作系统式"平台优势,即便模型能力差距被追平,协议层卡位仍可能是更持久的护城河。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805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资本开支与安全治理需要同步穿越周期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8828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双方基建承诺已达万亿美元级,远超当前营收规模;2026年密集发生的安全事件表明,谁能率先补齐"国家级对手防护"短板,谁就更能穿越监管周期。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4805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 窗口将成下一个关键节点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8828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计划2026年秋率先上市,资本市场对双方商业模式可持续性、治理结构与安全承诺的公开检验才刚刚开始。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数据说明与信息来源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1E2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数据局限性说明：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两家公司均未上市,ARR、估值、亏损等数字主要来自公司致投资者信、媒体对内部披露的报道及第三方分析师估算,不同信源口径存在差异(1-3个百分点或数十亿美元量级),请将本报告数字作为方向性参考而非精确财务数据。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0789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官方新闻:series-h、RSP v3.0、Long-Term Benefit Trust、model-hardware-standard-research-preview 等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官方:our-structure、GPT-5.6/5.5发布页、AgentKit/Apps SDK 发布页、Hugging Face事件技术报告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 — Anthropic/OpenAI 融资、云合作、安全事件系列报道(2025/10-2026/8)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— 双方模型发布、融资轮次、SB 53立场系列报道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/ Fortune / Axios — 估值、财务数据、安全事件深度报道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AI(ECI指数)、AI Lab Watch(安全评分)、Ramp(企业AI支出数据)、Menlo Ventures(企业LLM市场份额)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CodingFleet / BenchLM / llm-stats.com — 模型基准测试第三方聚合数据</a:t>
            </a:r>
            <a:endParaRPr lang="en-US" sz="1150" dirty="0"/>
          </a:p>
          <a:p>
            <a:pPr marL="203200" indent="-2032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Governance.ai、Semafor、The Information、SaaStr — 治理结构与商业模式分析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6263640"/>
            <a:ext cx="11091672" cy="0"/>
          </a:xfrm>
          <a:prstGeom prst="roundRect">
            <a:avLst/>
          </a:prstGeom>
          <a:ln/>
        </p:spPr>
      </p:sp>
      <p:sp>
        <p:nvSpPr>
          <p:cNvPr id="8" name="Text 6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OPENAI 深度对比分析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2026-09-01T11:06:55Z</dcterms:created>
  <dcterms:modified xsi:type="dcterms:W3CDTF">2026-09-01T11:06:55Z</dcterms:modified>
</cp:coreProperties>
</file>