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成功率(%)</c:v>
                </c:pt>
              </c:strCache>
            </c:strRef>
          </c:tx>
          <c:spPr>
            <a:solidFill>
              <a:srgbClr val="C166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A37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人工脚本（原）</c:v>
                  </c:pt>
                  <c:pt idx="1">
                    <c:v>MHS + Claude（现）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58</c:v>
                </c:pt>
                <c:pt idx="1">
                  <c:v>99.3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3A37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3A37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1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image" Target="../media/image-12-1.png"/><Relationship Id="rId4" Type="http://schemas.openxmlformats.org/officeDocument/2006/relationships/image" Target="../media/image-12-1.png"/><Relationship Id="rId5" Type="http://schemas.openxmlformats.org/officeDocument/2006/relationships/image" Target="../media/image-12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26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0"/>
            <a:ext cx="3410712" cy="6858000"/>
          </a:xfrm>
          <a:prstGeom prst="rect">
            <a:avLst/>
          </a:prstGeom>
          <a:solidFill>
            <a:srgbClr val="2E2B27"/>
          </a:solidFill>
          <a:ln/>
        </p:spPr>
      </p:sp>
      <p:pic>
        <p:nvPicPr>
          <p:cNvPr id="3" name="Image 0" descr="/home/claude/mhs_ppt/icons/usb_clay.png">    </p:cNvPr>
          <p:cNvPicPr>
            <a:picLocks noChangeAspect="1"/>
          </p:cNvPicPr>
          <p:nvPr/>
        </p:nvPicPr>
        <p:blipFill>
          <a:blip r:embed="rId1">
            <a:alphaModFix amt="92000"/>
          </a:blip>
          <a:stretch>
            <a:fillRect/>
          </a:stretch>
        </p:blipFill>
        <p:spPr>
          <a:xfrm>
            <a:off x="9646920" y="2331720"/>
            <a:ext cx="1920240" cy="19202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1417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16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洞察分析报告 · 2026 年 9 月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594360" y="1965960"/>
            <a:ext cx="7863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Anthropic MHS</a:t>
            </a:r>
            <a:endParaRPr lang="en-US" sz="5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深度洞察分析</a:t>
            </a:r>
            <a:endParaRPr lang="en-US" sz="5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16052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D9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模型硬件标准（Model Hardware Standard）：AI 从数字世界迈向物理世界的第一步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40080" y="5257800"/>
            <a:ext cx="2926080" cy="0"/>
          </a:xfrm>
          <a:prstGeom prst="line">
            <a:avLst/>
          </a:prstGeom>
          <a:noFill/>
          <a:ln w="19050">
            <a:solidFill>
              <a:srgbClr val="C1663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54864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C16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说明：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9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经核实，原始诉求中的「HMS」对应 Anthropic 于 2026 年 8 月 27 日发布的 </a:t>
            </a:r>
            <a:pPr indent="0" marL="0">
              <a:lnSpc>
                <a:spcPct val="130000"/>
              </a:lnSpc>
              <a:buNone/>
            </a:pPr>
            <a:r>
              <a:rPr lang="en-US" sz="1150" b="1" i="1" dirty="0">
                <a:solidFill>
                  <a:srgbClr val="D9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Hardware Standard（MHS）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9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研究预览版，本报告即围绕该标准展开分析。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6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626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核心结论摘要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47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四个维度，理解 MHS 对 AI 行业与硬件生态的意义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4924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1815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221992"/>
            <a:ext cx="566928" cy="566928"/>
          </a:xfrm>
          <a:prstGeom prst="ellipse">
            <a:avLst/>
          </a:prstGeom>
          <a:solidFill>
            <a:srgbClr val="F1E2D8"/>
          </a:solidFill>
          <a:ln/>
        </p:spPr>
      </p:sp>
      <p:pic>
        <p:nvPicPr>
          <p:cNvPr id="7" name="Image 0" descr="/home/claude/mhs_ppt/icons/network_c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368296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08760" y="21854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16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定位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508760" y="242316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6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补齐物理世界的最后一环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04672" y="288036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MHS 是继 MCP（2024）之后 Anthropic 推出的第二个行业级协议：MCP 连接数字世界的数据与工具，MHS 连接物理世界的仪器与设备，二者共同构成 AI 从「思考」到「行动」的完整基础设施。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17920" y="1965960"/>
            <a:ext cx="534924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1815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73952" y="2221992"/>
            <a:ext cx="566928" cy="566928"/>
          </a:xfrm>
          <a:prstGeom prst="ellipse">
            <a:avLst/>
          </a:prstGeom>
          <a:solidFill>
            <a:srgbClr val="F1E2D8"/>
          </a:solidFill>
          <a:ln/>
        </p:spPr>
      </p:sp>
      <p:pic>
        <p:nvPicPr>
          <p:cNvPr id="13" name="Image 1" descr="/home/claude/mhs_ppt/icons/chart_cl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256" y="2368296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178040" y="21854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16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验证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7178040" y="242316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6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早期试点已现量化成效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6473952" y="288036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在生物医药、量子计算、材料科学等 6 个试点场景中，MHS 已带来数倍至数十倍的效率提升，如 CMU 实验提速 3 倍、QuEra 激光恢复成功率从 58% 升至 99.3%。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48640" y="3977640"/>
            <a:ext cx="534924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1815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04672" y="4233672"/>
            <a:ext cx="566928" cy="566928"/>
          </a:xfrm>
          <a:prstGeom prst="ellipse">
            <a:avLst/>
          </a:prstGeom>
          <a:solidFill>
            <a:srgbClr val="F1E2D8"/>
          </a:solidFill>
          <a:ln/>
        </p:spPr>
      </p:sp>
      <p:pic>
        <p:nvPicPr>
          <p:cNvPr id="19" name="Image 2" descr="/home/claude/mhs_ppt/icons/bullseye_cl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4379976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508760" y="41970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16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战略</a:t>
            </a:r>
            <a:endParaRPr lang="en-US" sz="1050" dirty="0"/>
          </a:p>
        </p:txBody>
      </p:sp>
      <p:sp>
        <p:nvSpPr>
          <p:cNvPr id="21" name="Text 16"/>
          <p:cNvSpPr txBox="1"/>
          <p:nvPr/>
        </p:nvSpPr>
        <p:spPr>
          <a:xfrm>
            <a:off x="1508760" y="443484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6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以开放换取生态位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804672" y="489204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采用「模型无关 + 计划开源」策略，规避 SiLA 2、OPC UA 等前代硬件标准因过度封闭或架构过重而失败的老路，意图成为 AI 硬件世界的规则制定者。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6217920" y="3977640"/>
            <a:ext cx="534924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1815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73952" y="4233672"/>
            <a:ext cx="566928" cy="566928"/>
          </a:xfrm>
          <a:prstGeom prst="ellipse">
            <a:avLst/>
          </a:prstGeom>
          <a:solidFill>
            <a:srgbClr val="F1E2D8"/>
          </a:solidFill>
          <a:ln/>
        </p:spPr>
      </p:sp>
      <p:pic>
        <p:nvPicPr>
          <p:cNvPr id="25" name="Image 3" descr="/home/claude/mhs_ppt/icons/warning_cla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0256" y="4379976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7178040" y="41970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16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</a:t>
            </a:r>
            <a:endParaRPr lang="en-US" sz="1050" dirty="0"/>
          </a:p>
        </p:txBody>
      </p:sp>
      <p:sp>
        <p:nvSpPr>
          <p:cNvPr id="27" name="Text 21"/>
          <p:cNvSpPr txBox="1"/>
          <p:nvPr/>
        </p:nvSpPr>
        <p:spPr>
          <a:xfrm>
            <a:off x="7178040" y="443484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6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验证证据仍集中且早期</a:t>
            </a:r>
            <a:endParaRPr lang="en-US" sz="1500" dirty="0"/>
          </a:p>
        </p:txBody>
      </p:sp>
      <p:sp>
        <p:nvSpPr>
          <p:cNvPr id="28" name="Text 22"/>
          <p:cNvSpPr txBox="1"/>
          <p:nvPr/>
        </p:nvSpPr>
        <p:spPr>
          <a:xfrm>
            <a:off x="6473952" y="489204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目前公开案例几乎全部基于 Claude / Claude Code；安全架构（权限、审计、驱动可信度）与生产就绪度仍处早期，行业广泛采纳尚需时间检验。</a:t>
            </a:r>
            <a:endParaRPr lang="en-US" sz="1100" dirty="0"/>
          </a:p>
        </p:txBody>
      </p:sp>
      <p:sp>
        <p:nvSpPr>
          <p:cNvPr id="29" name="Text 23"/>
          <p:cNvSpPr txBox="1"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47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47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MHS 洞察分析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6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DEFINITION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626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MHS 是什么？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818120" y="1508760"/>
            <a:ext cx="3840480" cy="4480560"/>
          </a:xfrm>
          <a:prstGeom prst="roundRect">
            <a:avLst>
              <a:gd name="adj" fmla="val 2381"/>
            </a:avLst>
          </a:prstGeom>
          <a:solidFill>
            <a:srgbClr val="262624"/>
          </a:solidFill>
          <a:ln/>
        </p:spPr>
      </p:sp>
      <p:pic>
        <p:nvPicPr>
          <p:cNvPr id="5" name="Image 0" descr="/home/claude/mhs_ppt/icons/quote_c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1828800"/>
            <a:ext cx="45720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183880" y="233172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「MHS 就像 AI 世界的 USB-C —— 把异质化的硬件统一到同一套接口标准下。」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8183880" y="4617720"/>
            <a:ext cx="457200" cy="0"/>
          </a:xfrm>
          <a:prstGeom prst="line">
            <a:avLst/>
          </a:prstGeom>
          <a:noFill/>
          <a:ln w="25400">
            <a:solidFill>
              <a:srgbClr val="C1663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183880" y="47548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官方表述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6002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4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核心定义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1965960"/>
            <a:ext cx="6949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MHS 是一套开放的硬件接口协议，在 AI 模型与可编程设备之间建立「统一翻译层」：智能体（agent）可通过标准化指令发现设备、读写参数、监控反馈，无需为每种设备组合单独编写驱动代码。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31546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4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提出背景：两个长期痛点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48640" y="3566160"/>
            <a:ext cx="457200" cy="457200"/>
          </a:xfrm>
          <a:prstGeom prst="ellipse">
            <a:avLst/>
          </a:prstGeom>
          <a:solidFill>
            <a:srgbClr val="F1E2D8"/>
          </a:solidFill>
          <a:ln/>
        </p:spPr>
      </p:sp>
      <p:pic>
        <p:nvPicPr>
          <p:cNvPr id="13" name="Image 1" descr="/home/claude/mhs_ppt/icons/flask_cl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675888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170432" y="3538728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设备互不相通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1170432" y="3822192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实验室相机、探测器等设备各自采用 Python / MATLAB / C# 等不同架构，相邻仪器无法感知彼此状态，定制集成常需数周至数月。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48640" y="4526280"/>
            <a:ext cx="457200" cy="457200"/>
          </a:xfrm>
          <a:prstGeom prst="ellipse">
            <a:avLst/>
          </a:prstGeom>
          <a:solidFill>
            <a:srgbClr val="F1E2D8"/>
          </a:solidFill>
          <a:ln/>
        </p:spPr>
      </p:sp>
      <p:pic>
        <p:nvPicPr>
          <p:cNvPr id="17" name="Image 2" descr="/home/claude/mhs_ppt/icons/robot_cl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636008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170432" y="4498848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缺乏「物理直觉」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1170432" y="4782312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大语言模型难以理解按钮操作的物理后果或设备安全上限，操控硬件长期处于「各凭本事、无标准可依」的状态。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48640" y="5623560"/>
            <a:ext cx="6949440" cy="621792"/>
          </a:xfrm>
          <a:prstGeom prst="roundRect">
            <a:avLst>
              <a:gd name="adj" fmla="val 11765"/>
            </a:avLst>
          </a:prstGeom>
          <a:solidFill>
            <a:srgbClr val="EDEAE1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777240" y="5623560"/>
            <a:ext cx="6492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F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现状数据：</a:t>
            </a:r>
            <a:pPr indent="0" marL="0">
              <a:buNone/>
            </a:pPr>
            <a:r>
              <a:rPr lang="en-US" sz="115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科研 / 制造场景下的设备集成，传统方式平均耗时数周至数月才能完成</a:t>
            </a:r>
            <a:endParaRPr lang="en-US" sz="1150" dirty="0"/>
          </a:p>
        </p:txBody>
      </p:sp>
      <p:sp>
        <p:nvSpPr>
          <p:cNvPr id="22" name="Text 17"/>
          <p:cNvSpPr txBox="1"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47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3" name="Text 18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47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MHS 洞察分析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6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626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技术架构剖析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47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三层设计，让「思考」精准转化为「动作」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611880" cy="416052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1815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965960"/>
            <a:ext cx="3611880" cy="82296"/>
          </a:xfrm>
          <a:prstGeom prst="roundRect">
            <a:avLst/>
          </a:prstGeom>
          <a:solidFill>
            <a:srgbClr val="C1663D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2286000"/>
            <a:ext cx="621792" cy="621792"/>
          </a:xfrm>
          <a:prstGeom prst="ellipse">
            <a:avLst/>
          </a:prstGeom>
          <a:solidFill>
            <a:srgbClr val="F1E2D8"/>
          </a:solidFill>
          <a:ln/>
        </p:spPr>
      </p:sp>
      <p:pic>
        <p:nvPicPr>
          <p:cNvPr id="8" name="Image 0" descr="/home/claude/mhs_ppt/icons/cogs_c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2441448"/>
            <a:ext cx="310896" cy="31089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3291840" y="225856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DEA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3063240"/>
            <a:ext cx="3026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626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统一驱动层</a:t>
            </a:r>
            <a:endParaRPr lang="en-US" sz="1650" dirty="0"/>
          </a:p>
        </p:txBody>
      </p:sp>
      <p:sp>
        <p:nvSpPr>
          <p:cNvPr id="11" name="Text 8"/>
          <p:cNvSpPr txBox="1"/>
          <p:nvPr/>
        </p:nvSpPr>
        <p:spPr>
          <a:xfrm>
            <a:off x="841248" y="3566160"/>
            <a:ext cx="304495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标准化读写（read/write）指令，任意设备可理解</a:t>
            </a:r>
            <a:endParaRPr lang="en-US" sz="1150" dirty="0"/>
          </a:p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自然语言元数据标注设备特性，人类可读可写</a:t>
            </a:r>
            <a:endParaRPr lang="en-US" sz="1150" dirty="0"/>
          </a:p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自动生成设备能力与安全阈值说明文件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379976" y="1965960"/>
            <a:ext cx="3611880" cy="416052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1815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79976" y="1965960"/>
            <a:ext cx="3611880" cy="82296"/>
          </a:xfrm>
          <a:prstGeom prst="roundRect">
            <a:avLst/>
          </a:prstGeom>
          <a:solidFill>
            <a:srgbClr val="C1663D"/>
          </a:solidFill>
          <a:ln/>
        </p:spPr>
      </p:sp>
      <p:sp>
        <p:nvSpPr>
          <p:cNvPr id="14" name="Shape 11"/>
          <p:cNvSpPr/>
          <p:nvPr/>
        </p:nvSpPr>
        <p:spPr>
          <a:xfrm>
            <a:off x="4672584" y="2286000"/>
            <a:ext cx="621792" cy="621792"/>
          </a:xfrm>
          <a:prstGeom prst="ellipse">
            <a:avLst/>
          </a:prstGeom>
          <a:solidFill>
            <a:srgbClr val="F1E2D8"/>
          </a:solidFill>
          <a:ln/>
        </p:spPr>
      </p:sp>
      <p:pic>
        <p:nvPicPr>
          <p:cNvPr id="15" name="Image 1" descr="/home/claude/mhs_ppt/icons/network_cl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2441448"/>
            <a:ext cx="310896" cy="310896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123176" y="225856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DEA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7" name="Text 13"/>
          <p:cNvSpPr txBox="1"/>
          <p:nvPr/>
        </p:nvSpPr>
        <p:spPr>
          <a:xfrm>
            <a:off x="4672584" y="3063240"/>
            <a:ext cx="3026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626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三种接入方式</a:t>
            </a:r>
            <a:endParaRPr lang="en-US" sz="1650" dirty="0"/>
          </a:p>
        </p:txBody>
      </p:sp>
      <p:sp>
        <p:nvSpPr>
          <p:cNvPr id="18" name="Text 14"/>
          <p:cNvSpPr txBox="1"/>
          <p:nvPr/>
        </p:nvSpPr>
        <p:spPr>
          <a:xfrm>
            <a:off x="4672584" y="3566160"/>
            <a:ext cx="304495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Protocol（MCP）</a:t>
            </a:r>
            <a:endParaRPr lang="en-US" sz="1150" dirty="0"/>
          </a:p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命令行接口（CLI）</a:t>
            </a:r>
            <a:endParaRPr lang="en-US" sz="1150" dirty="0"/>
          </a:p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代码文件 / API 直接调用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8211312" y="1965960"/>
            <a:ext cx="3611880" cy="416052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1815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11312" y="1965960"/>
            <a:ext cx="3611880" cy="82296"/>
          </a:xfrm>
          <a:prstGeom prst="roundRect">
            <a:avLst/>
          </a:prstGeom>
          <a:solidFill>
            <a:srgbClr val="C1663D"/>
          </a:solidFill>
          <a:ln/>
        </p:spPr>
      </p:sp>
      <p:sp>
        <p:nvSpPr>
          <p:cNvPr id="21" name="Shape 17"/>
          <p:cNvSpPr/>
          <p:nvPr/>
        </p:nvSpPr>
        <p:spPr>
          <a:xfrm>
            <a:off x="8503920" y="2286000"/>
            <a:ext cx="621792" cy="621792"/>
          </a:xfrm>
          <a:prstGeom prst="ellipse">
            <a:avLst/>
          </a:prstGeom>
          <a:solidFill>
            <a:srgbClr val="F1E2D8"/>
          </a:solidFill>
          <a:ln/>
        </p:spPr>
      </p:sp>
      <p:pic>
        <p:nvPicPr>
          <p:cNvPr id="22" name="Image 2" descr="/home/claude/mhs_ppt/icons/exchange_cl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9368" y="2441448"/>
            <a:ext cx="310896" cy="310896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10954512" y="225856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DEA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24" name="Text 19"/>
          <p:cNvSpPr txBox="1"/>
          <p:nvPr/>
        </p:nvSpPr>
        <p:spPr>
          <a:xfrm>
            <a:off x="8503920" y="3063240"/>
            <a:ext cx="3026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626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双重控制模式</a:t>
            </a:r>
            <a:endParaRPr lang="en-US" sz="1650" dirty="0"/>
          </a:p>
        </p:txBody>
      </p:sp>
      <p:sp>
        <p:nvSpPr>
          <p:cNvPr id="25" name="Text 20"/>
          <p:cNvSpPr txBox="1"/>
          <p:nvPr/>
        </p:nvSpPr>
        <p:spPr>
          <a:xfrm>
            <a:off x="8503920" y="3566160"/>
            <a:ext cx="304495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在线指挥：逐步调参、实时观察反馈</a:t>
            </a:r>
            <a:endParaRPr lang="en-US" sz="1150" dirty="0"/>
          </a:p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离线连发：多步操作打包为确定性 Python 脚本</a:t>
            </a:r>
            <a:endParaRPr lang="en-US" sz="1150" dirty="0"/>
          </a:p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设备本地离线执行，规避网络延迟</a:t>
            </a:r>
            <a:endParaRPr lang="en-US" sz="1150" dirty="0"/>
          </a:p>
        </p:txBody>
      </p:sp>
      <p:sp>
        <p:nvSpPr>
          <p:cNvPr id="26" name="Text 21"/>
          <p:cNvSpPr txBox="1"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47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7" name="Text 22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47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MHS 洞察分析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6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SAFETY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626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安全机制设计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47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在「行动」之前，先划定不可逾越的边界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6263640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1815">
                <a:alpha val="10000"/>
              </a:srgbClr>
            </a:outerShdw>
          </a:effectLst>
        </p:spPr>
      </p:sp>
      <p:pic>
        <p:nvPicPr>
          <p:cNvPr id="6" name="Image 0" descr="/home/claude/mhs_ppt/icons/shield_c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267712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98448" y="2286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6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已内置的防护措施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41248" y="2834640"/>
            <a:ext cx="5669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20000"/>
              </a:lnSpc>
              <a:spcAft>
                <a:spcPts val="1400"/>
              </a:spcAft>
              <a:buSzPct val="100000"/>
              <a:buChar char="✓"/>
            </a:pPr>
            <a:r>
              <a:rPr lang="en-US" sz="115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设备级安全阈值（最大功率、运动范围等）在驱动层强制写入，AI 无法突破</a:t>
            </a:r>
            <a:endParaRPr lang="en-US" sz="1150" dirty="0"/>
          </a:p>
          <a:p>
            <a:pPr marL="254000" indent="-254000">
              <a:lnSpc>
                <a:spcPct val="120000"/>
              </a:lnSpc>
              <a:spcAft>
                <a:spcPts val="1400"/>
              </a:spcAft>
              <a:buSzPct val="100000"/>
              <a:buChar char="✓"/>
            </a:pPr>
            <a:r>
              <a:rPr lang="en-US" sz="115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主动干扰测试：缺失载物台、断开摄像头、触发急停等异常均在设备movement 前被拦截</a:t>
            </a:r>
            <a:endParaRPr lang="en-US" sz="1150" dirty="0"/>
          </a:p>
          <a:p>
            <a:pPr marL="254000" indent="-254000">
              <a:lnSpc>
                <a:spcPct val="120000"/>
              </a:lnSpc>
              <a:spcAft>
                <a:spcPts val="1400"/>
              </a:spcAft>
              <a:buSzPct val="100000"/>
              <a:buChar char="✓"/>
            </a:pPr>
            <a:r>
              <a:rPr lang="en-US" sz="115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实时监控与错误检测贯穿执行全过程</a:t>
            </a:r>
            <a:endParaRPr lang="en-US" sz="1150" dirty="0"/>
          </a:p>
          <a:p>
            <a:pPr marL="254000" indent="-254000">
              <a:lnSpc>
                <a:spcPct val="120000"/>
              </a:lnSpc>
              <a:spcAft>
                <a:spcPts val="1400"/>
              </a:spcAft>
              <a:buSzPct val="100000"/>
              <a:buChar char="✓"/>
            </a:pPr>
            <a:r>
              <a:rPr lang="en-US" sz="115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高风险决策设置人工审批检查点，Agent 有时会暂停并等待人工确认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5074920"/>
            <a:ext cx="6263640" cy="1170432"/>
          </a:xfrm>
          <a:prstGeom prst="roundRect">
            <a:avLst>
              <a:gd name="adj" fmla="val 7031"/>
            </a:avLst>
          </a:prstGeom>
          <a:solidFill>
            <a:srgbClr val="262624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5074920"/>
            <a:ext cx="5852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C16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认知局限：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9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模型能流畅推理错误代码，却可能误解代码背后的物理机制。Genentech 案例中，Claude 曾重试操作反而恶化问题，需人工介入解释底层物理原理。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086600" y="2011680"/>
            <a:ext cx="4572000" cy="4233672"/>
          </a:xfrm>
          <a:prstGeom prst="roundRect">
            <a:avLst>
              <a:gd name="adj" fmla="val 1944"/>
            </a:avLst>
          </a:prstGeom>
          <a:solidFill>
            <a:srgbClr val="EDEAE1"/>
          </a:solidFill>
          <a:ln/>
        </p:spPr>
      </p:sp>
      <p:pic>
        <p:nvPicPr>
          <p:cNvPr id="12" name="Image 1" descr="/home/claude/mhs_ppt/icons/warning_cl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2267712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818120" y="2286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4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尚未回答的安全问题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7360920" y="2880360"/>
            <a:ext cx="4023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20000"/>
              </a:lnSpc>
              <a:spcAft>
                <a:spcPts val="1100"/>
              </a:spcAft>
              <a:buSzPct val="100000"/>
              <a:buChar char="●"/>
            </a:pPr>
            <a:r>
              <a:rPr lang="en-US" sz="115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谁有权发现（discover）一台设备？</a:t>
            </a:r>
            <a:endParaRPr lang="en-US" sz="1150" dirty="0"/>
          </a:p>
          <a:p>
            <a:pPr marL="203200" indent="-203200">
              <a:lnSpc>
                <a:spcPct val="120000"/>
              </a:lnSpc>
              <a:spcAft>
                <a:spcPts val="1100"/>
              </a:spcAft>
              <a:buSzPct val="100000"/>
              <a:buChar char="●"/>
            </a:pPr>
            <a:r>
              <a:rPr lang="en-US" sz="115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谁有权下发（issue）控制指令？</a:t>
            </a:r>
            <a:endParaRPr lang="en-US" sz="1150" dirty="0"/>
          </a:p>
          <a:p>
            <a:pPr marL="203200" indent="-203200">
              <a:lnSpc>
                <a:spcPct val="120000"/>
              </a:lnSpc>
              <a:spcAft>
                <a:spcPts val="1100"/>
              </a:spcAft>
              <a:buSzPct val="100000"/>
              <a:buChar char="●"/>
            </a:pPr>
            <a:r>
              <a:rPr lang="en-US" sz="115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凭证（credential）的权限范围如何界定？</a:t>
            </a:r>
            <a:endParaRPr lang="en-US" sz="1150" dirty="0"/>
          </a:p>
          <a:p>
            <a:pPr marL="203200" indent="-203200">
              <a:lnSpc>
                <a:spcPct val="120000"/>
              </a:lnSpc>
              <a:spcAft>
                <a:spcPts val="1100"/>
              </a:spcAft>
              <a:buSzPct val="100000"/>
              <a:buChar char="●"/>
            </a:pPr>
            <a:r>
              <a:rPr lang="en-US" sz="115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远程访问如何隔离？操作日志如何记录？</a:t>
            </a:r>
            <a:endParaRPr lang="en-US" sz="1150" dirty="0"/>
          </a:p>
          <a:p>
            <a:pPr marL="203200" indent="-203200">
              <a:lnSpc>
                <a:spcPct val="120000"/>
              </a:lnSpc>
              <a:spcAft>
                <a:spcPts val="1100"/>
              </a:spcAft>
              <a:buSzPct val="100000"/>
              <a:buChar char="●"/>
            </a:pPr>
            <a:r>
              <a:rPr lang="en-US" sz="115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一个被攻破的驱动如何被撤销？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47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47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MHS 洞察分析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6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POSITIONING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626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MHS × MCP：从认知到执行的完整闭环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448056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DFDACD"/>
            </a:solidFill>
            <a:prstDash val="solid"/>
          </a:ln>
        </p:spPr>
      </p:sp>
      <p:pic>
        <p:nvPicPr>
          <p:cNvPr id="5" name="Image 0" descr="/home/claude/mhs_ppt/icons/network_c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258568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22219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26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26243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7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· 2024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868680" y="3063240"/>
            <a:ext cx="3840480" cy="0"/>
          </a:xfrm>
          <a:prstGeom prst="line">
            <a:avLst/>
          </a:prstGeom>
          <a:noFill/>
          <a:ln w="12700">
            <a:solidFill>
              <a:srgbClr val="E5E0D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" y="32461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解决领域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2057400" y="3246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数字世界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813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连接对象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2057400" y="38130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数据源、API、工具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37997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核心价值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2057400" y="437997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 AI「思考」更聪明、更有依据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159752" y="1965960"/>
            <a:ext cx="4480560" cy="3063240"/>
          </a:xfrm>
          <a:prstGeom prst="roundRect">
            <a:avLst>
              <a:gd name="adj" fmla="val 2985"/>
            </a:avLst>
          </a:prstGeom>
          <a:solidFill>
            <a:srgbClr val="262624"/>
          </a:solidFill>
          <a:ln/>
        </p:spPr>
      </p:sp>
      <p:pic>
        <p:nvPicPr>
          <p:cNvPr id="16" name="Image 1" descr="/home/claude/mhs_ppt/icons/robot_cl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9792" y="2258568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8074152" y="22219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MHS</a:t>
            </a:r>
            <a:endParaRPr lang="en-US" sz="2200" dirty="0"/>
          </a:p>
        </p:txBody>
      </p:sp>
      <p:sp>
        <p:nvSpPr>
          <p:cNvPr id="18" name="Text 14"/>
          <p:cNvSpPr txBox="1"/>
          <p:nvPr/>
        </p:nvSpPr>
        <p:spPr>
          <a:xfrm>
            <a:off x="8074152" y="26243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Hardware Standard · 2026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7479792" y="3063240"/>
            <a:ext cx="3840480" cy="0"/>
          </a:xfrm>
          <a:prstGeom prst="line">
            <a:avLst/>
          </a:prstGeom>
          <a:noFill/>
          <a:ln w="12700">
            <a:solidFill>
              <a:srgbClr val="4A473F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479792" y="32461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16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解决领域</a:t>
            </a:r>
            <a:endParaRPr 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8668512" y="32461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物理世界</a:t>
            </a:r>
            <a:endParaRPr lang="en-US" sz="1150" dirty="0"/>
          </a:p>
        </p:txBody>
      </p:sp>
      <p:sp>
        <p:nvSpPr>
          <p:cNvPr id="22" name="Text 18"/>
          <p:cNvSpPr txBox="1"/>
          <p:nvPr/>
        </p:nvSpPr>
        <p:spPr>
          <a:xfrm>
            <a:off x="7479792" y="3813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16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连接对象</a:t>
            </a:r>
            <a:endParaRPr lang="en-US" sz="1100" dirty="0"/>
          </a:p>
        </p:txBody>
      </p:sp>
      <p:sp>
        <p:nvSpPr>
          <p:cNvPr id="23" name="Text 19"/>
          <p:cNvSpPr txBox="1"/>
          <p:nvPr/>
        </p:nvSpPr>
        <p:spPr>
          <a:xfrm>
            <a:off x="8668512" y="381304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仪器、机械臂、产线设备</a:t>
            </a:r>
            <a:endParaRPr lang="en-US" sz="1150" dirty="0"/>
          </a:p>
        </p:txBody>
      </p:sp>
      <p:sp>
        <p:nvSpPr>
          <p:cNvPr id="24" name="Text 20"/>
          <p:cNvSpPr txBox="1"/>
          <p:nvPr/>
        </p:nvSpPr>
        <p:spPr>
          <a:xfrm>
            <a:off x="7479792" y="437997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16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核心价值</a:t>
            </a:r>
            <a:endParaRPr lang="en-US" sz="1100" dirty="0"/>
          </a:p>
        </p:txBody>
      </p:sp>
      <p:sp>
        <p:nvSpPr>
          <p:cNvPr id="25" name="Text 21"/>
          <p:cNvSpPr txBox="1"/>
          <p:nvPr/>
        </p:nvSpPr>
        <p:spPr>
          <a:xfrm>
            <a:off x="8668512" y="4379976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 AI「行动」更精准、更可控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5541264" y="3204972"/>
            <a:ext cx="585216" cy="585216"/>
          </a:xfrm>
          <a:prstGeom prst="ellipse">
            <a:avLst/>
          </a:prstGeom>
          <a:solidFill>
            <a:srgbClr val="C1663D"/>
          </a:solidFill>
          <a:ln/>
        </p:spPr>
      </p:sp>
      <p:pic>
        <p:nvPicPr>
          <p:cNvPr id="27" name="Image 2" descr="/home/claude/mhs_ppt/icons/exchang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3332988"/>
            <a:ext cx="329184" cy="329184"/>
          </a:xfrm>
          <a:prstGeom prst="rect">
            <a:avLst/>
          </a:prstGeom>
        </p:spPr>
      </p:pic>
      <p:sp>
        <p:nvSpPr>
          <p:cNvPr id="28" name="Shape 2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EDEAE1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822960" y="53492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8F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洞察：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负责「感知与决策」，MHS 负责「执行与反馈」——两者叠加，AI 智能体第一次拥有了从认知世界到物理世界的完整技术栈。</a:t>
            </a:r>
            <a:endParaRPr lang="en-US" sz="1300" dirty="0"/>
          </a:p>
        </p:txBody>
      </p:sp>
      <p:sp>
        <p:nvSpPr>
          <p:cNvPr id="30" name="Text 25"/>
          <p:cNvSpPr txBox="1"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47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1" name="Text 26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47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MHS 洞察分析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6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LESSONS LEARNED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626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前车之鉴：为何此前的硬件标准都未能成功？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61188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1815">
                <a:alpha val="10000"/>
              </a:srgbClr>
            </a:outerShdw>
          </a:effectLst>
        </p:spPr>
      </p:sp>
      <p:pic>
        <p:nvPicPr>
          <p:cNvPr id="5" name="Image 0" descr="/home/claude/mhs_ppt/icons/times_c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221992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216712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SiLA 2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74320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试图过度规范设备参数细节，标准迭代速度跟不上设备演进，落地效率低下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379976" y="1965960"/>
            <a:ext cx="361188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1815">
                <a:alpha val="10000"/>
              </a:srgbClr>
            </a:outerShdw>
          </a:effectLst>
        </p:spPr>
      </p:sp>
      <p:pic>
        <p:nvPicPr>
          <p:cNvPr id="9" name="Image 1" descr="/home/claude/mhs_ppt/icons/times_cl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2221992"/>
            <a:ext cx="292608" cy="29260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065776" y="216712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OPC UA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4654296" y="274320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架构设计过重，企业改造存量设备的成本极高，中小机构难以承受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8211312" y="1965960"/>
            <a:ext cx="361188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1815">
                <a:alpha val="10000"/>
              </a:srgbClr>
            </a:outerShdw>
          </a:effectLst>
        </p:spPr>
      </p:sp>
      <p:pic>
        <p:nvPicPr>
          <p:cNvPr id="13" name="Image 2" descr="/home/claude/mhs_ppt/icons/times_cl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2221992"/>
            <a:ext cx="292608" cy="29260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897112" y="216712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AnIML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8485632" y="274320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仅统一了数据格式层，未解决设备之间的实时协同与控制问题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4160520"/>
            <a:ext cx="11091672" cy="2057400"/>
          </a:xfrm>
          <a:prstGeom prst="roundRect">
            <a:avLst>
              <a:gd name="adj" fmla="val 4444"/>
            </a:avLst>
          </a:prstGeom>
          <a:solidFill>
            <a:srgbClr val="262624"/>
          </a:solidFill>
          <a:ln/>
        </p:spPr>
      </p:sp>
      <p:pic>
        <p:nvPicPr>
          <p:cNvPr id="17" name="Image 3" descr="/home/claude/mhs_ppt/icons/bulb_cla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480560"/>
            <a:ext cx="402336" cy="40233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444752" y="44805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MHS 的不同路径</a:t>
            </a:r>
            <a:endParaRPr lang="en-US" sz="1700" dirty="0"/>
          </a:p>
        </p:txBody>
      </p:sp>
      <p:sp>
        <p:nvSpPr>
          <p:cNvPr id="19" name="Text 13"/>
          <p:cNvSpPr txBox="1"/>
          <p:nvPr/>
        </p:nvSpPr>
        <p:spPr>
          <a:xfrm>
            <a:off x="896112" y="502920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D9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不强行统一硬件本身，而是用 AI 的适应能力去包容硬件的多样性——在驱动层加入一层「AI 可理解」的翻译，而非要求所有厂商改造成同一套物理接口标准。这让 MHS 的准入门槛远低于前代方案，也更契合大模型「理解自然语言 + 灵活适配」的天然优势。</a:t>
            </a:r>
            <a:endParaRPr lang="en-US" sz="1250" dirty="0"/>
          </a:p>
        </p:txBody>
      </p:sp>
      <p:sp>
        <p:nvSpPr>
          <p:cNvPr id="20" name="Text 14"/>
          <p:cNvSpPr txBox="1"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47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47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MHS 洞察分析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6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ECOSYSTEM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626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生态版图：首批合作伙伴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452628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1815">
                <a:alpha val="10000"/>
              </a:srgbClr>
            </a:outerShdw>
          </a:effectLst>
        </p:spPr>
      </p:sp>
      <p:pic>
        <p:nvPicPr>
          <p:cNvPr id="5" name="Image 0" descr="/home/claude/mhs_ppt/icons/flask_c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20240"/>
            <a:ext cx="347472" cy="3474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9385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626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研究预览应用伙伴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822960" y="2523744"/>
            <a:ext cx="82296" cy="82296"/>
          </a:xfrm>
          <a:prstGeom prst="ellipse">
            <a:avLst/>
          </a:prstGeom>
          <a:solidFill>
            <a:srgbClr val="C1663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051560" y="2414016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Genentech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3063240" y="241401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药物研发 · 自动化蛋白检测（BCA assay）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22960" y="3127248"/>
            <a:ext cx="82296" cy="82296"/>
          </a:xfrm>
          <a:prstGeom prst="ellipse">
            <a:avLst/>
          </a:prstGeom>
          <a:solidFill>
            <a:srgbClr val="C1663D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051560" y="30175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Washington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3063240" y="30175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基因编辑实验室 · AI 监督 qPCR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22960" y="3730752"/>
            <a:ext cx="82296" cy="82296"/>
          </a:xfrm>
          <a:prstGeom prst="ellipse">
            <a:avLst/>
          </a:prstGeom>
          <a:solidFill>
            <a:srgbClr val="C1663D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051560" y="3621024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Carnegie Mellon University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3063240" y="362102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剂量反应实验 · 液体处理自动化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22960" y="4334256"/>
            <a:ext cx="82296" cy="82296"/>
          </a:xfrm>
          <a:prstGeom prst="ellipse">
            <a:avLst/>
          </a:prstGeom>
          <a:solidFill>
            <a:srgbClr val="C1663D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051560" y="422452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HHMI Janelia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3063240" y="42245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显微成像 · 跨 7 家厂商设备统一控制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822960" y="4937760"/>
            <a:ext cx="82296" cy="82296"/>
          </a:xfrm>
          <a:prstGeom prst="ellipse">
            <a:avLst/>
          </a:prstGeom>
          <a:solidFill>
            <a:srgbClr val="C1663D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51560" y="482803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QuEra Computing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3063240" y="482803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量子计算 · 激光稳频自主调优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822960" y="5541264"/>
            <a:ext cx="82296" cy="82296"/>
          </a:xfrm>
          <a:prstGeom prst="ellipse">
            <a:avLst/>
          </a:prstGeom>
          <a:solidFill>
            <a:srgbClr val="C1663D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1051560" y="5431536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Tetsuwan Scientific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3063240" y="543153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环境监测 · qPCR 污染溯源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6263640" y="1691640"/>
            <a:ext cx="5376672" cy="4526280"/>
          </a:xfrm>
          <a:prstGeom prst="roundRect">
            <a:avLst>
              <a:gd name="adj" fmla="val 1818"/>
            </a:avLst>
          </a:prstGeom>
          <a:solidFill>
            <a:srgbClr val="262624"/>
          </a:solidFill>
          <a:ln/>
        </p:spPr>
      </p:sp>
      <p:pic>
        <p:nvPicPr>
          <p:cNvPr id="26" name="Image 1" descr="/home/claude/mhs_ppt/icons/handshake_cl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920240"/>
            <a:ext cx="347472" cy="347472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6995160" y="19385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产业生态共建伙伴</a:t>
            </a:r>
            <a:endParaRPr lang="en-US" sz="1550" dirty="0"/>
          </a:p>
        </p:txBody>
      </p:sp>
      <p:sp>
        <p:nvSpPr>
          <p:cNvPr id="28" name="Text 24"/>
          <p:cNvSpPr txBox="1"/>
          <p:nvPr/>
        </p:nvSpPr>
        <p:spPr>
          <a:xfrm>
            <a:off x="6537960" y="239572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涵盖云计算、生命科学仪器、工业机器人与开源社区四大类型：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6537960" y="2880360"/>
            <a:ext cx="1737360" cy="402336"/>
          </a:xfrm>
          <a:prstGeom prst="roundRect">
            <a:avLst>
              <a:gd name="adj" fmla="val 50000"/>
            </a:avLst>
          </a:prstGeom>
          <a:solidFill>
            <a:srgbClr val="3A362F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6537960" y="288036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9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AWS（Strands Robots）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8412480" y="2880360"/>
            <a:ext cx="1051560" cy="402336"/>
          </a:xfrm>
          <a:prstGeom prst="roundRect">
            <a:avLst>
              <a:gd name="adj" fmla="val 50000"/>
            </a:avLst>
          </a:prstGeom>
          <a:solidFill>
            <a:srgbClr val="3A362F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8412480" y="2880360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9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Danaher</a:t>
            </a:r>
            <a:endParaRPr lang="en-US" sz="950" dirty="0"/>
          </a:p>
        </p:txBody>
      </p:sp>
      <p:sp>
        <p:nvSpPr>
          <p:cNvPr id="33" name="Shape 29"/>
          <p:cNvSpPr/>
          <p:nvPr/>
        </p:nvSpPr>
        <p:spPr>
          <a:xfrm>
            <a:off x="9601200" y="2880360"/>
            <a:ext cx="1051560" cy="402336"/>
          </a:xfrm>
          <a:prstGeom prst="roundRect">
            <a:avLst>
              <a:gd name="adj" fmla="val 50000"/>
            </a:avLst>
          </a:prstGeom>
          <a:solidFill>
            <a:srgbClr val="3A362F"/>
          </a:solidFill>
          <a:ln/>
        </p:spPr>
      </p:sp>
      <p:sp>
        <p:nvSpPr>
          <p:cNvPr id="34" name="Text 30"/>
          <p:cNvSpPr txBox="1"/>
          <p:nvPr/>
        </p:nvSpPr>
        <p:spPr>
          <a:xfrm>
            <a:off x="9601200" y="2880360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9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QIAGEN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6537960" y="3410712"/>
            <a:ext cx="960120" cy="402336"/>
          </a:xfrm>
          <a:prstGeom prst="roundRect">
            <a:avLst>
              <a:gd name="adj" fmla="val 50000"/>
            </a:avLst>
          </a:prstGeom>
          <a:solidFill>
            <a:srgbClr val="3A362F"/>
          </a:solidFill>
          <a:ln/>
        </p:spPr>
      </p:sp>
      <p:sp>
        <p:nvSpPr>
          <p:cNvPr id="36" name="Text 32"/>
          <p:cNvSpPr txBox="1"/>
          <p:nvPr/>
        </p:nvSpPr>
        <p:spPr>
          <a:xfrm>
            <a:off x="6537960" y="3410712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9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Tecan</a:t>
            </a:r>
            <a:endParaRPr lang="en-US" sz="950" dirty="0"/>
          </a:p>
        </p:txBody>
      </p:sp>
      <p:sp>
        <p:nvSpPr>
          <p:cNvPr id="37" name="Shape 33"/>
          <p:cNvSpPr/>
          <p:nvPr/>
        </p:nvSpPr>
        <p:spPr>
          <a:xfrm>
            <a:off x="7635240" y="3410712"/>
            <a:ext cx="1828800" cy="402336"/>
          </a:xfrm>
          <a:prstGeom prst="roundRect">
            <a:avLst>
              <a:gd name="adj" fmla="val 50000"/>
            </a:avLst>
          </a:prstGeom>
          <a:solidFill>
            <a:srgbClr val="3A362F"/>
          </a:solidFill>
          <a:ln/>
        </p:spPr>
      </p:sp>
      <p:sp>
        <p:nvSpPr>
          <p:cNvPr id="38" name="Text 34"/>
          <p:cNvSpPr txBox="1"/>
          <p:nvPr/>
        </p:nvSpPr>
        <p:spPr>
          <a:xfrm>
            <a:off x="7635240" y="341071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9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Doosan Robotics</a:t>
            </a:r>
            <a:endParaRPr lang="en-US" sz="950" dirty="0"/>
          </a:p>
        </p:txBody>
      </p:sp>
      <p:sp>
        <p:nvSpPr>
          <p:cNvPr id="39" name="Shape 35"/>
          <p:cNvSpPr/>
          <p:nvPr/>
        </p:nvSpPr>
        <p:spPr>
          <a:xfrm>
            <a:off x="9601200" y="3410712"/>
            <a:ext cx="1828800" cy="402336"/>
          </a:xfrm>
          <a:prstGeom prst="roundRect">
            <a:avLst>
              <a:gd name="adj" fmla="val 50000"/>
            </a:avLst>
          </a:prstGeom>
          <a:solidFill>
            <a:srgbClr val="3A362F"/>
          </a:solidFill>
          <a:ln/>
        </p:spPr>
      </p:sp>
      <p:sp>
        <p:nvSpPr>
          <p:cNvPr id="40" name="Text 36"/>
          <p:cNvSpPr txBox="1"/>
          <p:nvPr/>
        </p:nvSpPr>
        <p:spPr>
          <a:xfrm>
            <a:off x="9601200" y="341071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9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Robots</a:t>
            </a:r>
            <a:endParaRPr lang="en-US" sz="950" dirty="0"/>
          </a:p>
        </p:txBody>
      </p:sp>
      <p:sp>
        <p:nvSpPr>
          <p:cNvPr id="41" name="Shape 37"/>
          <p:cNvSpPr/>
          <p:nvPr/>
        </p:nvSpPr>
        <p:spPr>
          <a:xfrm>
            <a:off x="6537960" y="3941064"/>
            <a:ext cx="1234440" cy="402336"/>
          </a:xfrm>
          <a:prstGeom prst="roundRect">
            <a:avLst>
              <a:gd name="adj" fmla="val 50000"/>
            </a:avLst>
          </a:prstGeom>
          <a:solidFill>
            <a:srgbClr val="3A362F"/>
          </a:solidFill>
          <a:ln/>
        </p:spPr>
      </p:sp>
      <p:sp>
        <p:nvSpPr>
          <p:cNvPr id="42" name="Text 38"/>
          <p:cNvSpPr txBox="1"/>
          <p:nvPr/>
        </p:nvSpPr>
        <p:spPr>
          <a:xfrm>
            <a:off x="6537960" y="3941064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9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Automata</a:t>
            </a:r>
            <a:endParaRPr lang="en-US" sz="950" dirty="0"/>
          </a:p>
        </p:txBody>
      </p:sp>
      <p:sp>
        <p:nvSpPr>
          <p:cNvPr id="43" name="Shape 39"/>
          <p:cNvSpPr/>
          <p:nvPr/>
        </p:nvSpPr>
        <p:spPr>
          <a:xfrm>
            <a:off x="7909560" y="3941064"/>
            <a:ext cx="1554480" cy="402336"/>
          </a:xfrm>
          <a:prstGeom prst="roundRect">
            <a:avLst>
              <a:gd name="adj" fmla="val 50000"/>
            </a:avLst>
          </a:prstGeom>
          <a:solidFill>
            <a:srgbClr val="3A362F"/>
          </a:solidFill>
          <a:ln/>
        </p:spPr>
      </p:sp>
      <p:sp>
        <p:nvSpPr>
          <p:cNvPr id="44" name="Text 40"/>
          <p:cNvSpPr txBox="1"/>
          <p:nvPr/>
        </p:nvSpPr>
        <p:spPr>
          <a:xfrm>
            <a:off x="7909560" y="3941064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9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MBF Bioscience</a:t>
            </a:r>
            <a:endParaRPr lang="en-US" sz="950" dirty="0"/>
          </a:p>
        </p:txBody>
      </p:sp>
      <p:sp>
        <p:nvSpPr>
          <p:cNvPr id="45" name="Shape 41"/>
          <p:cNvSpPr/>
          <p:nvPr/>
        </p:nvSpPr>
        <p:spPr>
          <a:xfrm>
            <a:off x="6537960" y="4471416"/>
            <a:ext cx="2148840" cy="402336"/>
          </a:xfrm>
          <a:prstGeom prst="roundRect">
            <a:avLst>
              <a:gd name="adj" fmla="val 50000"/>
            </a:avLst>
          </a:prstGeom>
          <a:solidFill>
            <a:srgbClr val="3A362F"/>
          </a:solidFill>
          <a:ln/>
        </p:spPr>
      </p:sp>
      <p:sp>
        <p:nvSpPr>
          <p:cNvPr id="46" name="Text 42"/>
          <p:cNvSpPr txBox="1"/>
          <p:nvPr/>
        </p:nvSpPr>
        <p:spPr>
          <a:xfrm>
            <a:off x="6537960" y="4471416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9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Face（LeRobot）</a:t>
            </a:r>
            <a:endParaRPr lang="en-US" sz="950" dirty="0"/>
          </a:p>
        </p:txBody>
      </p:sp>
      <p:sp>
        <p:nvSpPr>
          <p:cNvPr id="47" name="Shape 43"/>
          <p:cNvSpPr/>
          <p:nvPr/>
        </p:nvSpPr>
        <p:spPr>
          <a:xfrm>
            <a:off x="8823960" y="4471416"/>
            <a:ext cx="1417320" cy="402336"/>
          </a:xfrm>
          <a:prstGeom prst="roundRect">
            <a:avLst>
              <a:gd name="adj" fmla="val 50000"/>
            </a:avLst>
          </a:prstGeom>
          <a:solidFill>
            <a:srgbClr val="3A362F"/>
          </a:solidFill>
          <a:ln/>
        </p:spPr>
      </p:sp>
      <p:sp>
        <p:nvSpPr>
          <p:cNvPr id="48" name="Text 44"/>
          <p:cNvSpPr txBox="1"/>
          <p:nvPr/>
        </p:nvSpPr>
        <p:spPr>
          <a:xfrm>
            <a:off x="8823960" y="4471416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9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</a:t>
            </a:r>
            <a:endParaRPr lang="en-US" sz="950" dirty="0"/>
          </a:p>
        </p:txBody>
      </p:sp>
      <p:sp>
        <p:nvSpPr>
          <p:cNvPr id="49" name="Shape 45"/>
          <p:cNvSpPr/>
          <p:nvPr/>
        </p:nvSpPr>
        <p:spPr>
          <a:xfrm>
            <a:off x="6537960" y="4892040"/>
            <a:ext cx="4828032" cy="0"/>
          </a:xfrm>
          <a:prstGeom prst="line">
            <a:avLst/>
          </a:prstGeom>
          <a:noFill/>
          <a:ln w="12700">
            <a:solidFill>
              <a:srgbClr val="45423B"/>
            </a:solidFill>
            <a:prstDash val="solid"/>
          </a:ln>
        </p:spPr>
      </p:sp>
      <p:sp>
        <p:nvSpPr>
          <p:cNvPr id="50" name="Text 46"/>
          <p:cNvSpPr txBox="1"/>
          <p:nvPr/>
        </p:nvSpPr>
        <p:spPr>
          <a:xfrm>
            <a:off x="6537960" y="507492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C16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组织信号：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9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同期组建芯片设计团队，挖角前 Meta / OpenAI 硬件高管 Caitlin Kalinowski，显示其向「AI 基础设施平台」演进的战略意图。</a:t>
            </a:r>
            <a:endParaRPr lang="en-US" sz="1050" dirty="0"/>
          </a:p>
        </p:txBody>
      </p:sp>
      <p:sp>
        <p:nvSpPr>
          <p:cNvPr id="51" name="Text 47"/>
          <p:cNvSpPr txBox="1"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47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52" name="Text 48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47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MHS 洞察分析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6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EVIDENCE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626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实证成果：试点案例的量化数据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51760" cy="1691640"/>
          </a:xfrm>
          <a:prstGeom prst="roundRect">
            <a:avLst>
              <a:gd name="adj" fmla="val 4865"/>
            </a:avLst>
          </a:prstGeom>
          <a:solidFill>
            <a:srgbClr val="26262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213055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16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3×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8072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剂量反应实验提速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154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9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Carnegie Mellon · 8 小时完成，传统方式需数周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83280" y="1965960"/>
            <a:ext cx="2651760" cy="1691640"/>
          </a:xfrm>
          <a:prstGeom prst="roundRect">
            <a:avLst>
              <a:gd name="adj" fmla="val 4865"/>
            </a:avLst>
          </a:prstGeom>
          <a:solidFill>
            <a:srgbClr val="26262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66160" y="213055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16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99.3%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28072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激光稳频恢复成功率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3154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9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QuEra · 原人工脚本仅 58%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0" y="1965960"/>
            <a:ext cx="2651760" cy="1691640"/>
          </a:xfrm>
          <a:prstGeom prst="roundRect">
            <a:avLst>
              <a:gd name="adj" fmla="val 4865"/>
            </a:avLst>
          </a:prstGeom>
          <a:solidFill>
            <a:srgbClr val="26262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0" y="213055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16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6秒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28072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激光锁频恢复时间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3154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9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QuEra · 原需 150 秒，缩短 25 倍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052560" y="1965960"/>
            <a:ext cx="2651760" cy="1691640"/>
          </a:xfrm>
          <a:prstGeom prst="roundRect">
            <a:avLst>
              <a:gd name="adj" fmla="val 4865"/>
            </a:avLst>
          </a:prstGeom>
          <a:solidFill>
            <a:srgbClr val="26262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235440" y="213055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16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分钟级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9235440" y="28072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新设备集成耗时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9235440" y="3154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9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HHMI Janelia · 原为数天工程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3886200"/>
            <a:ext cx="534924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1815">
                <a:alpha val="1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77240" y="40233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QuEra 量子计算：激光恢复成功率</a:t>
            </a:r>
            <a:endParaRPr lang="en-US" sz="11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777240" y="4343400"/>
          <a:ext cx="489204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Shape 20"/>
          <p:cNvSpPr/>
          <p:nvPr/>
        </p:nvSpPr>
        <p:spPr>
          <a:xfrm>
            <a:off x="6080760" y="3886200"/>
            <a:ext cx="5559552" cy="2331720"/>
          </a:xfrm>
          <a:prstGeom prst="roundRect">
            <a:avLst>
              <a:gd name="adj" fmla="val 3529"/>
            </a:avLst>
          </a:prstGeom>
          <a:solidFill>
            <a:srgbClr val="EDEAE1"/>
          </a:solidFill>
          <a:ln/>
        </p:spPr>
      </p:sp>
      <p:pic>
        <p:nvPicPr>
          <p:cNvPr id="24" name="Image 0" descr="/home/claude/mhs_ppt/icons/dna_cl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4114800"/>
            <a:ext cx="310896" cy="310896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6766560" y="4114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F4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更多验证结果</a:t>
            </a:r>
            <a:endParaRPr lang="en-US" sz="1350" dirty="0"/>
          </a:p>
        </p:txBody>
      </p:sp>
      <p:sp>
        <p:nvSpPr>
          <p:cNvPr id="26" name="Text 22"/>
          <p:cNvSpPr txBox="1"/>
          <p:nvPr/>
        </p:nvSpPr>
        <p:spPr>
          <a:xfrm>
            <a:off x="6355080" y="4572000"/>
            <a:ext cx="5074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Genentech：不同粘度样本的液体转移流速，Agent 自主收敛至专家设定参数水平</a:t>
            </a:r>
            <a:endParaRPr lang="en-US" sz="10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 实验室：无需再每 90 分钟人工巡检，AI 监督 qPCR 扩增曲线并在最佳时点自动停止</a:t>
            </a:r>
            <a:endParaRPr lang="en-US" sz="10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Tetsuwan：协调多设备 qPCR 工作流，定位圣佩德罗溪污染主因为人类粪便污染</a:t>
            </a:r>
            <a:endParaRPr lang="en-US" sz="1050" dirty="0"/>
          </a:p>
        </p:txBody>
      </p:sp>
      <p:sp>
        <p:nvSpPr>
          <p:cNvPr id="27" name="Text 23"/>
          <p:cNvSpPr txBox="1"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47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28" name="Text 24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47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MHS 洞察分析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626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6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STRATEGIC INTENT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战略意图：野心不止于「模型」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49240" cy="1828800"/>
          </a:xfrm>
          <a:prstGeom prst="roundRect">
            <a:avLst>
              <a:gd name="adj" fmla="val 4500"/>
            </a:avLst>
          </a:prstGeom>
          <a:solidFill>
            <a:srgbClr val="34322F"/>
          </a:solidFill>
          <a:ln/>
        </p:spPr>
      </p:sp>
      <p:pic>
        <p:nvPicPr>
          <p:cNvPr id="5" name="Image 0" descr="/home/claude/mhs_ppt/icons/bullseye_c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2203704"/>
            <a:ext cx="310896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04672" y="2606040"/>
            <a:ext cx="4837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从工具提供商到规则制定者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804672" y="2990088"/>
            <a:ext cx="4837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D9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通过开放协议争夺硬件接入标准的定义权，硬件厂商需遵循 MHS 接口才能顺畅接入主流 AI 能力，Anthropic 由此从「模型 API 供应商」升级为「基础设施规则制定者」。</a:t>
            </a:r>
            <a:endParaRPr lang="en-US" sz="1080" dirty="0"/>
          </a:p>
        </p:txBody>
      </p:sp>
      <p:sp>
        <p:nvSpPr>
          <p:cNvPr id="8" name="Shape 5"/>
          <p:cNvSpPr/>
          <p:nvPr/>
        </p:nvSpPr>
        <p:spPr>
          <a:xfrm>
            <a:off x="6217920" y="1965960"/>
            <a:ext cx="5349240" cy="1828800"/>
          </a:xfrm>
          <a:prstGeom prst="roundRect">
            <a:avLst>
              <a:gd name="adj" fmla="val 4500"/>
            </a:avLst>
          </a:prstGeom>
          <a:solidFill>
            <a:srgbClr val="34322F"/>
          </a:solidFill>
          <a:ln/>
        </p:spPr>
      </p:sp>
      <p:pic>
        <p:nvPicPr>
          <p:cNvPr id="9" name="Image 1" descr="/home/claude/mhs_ppt/icons/usb_cl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952" y="2203704"/>
            <a:ext cx="310896" cy="31089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473952" y="2606040"/>
            <a:ext cx="4837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开放策略换取生态护城河</a:t>
            </a:r>
            <a:endParaRPr lang="en-US" sz="1450" dirty="0"/>
          </a:p>
        </p:txBody>
      </p:sp>
      <p:sp>
        <p:nvSpPr>
          <p:cNvPr id="11" name="Text 7"/>
          <p:cNvSpPr txBox="1"/>
          <p:nvPr/>
        </p:nvSpPr>
        <p:spPr>
          <a:xfrm>
            <a:off x="6473952" y="2990088"/>
            <a:ext cx="4837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D9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模型无关 + 计划开源，短期让渡独占性，换取更快的行业采纳速度与更广的设备覆盖——护城河建立在生态位而非单一模型能力上。</a:t>
            </a:r>
            <a:endParaRPr lang="en-US" sz="1080" dirty="0"/>
          </a:p>
        </p:txBody>
      </p:sp>
      <p:sp>
        <p:nvSpPr>
          <p:cNvPr id="12" name="Shape 8"/>
          <p:cNvSpPr/>
          <p:nvPr/>
        </p:nvSpPr>
        <p:spPr>
          <a:xfrm>
            <a:off x="548640" y="3977640"/>
            <a:ext cx="5349240" cy="1828800"/>
          </a:xfrm>
          <a:prstGeom prst="roundRect">
            <a:avLst>
              <a:gd name="adj" fmla="val 4500"/>
            </a:avLst>
          </a:prstGeom>
          <a:solidFill>
            <a:srgbClr val="34322F"/>
          </a:solidFill>
          <a:ln/>
        </p:spPr>
      </p:sp>
      <p:pic>
        <p:nvPicPr>
          <p:cNvPr id="13" name="Image 2" descr="/home/claude/mhs_ppt/icons/industry_cl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4215384"/>
            <a:ext cx="310896" cy="31089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04672" y="4617720"/>
            <a:ext cx="4837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优先切入高价值垂直领域</a:t>
            </a:r>
            <a:endParaRPr lang="en-US" sz="1450" dirty="0"/>
          </a:p>
        </p:txBody>
      </p:sp>
      <p:sp>
        <p:nvSpPr>
          <p:cNvPr id="15" name="Text 10"/>
          <p:cNvSpPr txBox="1"/>
          <p:nvPr/>
        </p:nvSpPr>
        <p:spPr>
          <a:xfrm>
            <a:off x="804672" y="5001768"/>
            <a:ext cx="4837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D9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首批聚焦生物医药、量子计算等集成成本高、试错成本高、单次效率提升价值巨大的场景，验证 ROI 后再向精密制造、机器人等领域扩展。</a:t>
            </a:r>
            <a:endParaRPr lang="en-US" sz="1080" dirty="0"/>
          </a:p>
        </p:txBody>
      </p:sp>
      <p:sp>
        <p:nvSpPr>
          <p:cNvPr id="16" name="Shape 11"/>
          <p:cNvSpPr/>
          <p:nvPr/>
        </p:nvSpPr>
        <p:spPr>
          <a:xfrm>
            <a:off x="6217920" y="3977640"/>
            <a:ext cx="5349240" cy="1828800"/>
          </a:xfrm>
          <a:prstGeom prst="roundRect">
            <a:avLst>
              <a:gd name="adj" fmla="val 4500"/>
            </a:avLst>
          </a:prstGeom>
          <a:solidFill>
            <a:srgbClr val="34322F"/>
          </a:solidFill>
          <a:ln/>
        </p:spPr>
      </p:sp>
      <p:pic>
        <p:nvPicPr>
          <p:cNvPr id="17" name="Image 3" descr="/home/claude/mhs_ppt/icons/cogs_cla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952" y="4215384"/>
            <a:ext cx="310896" cy="31089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473952" y="4617720"/>
            <a:ext cx="4837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同步补强硬件人才与自研能力</a:t>
            </a:r>
            <a:endParaRPr lang="en-US" sz="1450" dirty="0"/>
          </a:p>
        </p:txBody>
      </p:sp>
      <p:sp>
        <p:nvSpPr>
          <p:cNvPr id="19" name="Text 13"/>
          <p:cNvSpPr txBox="1"/>
          <p:nvPr/>
        </p:nvSpPr>
        <p:spPr>
          <a:xfrm>
            <a:off x="6473952" y="5001768"/>
            <a:ext cx="4837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D9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组建芯片设计团队，挖角前 Meta / OpenAI 硬件高管 Caitlin Kalinowski，软件标准与硬件能力两条腿走路。</a:t>
            </a:r>
            <a:endParaRPr lang="en-US" sz="1080" dirty="0"/>
          </a:p>
        </p:txBody>
      </p:sp>
      <p:sp>
        <p:nvSpPr>
          <p:cNvPr id="20" name="Text 14"/>
          <p:cNvSpPr txBox="1"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9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21" name="Text 15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9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MHS 洞察分析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6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COMPETITIVE LANDSCAPE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626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竞争格局分析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91672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1815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95144"/>
            <a:ext cx="640080" cy="640080"/>
          </a:xfrm>
          <a:prstGeom prst="ellipse">
            <a:avLst/>
          </a:prstGeom>
          <a:solidFill>
            <a:srgbClr val="F1E2D8"/>
          </a:solidFill>
          <a:ln/>
        </p:spPr>
      </p:sp>
      <p:pic>
        <p:nvPicPr>
          <p:cNvPr id="6" name="Image 0" descr="/home/claude/mhs_ppt/icons/balance_c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2468880"/>
            <a:ext cx="292608" cy="2926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211226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vs. OpenAI / Google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691640" y="2496312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F1E2D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691640" y="249631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F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尚未推出对标的硬件接入标准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4709160" y="2148840"/>
            <a:ext cx="6720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抢占「物理 AI 基础设施」先发优势，但竞争对手具备快速跟进的技术与资源实力。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3447288"/>
            <a:ext cx="11091672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1815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22960" y="3776472"/>
            <a:ext cx="640080" cy="640080"/>
          </a:xfrm>
          <a:prstGeom prst="ellipse">
            <a:avLst/>
          </a:prstGeom>
          <a:solidFill>
            <a:srgbClr val="F1E2D8"/>
          </a:solidFill>
          <a:ln/>
        </p:spPr>
      </p:sp>
      <p:pic>
        <p:nvPicPr>
          <p:cNvPr id="13" name="Image 1" descr="/home/claude/mhs_ppt/icons/cogs_cl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" y="3950208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691640" y="35935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vs. Nvidia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1691640" y="397764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F1E2D8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1691640" y="39776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F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互补而非直接竞争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4709160" y="3630168"/>
            <a:ext cx="6720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主导机器人硬件与算力层（芯片、仿真、运动控制），MHS 聚焦「软件集成层」——AI 与设备之间的通信标准，二者可协同而非零和。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548640" y="4928616"/>
            <a:ext cx="11091672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1815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22960" y="5257800"/>
            <a:ext cx="640080" cy="640080"/>
          </a:xfrm>
          <a:prstGeom prst="ellipse">
            <a:avLst/>
          </a:prstGeom>
          <a:solidFill>
            <a:srgbClr val="F1E2D8"/>
          </a:solidFill>
          <a:ln/>
        </p:spPr>
      </p:sp>
      <p:pic>
        <p:nvPicPr>
          <p:cNvPr id="20" name="Image 2" descr="/home/claude/mhs_ppt/icons/robot_cl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5431536"/>
            <a:ext cx="292608" cy="29260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691640" y="5074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vs. Hugging Face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1691640" y="5458968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F1E2D8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1691640" y="545896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F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标准导向 vs 产品导向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4709160" y="5111496"/>
            <a:ext cx="6720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同期发布物理 AI 产品（机器人硬件），路径是「做产品」；Anthropic 选择「定标准」，目标用户与商业模式均不同。</a:t>
            </a:r>
            <a:endParaRPr lang="en-US" sz="1150" dirty="0"/>
          </a:p>
        </p:txBody>
      </p:sp>
      <p:sp>
        <p:nvSpPr>
          <p:cNvPr id="25" name="Text 20"/>
          <p:cNvSpPr txBox="1"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47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26" name="Text 21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47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MHS 洞察分析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6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RISKS &amp; CRITIQUE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626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风险与批判视角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47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繁荣叙事之外，五个尚待验证的问题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5DDCF"/>
            </a:solidFill>
            <a:prstDash val="solid"/>
          </a:ln>
        </p:spPr>
      </p:sp>
      <p:pic>
        <p:nvPicPr>
          <p:cNvPr id="6" name="Image 0" descr="/home/claude/mhs_ppt/icons/warning_c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103120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15568" y="204825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互操作性未经充分验证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237744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官方发布的案例几乎全部基于 Claude / Claude Code，「模型无关」目前更多是设计主张，尚缺公开的跨模型对比证据。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3118104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5DDCF"/>
            </a:solidFill>
            <a:prstDash val="solid"/>
          </a:ln>
        </p:spPr>
      </p:sp>
      <p:pic>
        <p:nvPicPr>
          <p:cNvPr id="10" name="Image 1" descr="/home/claude/mhs_ppt/icons/warning_cl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330098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15568" y="324612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安全架构存在空白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49808" y="3575304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设备发现权限、指令下发权限、凭证作用域、访问隔离、日志审计、驱动撤销机制等关键问题尚无公开答案。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548640" y="4315968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5DDCF"/>
            </a:solidFill>
            <a:prstDash val="solid"/>
          </a:ln>
        </p:spPr>
      </p:sp>
      <p:pic>
        <p:nvPicPr>
          <p:cNvPr id="14" name="Image 2" descr="/home/claude/mhs_ppt/icons/warning_cl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4498848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115568" y="444398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安全阈值依赖场景专家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749808" y="477316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同一台机械臂更换工装后，原有速度限制可能不再安全——局部安全边界无法全局通用，仍需领域专家逐场景校验。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6172200" y="192024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5DDCF"/>
            </a:solidFill>
            <a:prstDash val="solid"/>
          </a:ln>
        </p:spPr>
      </p:sp>
      <p:pic>
        <p:nvPicPr>
          <p:cNvPr id="18" name="Image 3" descr="/home/claude/mhs_ppt/icons/warning_cla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3368" y="2103120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739128" y="204825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生产就绪度不足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6373368" y="237744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尚无公开规范或版本化 schema，缺乏一致性测试与认证标准，也未发布威胁模型或明确的监管路径。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6172200" y="3118104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5DDCF"/>
            </a:solidFill>
            <a:prstDash val="solid"/>
          </a:ln>
        </p:spPr>
      </p:sp>
      <p:pic>
        <p:nvPicPr>
          <p:cNvPr id="22" name="Image 4" descr="/home/claude/mhs_ppt/icons/warning_cla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3368" y="3300984"/>
            <a:ext cx="256032" cy="256032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6739128" y="324612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硬件适配存在门槛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6373368" y="3575304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并非所有存量设备具备可编程接口；厂商需要资本投入重新设计硬件，采纳过程注定循序渐进而非一步到位。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6172200" y="4315968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262624"/>
          </a:solidFill>
          <a:ln/>
        </p:spPr>
      </p:sp>
      <p:sp>
        <p:nvSpPr>
          <p:cNvPr id="26" name="Text 19"/>
          <p:cNvSpPr txBox="1"/>
          <p:nvPr/>
        </p:nvSpPr>
        <p:spPr>
          <a:xfrm>
            <a:off x="6400800" y="4315968"/>
            <a:ext cx="4892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C16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小结：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9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MHS 的技术设想具备说服力，但当前更接近「精心设计的预览」而非「可规模化部署的标准」。能否成功，安全与治理体系的成熟度是比模型能力更关键的变量。</a:t>
            </a:r>
            <a:endParaRPr lang="en-US" sz="1100" dirty="0"/>
          </a:p>
        </p:txBody>
      </p:sp>
      <p:sp>
        <p:nvSpPr>
          <p:cNvPr id="27" name="Text 20"/>
          <p:cNvSpPr txBox="1"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47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28" name="Text 21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47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MHS 洞察分析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626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6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洞察与展望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9280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54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423160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16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「感知—决策—执行」闭环初步成型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825496"/>
            <a:ext cx="5257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9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负责认知、MHS 负责执行，物理 AI 大概率复制「MCP 效应」——一旦开源，有望快速成为事实标准，重塑科研仪器与工业设备的软件供应链格局。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189280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54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6263640" y="2423160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16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扩张路径将「先高价值、后大众化」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263640" y="2825496"/>
            <a:ext cx="5257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9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6-12 个月内聚焦生物医药、量子计算、精密制造等高价值垂直领域，验证安全边界与投资回报后，才会向消费级与大众制造场景渗透。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95020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54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4480560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16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硬件厂商面临路线选择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4882896"/>
            <a:ext cx="5257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9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及早适配 MHS 接口以进入 AI 原生生态，或坚持专有协议但承受被生态边缘化的风险——观望窗口正在收窄。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395020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54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4480560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16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治理成熟度将决定规模化速度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4882896"/>
            <a:ext cx="5257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9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开源之后的威胁模型、认证体系与责任归属机制，将比模型能力本身更能决定 MHS 能否真正大规模落地。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9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9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MHS 洞察分析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6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626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信息来源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20240"/>
            <a:ext cx="10515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— Previewing the Model Hardware Standard（官方研究预览发布）</a:t>
            </a:r>
            <a:endParaRPr lang="en-US" sz="13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官方 X（Twitter）发布动态，2026-08-27</a:t>
            </a:r>
            <a:endParaRPr lang="en-US" sz="13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CNBC — Anthropic pushes into physical world with new standard to help AI agents operate machines</a:t>
            </a:r>
            <a:endParaRPr lang="en-US" sz="13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Fortune — Anthropic makes first move into physical AI with universal standard for scientists, manufacturing</a:t>
            </a:r>
            <a:endParaRPr lang="en-US" sz="13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Kingy.ai — Anthropic's Model Hardware Standard: What MHS Actually Changes（风险与批判视角）</a:t>
            </a:r>
            <a:endParaRPr lang="en-US" sz="13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新浪财经 — Anthropic 再定统一标准：MHS，打通 AI 与物理世界的连接</a:t>
            </a:r>
            <a:endParaRPr lang="en-US" sz="13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uuaihub — Anthropic MHS 模型硬件标准深度解读</a:t>
            </a:r>
            <a:endParaRPr lang="en-US" sz="13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DNA / Qz / Adgully 等媒体对 MHS 研究预览的报道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5989320"/>
            <a:ext cx="11091672" cy="502920"/>
          </a:xfrm>
          <a:prstGeom prst="roundRect">
            <a:avLst>
              <a:gd name="adj" fmla="val 10909"/>
            </a:avLst>
          </a:prstGeom>
          <a:solidFill>
            <a:srgbClr val="EDEAE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59893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47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本报告基于 2026 年 8-9 月公开报道整理分析，MHS 处于研究预览阶段，相关信息可能随后续发展更新。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47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47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MHS 洞察分析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2026-09-01T09:39:31Z</dcterms:created>
  <dcterms:modified xsi:type="dcterms:W3CDTF">2026-09-01T09:39:32Z</dcterms:modified>
</cp:coreProperties>
</file>